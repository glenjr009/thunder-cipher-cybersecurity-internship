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32B"/>
        </a:solidFill>
      </p:bgPr>
    </p:bg>
    <p:spTree>
      <p:nvGrpSpPr>
        <p:cNvPr id="1" name=""/>
        <p:cNvGrpSpPr/>
        <p:nvPr/>
      </p:nvGrpSpPr>
      <p:grpSpPr>
        <a:xfrm>
          <a:off x="0" y="0"/>
          <a:ext cx="0" cy="0"/>
          <a:chOff x="0" y="0"/>
          <a:chExt cx="0" cy="0"/>
        </a:xfrm>
      </p:grpSpPr>
      <p:sp>
        <p:nvSpPr>
          <p:cNvPr id="2" name="Text 0"/>
          <p:cNvSpPr/>
          <p:nvPr/>
        </p:nvSpPr>
        <p:spPr>
          <a:xfrm>
            <a:off x="502920" y="1234440"/>
            <a:ext cx="7315200" cy="365760"/>
          </a:xfrm>
          <a:prstGeom prst="rect">
            <a:avLst/>
          </a:prstGeom>
          <a:noFill/>
          <a:ln/>
        </p:spPr>
        <p:txBody>
          <a:bodyPr wrap="square" rtlCol="0" anchor="ctr"/>
          <a:lstStyle/>
          <a:p>
            <a:pPr indent="0" marL="0">
              <a:buNone/>
            </a:pPr>
            <a:r>
              <a:rPr lang="en-US" sz="1400" b="1" spc="200" kern="0" dirty="0">
                <a:solidFill>
                  <a:srgbClr val="2FD48C"/>
                </a:solidFill>
                <a:latin typeface="Calibri" pitchFamily="34" charset="0"/>
                <a:ea typeface="Calibri" pitchFamily="34" charset="-122"/>
                <a:cs typeface="Calibri" pitchFamily="34" charset="-120"/>
              </a:rPr>
              <a:t>ETHICAL HACKING BOOTCAMP  ·  DAY 7</a:t>
            </a:r>
            <a:endParaRPr lang="en-US" sz="1400" dirty="0"/>
          </a:p>
        </p:txBody>
      </p:sp>
      <p:sp>
        <p:nvSpPr>
          <p:cNvPr id="3" name="Text 1"/>
          <p:cNvSpPr/>
          <p:nvPr/>
        </p:nvSpPr>
        <p:spPr>
          <a:xfrm>
            <a:off x="502920" y="1645920"/>
            <a:ext cx="7589520" cy="1463040"/>
          </a:xfrm>
          <a:prstGeom prst="rect">
            <a:avLst/>
          </a:prstGeom>
          <a:noFill/>
          <a:ln/>
        </p:spPr>
        <p:txBody>
          <a:bodyPr wrap="square"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Scanning &amp; Enumeration</a:t>
            </a:r>
            <a:endParaRPr lang="en-US" sz="4600" dirty="0"/>
          </a:p>
        </p:txBody>
      </p:sp>
      <p:sp>
        <p:nvSpPr>
          <p:cNvPr id="4" name="Text 2"/>
          <p:cNvSpPr/>
          <p:nvPr/>
        </p:nvSpPr>
        <p:spPr>
          <a:xfrm>
            <a:off x="502920" y="2880360"/>
            <a:ext cx="6949440" cy="640080"/>
          </a:xfrm>
          <a:prstGeom prst="rect">
            <a:avLst/>
          </a:prstGeom>
          <a:noFill/>
          <a:ln/>
        </p:spPr>
        <p:txBody>
          <a:bodyPr wrap="square" rtlCol="0" anchor="ctr"/>
          <a:lstStyle/>
          <a:p>
            <a:pPr indent="0" marL="0">
              <a:buNone/>
            </a:pPr>
            <a:r>
              <a:rPr lang="en-US" sz="1600" dirty="0">
                <a:solidFill>
                  <a:srgbClr val="AEB8C4"/>
                </a:solidFill>
                <a:latin typeface="Calibri" pitchFamily="34" charset="0"/>
                <a:ea typeface="Calibri" pitchFamily="34" charset="-122"/>
                <a:cs typeface="Calibri" pitchFamily="34" charset="-120"/>
              </a:rPr>
              <a:t>Port Scanning · Service Enumeration · Nmap · Banner Grabbing · NSE Scripts</a:t>
            </a:r>
            <a:endParaRPr lang="en-US" sz="1600" dirty="0"/>
          </a:p>
        </p:txBody>
      </p:sp>
      <p:sp>
        <p:nvSpPr>
          <p:cNvPr id="5" name="Shape 3"/>
          <p:cNvSpPr/>
          <p:nvPr/>
        </p:nvSpPr>
        <p:spPr>
          <a:xfrm>
            <a:off x="502920" y="3794760"/>
            <a:ext cx="2377440" cy="502920"/>
          </a:xfrm>
          <a:prstGeom prst="roundRect">
            <a:avLst>
              <a:gd name="adj" fmla="val 50909"/>
            </a:avLst>
          </a:prstGeom>
          <a:solidFill>
            <a:srgbClr val="12172B"/>
          </a:solidFill>
          <a:ln w="12700">
            <a:solidFill>
              <a:srgbClr val="2A3350"/>
            </a:solidFill>
            <a:prstDash val="solid"/>
          </a:ln>
        </p:spPr>
      </p:sp>
      <p:sp>
        <p:nvSpPr>
          <p:cNvPr id="6" name="Text 4"/>
          <p:cNvSpPr/>
          <p:nvPr/>
        </p:nvSpPr>
        <p:spPr>
          <a:xfrm>
            <a:off x="502920" y="3794760"/>
            <a:ext cx="2377440" cy="502920"/>
          </a:xfrm>
          <a:prstGeom prst="rect">
            <a:avLst/>
          </a:prstGeom>
          <a:noFill/>
          <a:ln/>
        </p:spPr>
        <p:txBody>
          <a:bodyPr wrap="square" rtlCol="0" anchor="ctr"/>
          <a:lstStyle/>
          <a:p>
            <a:pPr algn="ctr" indent="0" marL="0">
              <a:buNone/>
            </a:pPr>
            <a:r>
              <a:rPr lang="en-US" sz="1150" b="1" dirty="0">
                <a:solidFill>
                  <a:srgbClr val="2FD48C"/>
                </a:solidFill>
                <a:latin typeface="Courier New" pitchFamily="34" charset="0"/>
                <a:ea typeface="Courier New" pitchFamily="34" charset="-122"/>
                <a:cs typeface="Courier New" pitchFamily="34" charset="-120"/>
              </a:rPr>
              <a:t>120-MINUTE SESSION</a:t>
            </a:r>
            <a:endParaRPr lang="en-US" sz="1150" dirty="0"/>
          </a:p>
        </p:txBody>
      </p:sp>
      <p:sp>
        <p:nvSpPr>
          <p:cNvPr id="7" name="Shape 5"/>
          <p:cNvSpPr/>
          <p:nvPr/>
        </p:nvSpPr>
        <p:spPr>
          <a:xfrm>
            <a:off x="7452360" y="1417320"/>
            <a:ext cx="4251960" cy="3749040"/>
          </a:xfrm>
          <a:prstGeom prst="roundRect">
            <a:avLst>
              <a:gd name="adj" fmla="val 1951"/>
            </a:avLst>
          </a:prstGeom>
          <a:solidFill>
            <a:srgbClr val="05070F"/>
          </a:solidFill>
          <a:ln w="12700">
            <a:solidFill>
              <a:srgbClr val="2A3350"/>
            </a:solidFill>
            <a:prstDash val="solid"/>
          </a:ln>
          <a:effectLst>
            <a:outerShdw sx="100000" sy="100000" kx="0" ky="0" algn="bl" rotWithShape="0" blurRad="101600" dist="38100" dir="5400000">
              <a:srgbClr val="000000">
                <a:alpha val="40000"/>
              </a:srgbClr>
            </a:outerShdw>
          </a:effectLst>
        </p:spPr>
      </p:sp>
      <p:sp>
        <p:nvSpPr>
          <p:cNvPr id="8" name="Shape 6"/>
          <p:cNvSpPr/>
          <p:nvPr/>
        </p:nvSpPr>
        <p:spPr>
          <a:xfrm>
            <a:off x="7452360" y="1417320"/>
            <a:ext cx="4251960" cy="320040"/>
          </a:xfrm>
          <a:prstGeom prst="roundRect">
            <a:avLst>
              <a:gd name="adj" fmla="val 22857"/>
            </a:avLst>
          </a:prstGeom>
          <a:solidFill>
            <a:srgbClr val="12172B"/>
          </a:solidFill>
          <a:ln/>
        </p:spPr>
      </p:sp>
      <p:sp>
        <p:nvSpPr>
          <p:cNvPr id="9" name="Shape 7"/>
          <p:cNvSpPr/>
          <p:nvPr/>
        </p:nvSpPr>
        <p:spPr>
          <a:xfrm>
            <a:off x="7452360" y="1572768"/>
            <a:ext cx="4251960" cy="164592"/>
          </a:xfrm>
          <a:prstGeom prst="rect">
            <a:avLst/>
          </a:prstGeom>
          <a:solidFill>
            <a:srgbClr val="12172B"/>
          </a:solidFill>
          <a:ln/>
        </p:spPr>
      </p:sp>
      <p:sp>
        <p:nvSpPr>
          <p:cNvPr id="10" name="Shape 8"/>
          <p:cNvSpPr/>
          <p:nvPr/>
        </p:nvSpPr>
        <p:spPr>
          <a:xfrm>
            <a:off x="7589520" y="1522476"/>
            <a:ext cx="109728" cy="109728"/>
          </a:xfrm>
          <a:prstGeom prst="ellipse">
            <a:avLst/>
          </a:prstGeom>
          <a:solidFill>
            <a:srgbClr val="E85D5D"/>
          </a:solidFill>
          <a:ln/>
        </p:spPr>
      </p:sp>
      <p:sp>
        <p:nvSpPr>
          <p:cNvPr id="11" name="Shape 9"/>
          <p:cNvSpPr/>
          <p:nvPr/>
        </p:nvSpPr>
        <p:spPr>
          <a:xfrm>
            <a:off x="7790688" y="1522476"/>
            <a:ext cx="109728" cy="109728"/>
          </a:xfrm>
          <a:prstGeom prst="ellipse">
            <a:avLst/>
          </a:prstGeom>
          <a:solidFill>
            <a:srgbClr val="E8C24F"/>
          </a:solidFill>
          <a:ln/>
        </p:spPr>
      </p:sp>
      <p:sp>
        <p:nvSpPr>
          <p:cNvPr id="12" name="Shape 10"/>
          <p:cNvSpPr/>
          <p:nvPr/>
        </p:nvSpPr>
        <p:spPr>
          <a:xfrm>
            <a:off x="7991856" y="1522476"/>
            <a:ext cx="109728" cy="109728"/>
          </a:xfrm>
          <a:prstGeom prst="ellipse">
            <a:avLst/>
          </a:prstGeom>
          <a:solidFill>
            <a:srgbClr val="2FD48C"/>
          </a:solidFill>
          <a:ln/>
        </p:spPr>
      </p:sp>
      <p:sp>
        <p:nvSpPr>
          <p:cNvPr id="13" name="Text 11"/>
          <p:cNvSpPr/>
          <p:nvPr/>
        </p:nvSpPr>
        <p:spPr>
          <a:xfrm>
            <a:off x="7452360" y="1435608"/>
            <a:ext cx="4251960" cy="274320"/>
          </a:xfrm>
          <a:prstGeom prst="rect">
            <a:avLst/>
          </a:prstGeom>
          <a:noFill/>
          <a:ln/>
        </p:spPr>
        <p:txBody>
          <a:bodyPr wrap="square" rtlCol="0" anchor="ctr"/>
          <a:lstStyle/>
          <a:p>
            <a:pPr algn="ctr" indent="0" marL="0">
              <a:buNone/>
            </a:pPr>
            <a:r>
              <a:rPr lang="en-US" sz="1000" dirty="0">
                <a:solidFill>
                  <a:srgbClr val="8892A6"/>
                </a:solidFill>
                <a:latin typeface="Courier New" pitchFamily="34" charset="0"/>
                <a:ea typeface="Courier New" pitchFamily="34" charset="-122"/>
                <a:cs typeface="Courier New" pitchFamily="34" charset="-120"/>
              </a:rPr>
              <a:t>kali@pentest: ~</a:t>
            </a:r>
            <a:endParaRPr lang="en-US" sz="1000" dirty="0"/>
          </a:p>
        </p:txBody>
      </p:sp>
      <p:sp>
        <p:nvSpPr>
          <p:cNvPr id="14" name="Text 12"/>
          <p:cNvSpPr/>
          <p:nvPr/>
        </p:nvSpPr>
        <p:spPr>
          <a:xfrm>
            <a:off x="7708392" y="1874520"/>
            <a:ext cx="3739896" cy="3108960"/>
          </a:xfrm>
          <a:prstGeom prst="rect">
            <a:avLst/>
          </a:prstGeom>
          <a:noFill/>
          <a:ln/>
        </p:spPr>
        <p:txBody>
          <a:bodyPr wrap="square" rtlCol="0" anchor="t"/>
          <a:lstStyle/>
          <a:p>
            <a:pPr indent="0" marL="0">
              <a:lnSpc>
                <a:spcPct val="128000"/>
              </a:lnSpc>
              <a:buNone/>
            </a:pPr>
            <a:r>
              <a:rPr lang="en-US" sz="1350" dirty="0">
                <a:solidFill>
                  <a:srgbClr val="2FD48C"/>
                </a:solidFill>
                <a:latin typeface="Courier New" pitchFamily="34" charset="0"/>
                <a:ea typeface="Courier New" pitchFamily="34" charset="-122"/>
                <a:cs typeface="Courier New" pitchFamily="34" charset="-120"/>
              </a:rPr>
              <a:t>$ nmap -sV -sC -T4 -oA scan 10.10.10.5</a:t>
            </a:r>
            <a:endParaRPr lang="en-US" sz="1350" dirty="0"/>
          </a:p>
          <a:p>
            <a:pPr indent="0" marL="0">
              <a:lnSpc>
                <a:spcPct val="128000"/>
              </a:lnSpc>
              <a:buNone/>
            </a:pPr>
            <a:endParaRPr lang="en-US" sz="1350" dirty="0"/>
          </a:p>
          <a:p>
            <a:pPr indent="0" marL="0">
              <a:lnSpc>
                <a:spcPct val="128000"/>
              </a:lnSpc>
              <a:buNone/>
            </a:pPr>
            <a:r>
              <a:rPr lang="en-US" sz="1350" dirty="0">
                <a:solidFill>
                  <a:srgbClr val="8892A6"/>
                </a:solidFill>
                <a:latin typeface="Courier New" pitchFamily="34" charset="0"/>
                <a:ea typeface="Courier New" pitchFamily="34" charset="-122"/>
                <a:cs typeface="Courier New" pitchFamily="34" charset="-120"/>
              </a:rPr>
              <a:t>PORT     STATE  SERVICE     VERSION</a:t>
            </a:r>
            <a:endParaRPr lang="en-US" sz="1350" dirty="0"/>
          </a:p>
          <a:p>
            <a:pPr indent="0" marL="0">
              <a:lnSpc>
                <a:spcPct val="128000"/>
              </a:lnSpc>
              <a:buNone/>
            </a:pPr>
            <a:r>
              <a:rPr lang="en-US" sz="1350" dirty="0">
                <a:solidFill>
                  <a:srgbClr val="C8D3E0"/>
                </a:solidFill>
                <a:latin typeface="Courier New" pitchFamily="34" charset="0"/>
                <a:ea typeface="Courier New" pitchFamily="34" charset="-122"/>
                <a:cs typeface="Courier New" pitchFamily="34" charset="-120"/>
              </a:rPr>
              <a:t>21/tcp   open   ftp         ProFTPD 1.3.5</a:t>
            </a:r>
            <a:endParaRPr lang="en-US" sz="1350" dirty="0"/>
          </a:p>
          <a:p>
            <a:pPr indent="0" marL="0">
              <a:lnSpc>
                <a:spcPct val="128000"/>
              </a:lnSpc>
              <a:buNone/>
            </a:pPr>
            <a:r>
              <a:rPr lang="en-US" sz="1350" dirty="0">
                <a:solidFill>
                  <a:srgbClr val="C8D3E0"/>
                </a:solidFill>
                <a:latin typeface="Courier New" pitchFamily="34" charset="0"/>
                <a:ea typeface="Courier New" pitchFamily="34" charset="-122"/>
                <a:cs typeface="Courier New" pitchFamily="34" charset="-120"/>
              </a:rPr>
              <a:t>22/tcp   open   ssh         OpenSSH 8.2p1</a:t>
            </a:r>
            <a:endParaRPr lang="en-US" sz="1350" dirty="0"/>
          </a:p>
          <a:p>
            <a:pPr indent="0" marL="0">
              <a:lnSpc>
                <a:spcPct val="128000"/>
              </a:lnSpc>
              <a:buNone/>
            </a:pPr>
            <a:r>
              <a:rPr lang="en-US" sz="1350" dirty="0">
                <a:solidFill>
                  <a:srgbClr val="C8D3E0"/>
                </a:solidFill>
                <a:latin typeface="Courier New" pitchFamily="34" charset="0"/>
                <a:ea typeface="Courier New" pitchFamily="34" charset="-122"/>
                <a:cs typeface="Courier New" pitchFamily="34" charset="-120"/>
              </a:rPr>
              <a:t>80/tcp   open   http        Apache 2.4.41</a:t>
            </a:r>
            <a:endParaRPr lang="en-US" sz="1350" dirty="0"/>
          </a:p>
          <a:p>
            <a:pPr indent="0" marL="0">
              <a:lnSpc>
                <a:spcPct val="128000"/>
              </a:lnSpc>
              <a:buNone/>
            </a:pPr>
            <a:r>
              <a:rPr lang="en-US" sz="1350" dirty="0">
                <a:solidFill>
                  <a:srgbClr val="C8D3E0"/>
                </a:solidFill>
                <a:latin typeface="Courier New" pitchFamily="34" charset="0"/>
                <a:ea typeface="Courier New" pitchFamily="34" charset="-122"/>
                <a:cs typeface="Courier New" pitchFamily="34" charset="-120"/>
              </a:rPr>
              <a:t>443/tcp  open   ssl/http    nginx 1.18.0</a:t>
            </a:r>
            <a:endParaRPr lang="en-US" sz="1350" dirty="0"/>
          </a:p>
          <a:p>
            <a:pPr indent="0" marL="0">
              <a:lnSpc>
                <a:spcPct val="128000"/>
              </a:lnSpc>
              <a:buNone/>
            </a:pPr>
            <a:r>
              <a:rPr lang="en-US" sz="1350" dirty="0">
                <a:solidFill>
                  <a:srgbClr val="C8D3E0"/>
                </a:solidFill>
                <a:latin typeface="Courier New" pitchFamily="34" charset="0"/>
                <a:ea typeface="Courier New" pitchFamily="34" charset="-122"/>
                <a:cs typeface="Courier New" pitchFamily="34" charset="-120"/>
              </a:rPr>
              <a:t>3306/tcp open   mysql       MySQL 8.0.28</a:t>
            </a:r>
            <a:endParaRPr lang="en-US" sz="1350" dirty="0"/>
          </a:p>
          <a:p>
            <a:pPr indent="0" marL="0">
              <a:lnSpc>
                <a:spcPct val="128000"/>
              </a:lnSpc>
              <a:buNone/>
            </a:pPr>
            <a:endParaRPr lang="en-US" sz="1350" dirty="0"/>
          </a:p>
          <a:p>
            <a:pPr indent="0" marL="0">
              <a:lnSpc>
                <a:spcPct val="128000"/>
              </a:lnSpc>
              <a:buNone/>
            </a:pPr>
            <a:r>
              <a:rPr lang="en-US" sz="1350" dirty="0">
                <a:solidFill>
                  <a:srgbClr val="8892A6"/>
                </a:solidFill>
                <a:latin typeface="Courier New" pitchFamily="34" charset="0"/>
                <a:ea typeface="Courier New" pitchFamily="34" charset="-122"/>
                <a:cs typeface="Courier New" pitchFamily="34" charset="-120"/>
              </a:rPr>
              <a:t>Service detection performed.</a:t>
            </a:r>
            <a:endParaRPr lang="en-US" sz="1350" dirty="0"/>
          </a:p>
          <a:p>
            <a:pPr indent="0" marL="0">
              <a:lnSpc>
                <a:spcPct val="128000"/>
              </a:lnSpc>
              <a:buNone/>
            </a:pPr>
            <a:r>
              <a:rPr lang="en-US" sz="1350" dirty="0">
                <a:solidFill>
                  <a:srgbClr val="2FD48C"/>
                </a:solidFill>
                <a:latin typeface="Courier New" pitchFamily="34" charset="0"/>
                <a:ea typeface="Courier New" pitchFamily="34" charset="-122"/>
                <a:cs typeface="Courier New" pitchFamily="34" charset="-120"/>
              </a:rPr>
              <a:t>_ </a:t>
            </a:r>
            <a:endParaRPr lang="en-US" sz="1350" dirty="0"/>
          </a:p>
        </p:txBody>
      </p:sp>
      <p:sp>
        <p:nvSpPr>
          <p:cNvPr id="15" name="Text 13"/>
          <p:cNvSpPr/>
          <p:nvPr/>
        </p:nvSpPr>
        <p:spPr>
          <a:xfrm>
            <a:off x="502920" y="6080760"/>
            <a:ext cx="7315200" cy="320040"/>
          </a:xfrm>
          <a:prstGeom prst="rect">
            <a:avLst/>
          </a:prstGeom>
          <a:noFill/>
          <a:ln/>
        </p:spPr>
        <p:txBody>
          <a:bodyPr wrap="square" rtlCol="0" anchor="ctr"/>
          <a:lstStyle/>
          <a:p>
            <a:pPr indent="0" marL="0">
              <a:buNone/>
            </a:pPr>
            <a:r>
              <a:rPr lang="en-US" sz="1200" dirty="0">
                <a:solidFill>
                  <a:srgbClr val="6B7690"/>
                </a:solidFill>
                <a:latin typeface="Calibri" pitchFamily="34" charset="0"/>
                <a:ea typeface="Calibri" pitchFamily="34" charset="-122"/>
                <a:cs typeface="Calibri" pitchFamily="34" charset="-120"/>
              </a:rPr>
              <a:t>Instructor:  ________________        Date:  ________________</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rtlCol="0" anchor="ctr"/>
          <a:lstStyle/>
          <a:p>
            <a:pPr algn="l" indent="0" marL="0">
              <a:buNone/>
            </a:pPr>
            <a:r>
              <a:rPr lang="en-US" sz="1200" b="1" spc="200" kern="0" dirty="0">
                <a:solidFill>
                  <a:srgbClr val="1E9E6A"/>
                </a:solidFill>
                <a:latin typeface="Calibri" pitchFamily="34" charset="0"/>
                <a:ea typeface="Calibri" pitchFamily="34" charset="-122"/>
                <a:cs typeface="Calibri" pitchFamily="34" charset="-120"/>
              </a:rPr>
              <a:t>SESSION ROADMAP</a:t>
            </a:r>
            <a:endParaRPr lang="en-US" sz="1200" dirty="0"/>
          </a:p>
        </p:txBody>
      </p:sp>
      <p:sp>
        <p:nvSpPr>
          <p:cNvPr id="3" name="Text 1"/>
          <p:cNvSpPr/>
          <p:nvPr/>
        </p:nvSpPr>
        <p:spPr>
          <a:xfrm>
            <a:off x="502920" y="658368"/>
            <a:ext cx="10515600" cy="548640"/>
          </a:xfrm>
          <a:prstGeom prst="rect">
            <a:avLst/>
          </a:prstGeom>
          <a:noFill/>
          <a:ln/>
        </p:spPr>
        <p:txBody>
          <a:bodyPr wrap="square" rtlCol="0" anchor="ctr"/>
          <a:lstStyle/>
          <a:p>
            <a:pPr algn="l" indent="0" marL="0">
              <a:buNone/>
            </a:pPr>
            <a:r>
              <a:rPr lang="en-US" sz="3200" b="1" dirty="0">
                <a:solidFill>
                  <a:srgbClr val="16213E"/>
                </a:solidFill>
                <a:latin typeface="Calibri" pitchFamily="34" charset="0"/>
                <a:ea typeface="Calibri" pitchFamily="34" charset="-122"/>
                <a:cs typeface="Calibri" pitchFamily="34" charset="-120"/>
              </a:rPr>
              <a:t>What We'll Cover in 120 Minutes</a:t>
            </a:r>
            <a:endParaRPr lang="en-US" sz="3200" dirty="0"/>
          </a:p>
        </p:txBody>
      </p:sp>
      <p:sp>
        <p:nvSpPr>
          <p:cNvPr id="4" name="Text 2"/>
          <p:cNvSpPr/>
          <p:nvPr/>
        </p:nvSpPr>
        <p:spPr>
          <a:xfrm>
            <a:off x="502920" y="1161288"/>
            <a:ext cx="10515600" cy="365760"/>
          </a:xfrm>
          <a:prstGeom prst="rect">
            <a:avLst/>
          </a:prstGeom>
          <a:noFill/>
          <a:ln/>
        </p:spPr>
        <p:txBody>
          <a:bodyPr wrap="square" rtlCol="0" anchor="ctr"/>
          <a:lstStyle/>
          <a:p>
            <a:pPr algn="l" indent="0" marL="0">
              <a:buNone/>
            </a:pPr>
            <a:r>
              <a:rPr lang="en-US" sz="1400" dirty="0">
                <a:solidFill>
                  <a:srgbClr val="5C6B84"/>
                </a:solidFill>
                <a:latin typeface="Calibri" pitchFamily="34" charset="0"/>
                <a:ea typeface="Calibri" pitchFamily="34" charset="-122"/>
                <a:cs typeface="Calibri" pitchFamily="34" charset="-120"/>
              </a:rPr>
              <a:t>Six blocks, mixing theory with live demos and hands-on practice</a:t>
            </a:r>
            <a:endParaRPr lang="en-US" sz="1400" dirty="0"/>
          </a:p>
        </p:txBody>
      </p:sp>
      <p:sp>
        <p:nvSpPr>
          <p:cNvPr id="5" name="Shape 3"/>
          <p:cNvSpPr/>
          <p:nvPr/>
        </p:nvSpPr>
        <p:spPr>
          <a:xfrm>
            <a:off x="502920" y="1783080"/>
            <a:ext cx="11183112" cy="621792"/>
          </a:xfrm>
          <a:prstGeom prst="roundRect">
            <a:avLst>
              <a:gd name="adj" fmla="val 8824"/>
            </a:avLst>
          </a:prstGeom>
          <a:solidFill>
            <a:srgbClr val="F2F5F7"/>
          </a:solidFill>
          <a:ln/>
        </p:spPr>
      </p:sp>
      <p:sp>
        <p:nvSpPr>
          <p:cNvPr id="6" name="Text 4"/>
          <p:cNvSpPr/>
          <p:nvPr/>
        </p:nvSpPr>
        <p:spPr>
          <a:xfrm>
            <a:off x="640080" y="1783080"/>
            <a:ext cx="640080" cy="621792"/>
          </a:xfrm>
          <a:prstGeom prst="rect">
            <a:avLst/>
          </a:prstGeom>
          <a:noFill/>
          <a:ln/>
        </p:spPr>
        <p:txBody>
          <a:bodyPr wrap="square" rtlCol="0" anchor="ctr"/>
          <a:lstStyle/>
          <a:p>
            <a:pPr algn="ctr" indent="0" marL="0">
              <a:buNone/>
            </a:pPr>
            <a:r>
              <a:rPr lang="en-US" sz="1800" b="1" dirty="0">
                <a:solidFill>
                  <a:srgbClr val="1E9E6A"/>
                </a:solidFill>
                <a:latin typeface="Courier New" pitchFamily="34" charset="0"/>
                <a:ea typeface="Courier New" pitchFamily="34" charset="-122"/>
                <a:cs typeface="Courier New" pitchFamily="34" charset="-120"/>
              </a:rPr>
              <a:t>01</a:t>
            </a:r>
            <a:endParaRPr lang="en-US" sz="1800" dirty="0"/>
          </a:p>
        </p:txBody>
      </p:sp>
      <p:sp>
        <p:nvSpPr>
          <p:cNvPr id="7" name="Text 5"/>
          <p:cNvSpPr/>
          <p:nvPr/>
        </p:nvSpPr>
        <p:spPr>
          <a:xfrm>
            <a:off x="1417320" y="1783080"/>
            <a:ext cx="2743200" cy="621792"/>
          </a:xfrm>
          <a:prstGeom prst="rect">
            <a:avLst/>
          </a:prstGeom>
          <a:noFill/>
          <a:ln/>
        </p:spPr>
        <p:txBody>
          <a:bodyPr wrap="square" rtlCol="0" anchor="ctr"/>
          <a:lstStyle/>
          <a:p>
            <a:pPr indent="0" marL="0">
              <a:buNone/>
            </a:pPr>
            <a:r>
              <a:rPr lang="en-US" sz="1450" b="1" dirty="0">
                <a:solidFill>
                  <a:srgbClr val="16213E"/>
                </a:solidFill>
                <a:latin typeface="Calibri" pitchFamily="34" charset="0"/>
                <a:ea typeface="Calibri" pitchFamily="34" charset="-122"/>
                <a:cs typeface="Calibri" pitchFamily="34" charset="-120"/>
              </a:rPr>
              <a:t>Foundations</a:t>
            </a:r>
            <a:endParaRPr lang="en-US" sz="1450" dirty="0"/>
          </a:p>
        </p:txBody>
      </p:sp>
      <p:sp>
        <p:nvSpPr>
          <p:cNvPr id="8" name="Text 6"/>
          <p:cNvSpPr/>
          <p:nvPr/>
        </p:nvSpPr>
        <p:spPr>
          <a:xfrm>
            <a:off x="4297680" y="1783080"/>
            <a:ext cx="6309360" cy="621792"/>
          </a:xfrm>
          <a:prstGeom prst="rect">
            <a:avLst/>
          </a:prstGeom>
          <a:noFill/>
          <a:ln/>
        </p:spPr>
        <p:txBody>
          <a:bodyPr wrap="square" rtlCol="0" anchor="ctr"/>
          <a:lstStyle/>
          <a:p>
            <a:pPr indent="0" marL="0">
              <a:buNone/>
            </a:pPr>
            <a:r>
              <a:rPr lang="en-US" sz="1200" dirty="0">
                <a:solidFill>
                  <a:srgbClr val="5C6B84"/>
                </a:solidFill>
                <a:latin typeface="Calibri" pitchFamily="34" charset="0"/>
                <a:ea typeface="Calibri" pitchFamily="34" charset="-122"/>
                <a:cs typeface="Calibri" pitchFamily="34" charset="-120"/>
              </a:rPr>
              <a:t>Where scanning fits the pentest lifecycle, TCP/IP handshake, port states</a:t>
            </a:r>
            <a:endParaRPr lang="en-US" sz="1200" dirty="0"/>
          </a:p>
        </p:txBody>
      </p:sp>
      <p:sp>
        <p:nvSpPr>
          <p:cNvPr id="9" name="Text 7"/>
          <p:cNvSpPr/>
          <p:nvPr/>
        </p:nvSpPr>
        <p:spPr>
          <a:xfrm>
            <a:off x="10680192" y="1783080"/>
            <a:ext cx="1005840" cy="621792"/>
          </a:xfrm>
          <a:prstGeom prst="rect">
            <a:avLst/>
          </a:prstGeom>
          <a:noFill/>
          <a:ln/>
        </p:spPr>
        <p:txBody>
          <a:bodyPr wrap="square" rtlCol="0" anchor="ctr"/>
          <a:lstStyle/>
          <a:p>
            <a:pPr algn="r" indent="0" marL="0">
              <a:buNone/>
            </a:pPr>
            <a:r>
              <a:rPr lang="en-US" sz="1250" b="1" dirty="0">
                <a:solidFill>
                  <a:srgbClr val="1E9E6A"/>
                </a:solidFill>
                <a:latin typeface="Calibri" pitchFamily="34" charset="0"/>
                <a:ea typeface="Calibri" pitchFamily="34" charset="-122"/>
                <a:cs typeface="Calibri" pitchFamily="34" charset="-120"/>
              </a:rPr>
              <a:t>15 min</a:t>
            </a:r>
            <a:endParaRPr lang="en-US" sz="1250" dirty="0"/>
          </a:p>
        </p:txBody>
      </p:sp>
      <p:sp>
        <p:nvSpPr>
          <p:cNvPr id="10" name="Shape 8"/>
          <p:cNvSpPr/>
          <p:nvPr/>
        </p:nvSpPr>
        <p:spPr>
          <a:xfrm>
            <a:off x="502920" y="2496312"/>
            <a:ext cx="11183112" cy="621792"/>
          </a:xfrm>
          <a:prstGeom prst="roundRect">
            <a:avLst>
              <a:gd name="adj" fmla="val 8824"/>
            </a:avLst>
          </a:prstGeom>
          <a:solidFill>
            <a:srgbClr val="FFFFFF"/>
          </a:solidFill>
          <a:ln/>
        </p:spPr>
      </p:sp>
      <p:sp>
        <p:nvSpPr>
          <p:cNvPr id="11" name="Text 9"/>
          <p:cNvSpPr/>
          <p:nvPr/>
        </p:nvSpPr>
        <p:spPr>
          <a:xfrm>
            <a:off x="640080" y="2496312"/>
            <a:ext cx="640080" cy="621792"/>
          </a:xfrm>
          <a:prstGeom prst="rect">
            <a:avLst/>
          </a:prstGeom>
          <a:noFill/>
          <a:ln/>
        </p:spPr>
        <p:txBody>
          <a:bodyPr wrap="square" rtlCol="0" anchor="ctr"/>
          <a:lstStyle/>
          <a:p>
            <a:pPr algn="ctr" indent="0" marL="0">
              <a:buNone/>
            </a:pPr>
            <a:r>
              <a:rPr lang="en-US" sz="1800" b="1" dirty="0">
                <a:solidFill>
                  <a:srgbClr val="1E9E6A"/>
                </a:solidFill>
                <a:latin typeface="Courier New" pitchFamily="34" charset="0"/>
                <a:ea typeface="Courier New" pitchFamily="34" charset="-122"/>
                <a:cs typeface="Courier New" pitchFamily="34" charset="-120"/>
              </a:rPr>
              <a:t>02</a:t>
            </a:r>
            <a:endParaRPr lang="en-US" sz="1800" dirty="0"/>
          </a:p>
        </p:txBody>
      </p:sp>
      <p:sp>
        <p:nvSpPr>
          <p:cNvPr id="12" name="Text 10"/>
          <p:cNvSpPr/>
          <p:nvPr/>
        </p:nvSpPr>
        <p:spPr>
          <a:xfrm>
            <a:off x="1417320" y="2496312"/>
            <a:ext cx="2743200" cy="621792"/>
          </a:xfrm>
          <a:prstGeom prst="rect">
            <a:avLst/>
          </a:prstGeom>
          <a:noFill/>
          <a:ln/>
        </p:spPr>
        <p:txBody>
          <a:bodyPr wrap="square" rtlCol="0" anchor="ctr"/>
          <a:lstStyle/>
          <a:p>
            <a:pPr indent="0" marL="0">
              <a:buNone/>
            </a:pPr>
            <a:r>
              <a:rPr lang="en-US" sz="1450" b="1" dirty="0">
                <a:solidFill>
                  <a:srgbClr val="16213E"/>
                </a:solidFill>
                <a:latin typeface="Calibri" pitchFamily="34" charset="0"/>
                <a:ea typeface="Calibri" pitchFamily="34" charset="-122"/>
                <a:cs typeface="Calibri" pitchFamily="34" charset="-120"/>
              </a:rPr>
              <a:t>Nmap Deep Dive</a:t>
            </a:r>
            <a:endParaRPr lang="en-US" sz="1450" dirty="0"/>
          </a:p>
        </p:txBody>
      </p:sp>
      <p:sp>
        <p:nvSpPr>
          <p:cNvPr id="13" name="Text 11"/>
          <p:cNvSpPr/>
          <p:nvPr/>
        </p:nvSpPr>
        <p:spPr>
          <a:xfrm>
            <a:off x="4297680" y="2496312"/>
            <a:ext cx="6309360" cy="621792"/>
          </a:xfrm>
          <a:prstGeom prst="rect">
            <a:avLst/>
          </a:prstGeom>
          <a:noFill/>
          <a:ln/>
        </p:spPr>
        <p:txBody>
          <a:bodyPr wrap="square" rtlCol="0" anchor="ctr"/>
          <a:lstStyle/>
          <a:p>
            <a:pPr indent="0" marL="0">
              <a:buNone/>
            </a:pPr>
            <a:r>
              <a:rPr lang="en-US" sz="1200" dirty="0">
                <a:solidFill>
                  <a:srgbClr val="5C6B84"/>
                </a:solidFill>
                <a:latin typeface="Calibri" pitchFamily="34" charset="0"/>
                <a:ea typeface="Calibri" pitchFamily="34" charset="-122"/>
                <a:cs typeface="Calibri" pitchFamily="34" charset="-120"/>
              </a:rPr>
              <a:t>Scan types, command anatomy, flags, timing templates</a:t>
            </a:r>
            <a:endParaRPr lang="en-US" sz="1200" dirty="0"/>
          </a:p>
        </p:txBody>
      </p:sp>
      <p:sp>
        <p:nvSpPr>
          <p:cNvPr id="14" name="Text 12"/>
          <p:cNvSpPr/>
          <p:nvPr/>
        </p:nvSpPr>
        <p:spPr>
          <a:xfrm>
            <a:off x="10680192" y="2496312"/>
            <a:ext cx="1005840" cy="621792"/>
          </a:xfrm>
          <a:prstGeom prst="rect">
            <a:avLst/>
          </a:prstGeom>
          <a:noFill/>
          <a:ln/>
        </p:spPr>
        <p:txBody>
          <a:bodyPr wrap="square" rtlCol="0" anchor="ctr"/>
          <a:lstStyle/>
          <a:p>
            <a:pPr algn="r" indent="0" marL="0">
              <a:buNone/>
            </a:pPr>
            <a:r>
              <a:rPr lang="en-US" sz="1250" b="1" dirty="0">
                <a:solidFill>
                  <a:srgbClr val="1E9E6A"/>
                </a:solidFill>
                <a:latin typeface="Calibri" pitchFamily="34" charset="0"/>
                <a:ea typeface="Calibri" pitchFamily="34" charset="-122"/>
                <a:cs typeface="Calibri" pitchFamily="34" charset="-120"/>
              </a:rPr>
              <a:t>25 min</a:t>
            </a:r>
            <a:endParaRPr lang="en-US" sz="1250" dirty="0"/>
          </a:p>
        </p:txBody>
      </p:sp>
      <p:sp>
        <p:nvSpPr>
          <p:cNvPr id="15" name="Shape 13"/>
          <p:cNvSpPr/>
          <p:nvPr/>
        </p:nvSpPr>
        <p:spPr>
          <a:xfrm>
            <a:off x="502920" y="3209544"/>
            <a:ext cx="11183112" cy="621792"/>
          </a:xfrm>
          <a:prstGeom prst="roundRect">
            <a:avLst>
              <a:gd name="adj" fmla="val 8824"/>
            </a:avLst>
          </a:prstGeom>
          <a:solidFill>
            <a:srgbClr val="F2F5F7"/>
          </a:solidFill>
          <a:ln/>
        </p:spPr>
      </p:sp>
      <p:sp>
        <p:nvSpPr>
          <p:cNvPr id="16" name="Text 14"/>
          <p:cNvSpPr/>
          <p:nvPr/>
        </p:nvSpPr>
        <p:spPr>
          <a:xfrm>
            <a:off x="640080" y="3209544"/>
            <a:ext cx="640080" cy="621792"/>
          </a:xfrm>
          <a:prstGeom prst="rect">
            <a:avLst/>
          </a:prstGeom>
          <a:noFill/>
          <a:ln/>
        </p:spPr>
        <p:txBody>
          <a:bodyPr wrap="square" rtlCol="0" anchor="ctr"/>
          <a:lstStyle/>
          <a:p>
            <a:pPr algn="ctr" indent="0" marL="0">
              <a:buNone/>
            </a:pPr>
            <a:r>
              <a:rPr lang="en-US" sz="1800" b="1" dirty="0">
                <a:solidFill>
                  <a:srgbClr val="1E9E6A"/>
                </a:solidFill>
                <a:latin typeface="Courier New" pitchFamily="34" charset="0"/>
                <a:ea typeface="Courier New" pitchFamily="34" charset="-122"/>
                <a:cs typeface="Courier New" pitchFamily="34" charset="-120"/>
              </a:rPr>
              <a:t>03</a:t>
            </a:r>
            <a:endParaRPr lang="en-US" sz="1800" dirty="0"/>
          </a:p>
        </p:txBody>
      </p:sp>
      <p:sp>
        <p:nvSpPr>
          <p:cNvPr id="17" name="Text 15"/>
          <p:cNvSpPr/>
          <p:nvPr/>
        </p:nvSpPr>
        <p:spPr>
          <a:xfrm>
            <a:off x="1417320" y="3209544"/>
            <a:ext cx="2743200" cy="621792"/>
          </a:xfrm>
          <a:prstGeom prst="rect">
            <a:avLst/>
          </a:prstGeom>
          <a:noFill/>
          <a:ln/>
        </p:spPr>
        <p:txBody>
          <a:bodyPr wrap="square" rtlCol="0" anchor="ctr"/>
          <a:lstStyle/>
          <a:p>
            <a:pPr indent="0" marL="0">
              <a:buNone/>
            </a:pPr>
            <a:r>
              <a:rPr lang="en-US" sz="1450" b="1" dirty="0">
                <a:solidFill>
                  <a:srgbClr val="16213E"/>
                </a:solidFill>
                <a:latin typeface="Calibri" pitchFamily="34" charset="0"/>
                <a:ea typeface="Calibri" pitchFamily="34" charset="-122"/>
                <a:cs typeface="Calibri" pitchFamily="34" charset="-120"/>
              </a:rPr>
              <a:t>Live Demo</a:t>
            </a:r>
            <a:endParaRPr lang="en-US" sz="1450" dirty="0"/>
          </a:p>
        </p:txBody>
      </p:sp>
      <p:sp>
        <p:nvSpPr>
          <p:cNvPr id="18" name="Text 16"/>
          <p:cNvSpPr/>
          <p:nvPr/>
        </p:nvSpPr>
        <p:spPr>
          <a:xfrm>
            <a:off x="4297680" y="3209544"/>
            <a:ext cx="6309360" cy="621792"/>
          </a:xfrm>
          <a:prstGeom prst="rect">
            <a:avLst/>
          </a:prstGeom>
          <a:noFill/>
          <a:ln/>
        </p:spPr>
        <p:txBody>
          <a:bodyPr wrap="square" rtlCol="0" anchor="ctr"/>
          <a:lstStyle/>
          <a:p>
            <a:pPr indent="0" marL="0">
              <a:buNone/>
            </a:pPr>
            <a:r>
              <a:rPr lang="en-US" sz="1200" dirty="0">
                <a:solidFill>
                  <a:srgbClr val="5C6B84"/>
                </a:solidFill>
                <a:latin typeface="Calibri" pitchFamily="34" charset="0"/>
                <a:ea typeface="Calibri" pitchFamily="34" charset="-122"/>
                <a:cs typeface="Calibri" pitchFamily="34" charset="-120"/>
              </a:rPr>
              <a:t>Running real scans and interpreting the output line by line</a:t>
            </a:r>
            <a:endParaRPr lang="en-US" sz="1200" dirty="0"/>
          </a:p>
        </p:txBody>
      </p:sp>
      <p:sp>
        <p:nvSpPr>
          <p:cNvPr id="19" name="Text 17"/>
          <p:cNvSpPr/>
          <p:nvPr/>
        </p:nvSpPr>
        <p:spPr>
          <a:xfrm>
            <a:off x="10680192" y="3209544"/>
            <a:ext cx="1005840" cy="621792"/>
          </a:xfrm>
          <a:prstGeom prst="rect">
            <a:avLst/>
          </a:prstGeom>
          <a:noFill/>
          <a:ln/>
        </p:spPr>
        <p:txBody>
          <a:bodyPr wrap="square" rtlCol="0" anchor="ctr"/>
          <a:lstStyle/>
          <a:p>
            <a:pPr algn="r" indent="0" marL="0">
              <a:buNone/>
            </a:pPr>
            <a:r>
              <a:rPr lang="en-US" sz="1250" b="1" dirty="0">
                <a:solidFill>
                  <a:srgbClr val="1E9E6A"/>
                </a:solidFill>
                <a:latin typeface="Calibri" pitchFamily="34" charset="0"/>
                <a:ea typeface="Calibri" pitchFamily="34" charset="-122"/>
                <a:cs typeface="Calibri" pitchFamily="34" charset="-120"/>
              </a:rPr>
              <a:t>20 min</a:t>
            </a:r>
            <a:endParaRPr lang="en-US" sz="1250" dirty="0"/>
          </a:p>
        </p:txBody>
      </p:sp>
      <p:sp>
        <p:nvSpPr>
          <p:cNvPr id="20" name="Shape 18"/>
          <p:cNvSpPr/>
          <p:nvPr/>
        </p:nvSpPr>
        <p:spPr>
          <a:xfrm>
            <a:off x="502920" y="3922776"/>
            <a:ext cx="11183112" cy="621792"/>
          </a:xfrm>
          <a:prstGeom prst="roundRect">
            <a:avLst>
              <a:gd name="adj" fmla="val 8824"/>
            </a:avLst>
          </a:prstGeom>
          <a:solidFill>
            <a:srgbClr val="FFFFFF"/>
          </a:solidFill>
          <a:ln/>
        </p:spPr>
      </p:sp>
      <p:sp>
        <p:nvSpPr>
          <p:cNvPr id="21" name="Text 19"/>
          <p:cNvSpPr/>
          <p:nvPr/>
        </p:nvSpPr>
        <p:spPr>
          <a:xfrm>
            <a:off x="640080" y="3922776"/>
            <a:ext cx="640080" cy="621792"/>
          </a:xfrm>
          <a:prstGeom prst="rect">
            <a:avLst/>
          </a:prstGeom>
          <a:noFill/>
          <a:ln/>
        </p:spPr>
        <p:txBody>
          <a:bodyPr wrap="square" rtlCol="0" anchor="ctr"/>
          <a:lstStyle/>
          <a:p>
            <a:pPr algn="ctr" indent="0" marL="0">
              <a:buNone/>
            </a:pPr>
            <a:r>
              <a:rPr lang="en-US" sz="1800" b="1" dirty="0">
                <a:solidFill>
                  <a:srgbClr val="1E9E6A"/>
                </a:solidFill>
                <a:latin typeface="Courier New" pitchFamily="34" charset="0"/>
                <a:ea typeface="Courier New" pitchFamily="34" charset="-122"/>
                <a:cs typeface="Courier New" pitchFamily="34" charset="-120"/>
              </a:rPr>
              <a:t>04</a:t>
            </a:r>
            <a:endParaRPr lang="en-US" sz="1800" dirty="0"/>
          </a:p>
        </p:txBody>
      </p:sp>
      <p:sp>
        <p:nvSpPr>
          <p:cNvPr id="22" name="Text 20"/>
          <p:cNvSpPr/>
          <p:nvPr/>
        </p:nvSpPr>
        <p:spPr>
          <a:xfrm>
            <a:off x="1417320" y="3922776"/>
            <a:ext cx="2743200" cy="621792"/>
          </a:xfrm>
          <a:prstGeom prst="rect">
            <a:avLst/>
          </a:prstGeom>
          <a:noFill/>
          <a:ln/>
        </p:spPr>
        <p:txBody>
          <a:bodyPr wrap="square" rtlCol="0" anchor="ctr"/>
          <a:lstStyle/>
          <a:p>
            <a:pPr indent="0" marL="0">
              <a:buNone/>
            </a:pPr>
            <a:r>
              <a:rPr lang="en-US" sz="1450" b="1" dirty="0">
                <a:solidFill>
                  <a:srgbClr val="16213E"/>
                </a:solidFill>
                <a:latin typeface="Calibri" pitchFamily="34" charset="0"/>
                <a:ea typeface="Calibri" pitchFamily="34" charset="-122"/>
                <a:cs typeface="Calibri" pitchFamily="34" charset="-120"/>
              </a:rPr>
              <a:t>Banner Grabbing</a:t>
            </a:r>
            <a:endParaRPr lang="en-US" sz="1450" dirty="0"/>
          </a:p>
        </p:txBody>
      </p:sp>
      <p:sp>
        <p:nvSpPr>
          <p:cNvPr id="23" name="Text 21"/>
          <p:cNvSpPr/>
          <p:nvPr/>
        </p:nvSpPr>
        <p:spPr>
          <a:xfrm>
            <a:off x="4297680" y="3922776"/>
            <a:ext cx="6309360" cy="621792"/>
          </a:xfrm>
          <a:prstGeom prst="rect">
            <a:avLst/>
          </a:prstGeom>
          <a:noFill/>
          <a:ln/>
        </p:spPr>
        <p:txBody>
          <a:bodyPr wrap="square" rtlCol="0" anchor="ctr"/>
          <a:lstStyle/>
          <a:p>
            <a:pPr indent="0" marL="0">
              <a:buNone/>
            </a:pPr>
            <a:r>
              <a:rPr lang="en-US" sz="1200" dirty="0">
                <a:solidFill>
                  <a:srgbClr val="5C6B84"/>
                </a:solidFill>
                <a:latin typeface="Calibri" pitchFamily="34" charset="0"/>
                <a:ea typeface="Calibri" pitchFamily="34" charset="-122"/>
                <a:cs typeface="Calibri" pitchFamily="34" charset="-120"/>
              </a:rPr>
              <a:t>Manual service ID with netcat, telnet, curl, openssl</a:t>
            </a:r>
            <a:endParaRPr lang="en-US" sz="1200" dirty="0"/>
          </a:p>
        </p:txBody>
      </p:sp>
      <p:sp>
        <p:nvSpPr>
          <p:cNvPr id="24" name="Text 22"/>
          <p:cNvSpPr/>
          <p:nvPr/>
        </p:nvSpPr>
        <p:spPr>
          <a:xfrm>
            <a:off x="10680192" y="3922776"/>
            <a:ext cx="1005840" cy="621792"/>
          </a:xfrm>
          <a:prstGeom prst="rect">
            <a:avLst/>
          </a:prstGeom>
          <a:noFill/>
          <a:ln/>
        </p:spPr>
        <p:txBody>
          <a:bodyPr wrap="square" rtlCol="0" anchor="ctr"/>
          <a:lstStyle/>
          <a:p>
            <a:pPr algn="r" indent="0" marL="0">
              <a:buNone/>
            </a:pPr>
            <a:r>
              <a:rPr lang="en-US" sz="1250" b="1" dirty="0">
                <a:solidFill>
                  <a:srgbClr val="1E9E6A"/>
                </a:solidFill>
                <a:latin typeface="Calibri" pitchFamily="34" charset="0"/>
                <a:ea typeface="Calibri" pitchFamily="34" charset="-122"/>
                <a:cs typeface="Calibri" pitchFamily="34" charset="-120"/>
              </a:rPr>
              <a:t>15 min</a:t>
            </a:r>
            <a:endParaRPr lang="en-US" sz="1250" dirty="0"/>
          </a:p>
        </p:txBody>
      </p:sp>
      <p:sp>
        <p:nvSpPr>
          <p:cNvPr id="25" name="Shape 23"/>
          <p:cNvSpPr/>
          <p:nvPr/>
        </p:nvSpPr>
        <p:spPr>
          <a:xfrm>
            <a:off x="502920" y="4636008"/>
            <a:ext cx="11183112" cy="621792"/>
          </a:xfrm>
          <a:prstGeom prst="roundRect">
            <a:avLst>
              <a:gd name="adj" fmla="val 8824"/>
            </a:avLst>
          </a:prstGeom>
          <a:solidFill>
            <a:srgbClr val="F2F5F7"/>
          </a:solidFill>
          <a:ln/>
        </p:spPr>
      </p:sp>
      <p:sp>
        <p:nvSpPr>
          <p:cNvPr id="26" name="Text 24"/>
          <p:cNvSpPr/>
          <p:nvPr/>
        </p:nvSpPr>
        <p:spPr>
          <a:xfrm>
            <a:off x="640080" y="4636008"/>
            <a:ext cx="640080" cy="621792"/>
          </a:xfrm>
          <a:prstGeom prst="rect">
            <a:avLst/>
          </a:prstGeom>
          <a:noFill/>
          <a:ln/>
        </p:spPr>
        <p:txBody>
          <a:bodyPr wrap="square" rtlCol="0" anchor="ctr"/>
          <a:lstStyle/>
          <a:p>
            <a:pPr algn="ctr" indent="0" marL="0">
              <a:buNone/>
            </a:pPr>
            <a:r>
              <a:rPr lang="en-US" sz="1800" b="1" dirty="0">
                <a:solidFill>
                  <a:srgbClr val="1E9E6A"/>
                </a:solidFill>
                <a:latin typeface="Courier New" pitchFamily="34" charset="0"/>
                <a:ea typeface="Courier New" pitchFamily="34" charset="-122"/>
                <a:cs typeface="Courier New" pitchFamily="34" charset="-120"/>
              </a:rPr>
              <a:t>05</a:t>
            </a:r>
            <a:endParaRPr lang="en-US" sz="1800" dirty="0"/>
          </a:p>
        </p:txBody>
      </p:sp>
      <p:sp>
        <p:nvSpPr>
          <p:cNvPr id="27" name="Text 25"/>
          <p:cNvSpPr/>
          <p:nvPr/>
        </p:nvSpPr>
        <p:spPr>
          <a:xfrm>
            <a:off x="1417320" y="4636008"/>
            <a:ext cx="2743200" cy="621792"/>
          </a:xfrm>
          <a:prstGeom prst="rect">
            <a:avLst/>
          </a:prstGeom>
          <a:noFill/>
          <a:ln/>
        </p:spPr>
        <p:txBody>
          <a:bodyPr wrap="square" rtlCol="0" anchor="ctr"/>
          <a:lstStyle/>
          <a:p>
            <a:pPr indent="0" marL="0">
              <a:buNone/>
            </a:pPr>
            <a:r>
              <a:rPr lang="en-US" sz="1450" b="1" dirty="0">
                <a:solidFill>
                  <a:srgbClr val="16213E"/>
                </a:solidFill>
                <a:latin typeface="Calibri" pitchFamily="34" charset="0"/>
                <a:ea typeface="Calibri" pitchFamily="34" charset="-122"/>
                <a:cs typeface="Calibri" pitchFamily="34" charset="-120"/>
              </a:rPr>
              <a:t>NSE Scripts</a:t>
            </a:r>
            <a:endParaRPr lang="en-US" sz="1450" dirty="0"/>
          </a:p>
        </p:txBody>
      </p:sp>
      <p:sp>
        <p:nvSpPr>
          <p:cNvPr id="28" name="Text 26"/>
          <p:cNvSpPr/>
          <p:nvPr/>
        </p:nvSpPr>
        <p:spPr>
          <a:xfrm>
            <a:off x="4297680" y="4636008"/>
            <a:ext cx="6309360" cy="621792"/>
          </a:xfrm>
          <a:prstGeom prst="rect">
            <a:avLst/>
          </a:prstGeom>
          <a:noFill/>
          <a:ln/>
        </p:spPr>
        <p:txBody>
          <a:bodyPr wrap="square" rtlCol="0" anchor="ctr"/>
          <a:lstStyle/>
          <a:p>
            <a:pPr indent="0" marL="0">
              <a:buNone/>
            </a:pPr>
            <a:r>
              <a:rPr lang="en-US" sz="1200" dirty="0">
                <a:solidFill>
                  <a:srgbClr val="5C6B84"/>
                </a:solidFill>
                <a:latin typeface="Calibri" pitchFamily="34" charset="0"/>
                <a:ea typeface="Calibri" pitchFamily="34" charset="-122"/>
                <a:cs typeface="Calibri" pitchFamily="34" charset="-120"/>
              </a:rPr>
              <a:t>Nmap Scripting Engine categories &amp; the scripts you'll actually use</a:t>
            </a:r>
            <a:endParaRPr lang="en-US" sz="1200" dirty="0"/>
          </a:p>
        </p:txBody>
      </p:sp>
      <p:sp>
        <p:nvSpPr>
          <p:cNvPr id="29" name="Text 27"/>
          <p:cNvSpPr/>
          <p:nvPr/>
        </p:nvSpPr>
        <p:spPr>
          <a:xfrm>
            <a:off x="10680192" y="4636008"/>
            <a:ext cx="1005840" cy="621792"/>
          </a:xfrm>
          <a:prstGeom prst="rect">
            <a:avLst/>
          </a:prstGeom>
          <a:noFill/>
          <a:ln/>
        </p:spPr>
        <p:txBody>
          <a:bodyPr wrap="square" rtlCol="0" anchor="ctr"/>
          <a:lstStyle/>
          <a:p>
            <a:pPr algn="r" indent="0" marL="0">
              <a:buNone/>
            </a:pPr>
            <a:r>
              <a:rPr lang="en-US" sz="1250" b="1" dirty="0">
                <a:solidFill>
                  <a:srgbClr val="1E9E6A"/>
                </a:solidFill>
                <a:latin typeface="Calibri" pitchFamily="34" charset="0"/>
                <a:ea typeface="Calibri" pitchFamily="34" charset="-122"/>
                <a:cs typeface="Calibri" pitchFamily="34" charset="-120"/>
              </a:rPr>
              <a:t>20 min</a:t>
            </a:r>
            <a:endParaRPr lang="en-US" sz="1250" dirty="0"/>
          </a:p>
        </p:txBody>
      </p:sp>
      <p:sp>
        <p:nvSpPr>
          <p:cNvPr id="30" name="Shape 28"/>
          <p:cNvSpPr/>
          <p:nvPr/>
        </p:nvSpPr>
        <p:spPr>
          <a:xfrm>
            <a:off x="502920" y="5349240"/>
            <a:ext cx="11183112" cy="621792"/>
          </a:xfrm>
          <a:prstGeom prst="roundRect">
            <a:avLst>
              <a:gd name="adj" fmla="val 8824"/>
            </a:avLst>
          </a:prstGeom>
          <a:solidFill>
            <a:srgbClr val="FFFFFF"/>
          </a:solidFill>
          <a:ln/>
        </p:spPr>
      </p:sp>
      <p:sp>
        <p:nvSpPr>
          <p:cNvPr id="31" name="Text 29"/>
          <p:cNvSpPr/>
          <p:nvPr/>
        </p:nvSpPr>
        <p:spPr>
          <a:xfrm>
            <a:off x="640080" y="5349240"/>
            <a:ext cx="640080" cy="621792"/>
          </a:xfrm>
          <a:prstGeom prst="rect">
            <a:avLst/>
          </a:prstGeom>
          <a:noFill/>
          <a:ln/>
        </p:spPr>
        <p:txBody>
          <a:bodyPr wrap="square" rtlCol="0" anchor="ctr"/>
          <a:lstStyle/>
          <a:p>
            <a:pPr algn="ctr" indent="0" marL="0">
              <a:buNone/>
            </a:pPr>
            <a:r>
              <a:rPr lang="en-US" sz="1800" b="1" dirty="0">
                <a:solidFill>
                  <a:srgbClr val="1E9E6A"/>
                </a:solidFill>
                <a:latin typeface="Courier New" pitchFamily="34" charset="0"/>
                <a:ea typeface="Courier New" pitchFamily="34" charset="-122"/>
                <a:cs typeface="Courier New" pitchFamily="34" charset="-120"/>
              </a:rPr>
              <a:t>06</a:t>
            </a:r>
            <a:endParaRPr lang="en-US" sz="1800" dirty="0"/>
          </a:p>
        </p:txBody>
      </p:sp>
      <p:sp>
        <p:nvSpPr>
          <p:cNvPr id="32" name="Text 30"/>
          <p:cNvSpPr/>
          <p:nvPr/>
        </p:nvSpPr>
        <p:spPr>
          <a:xfrm>
            <a:off x="1417320" y="5349240"/>
            <a:ext cx="2743200" cy="621792"/>
          </a:xfrm>
          <a:prstGeom prst="rect">
            <a:avLst/>
          </a:prstGeom>
          <a:noFill/>
          <a:ln/>
        </p:spPr>
        <p:txBody>
          <a:bodyPr wrap="square" rtlCol="0" anchor="ctr"/>
          <a:lstStyle/>
          <a:p>
            <a:pPr indent="0" marL="0">
              <a:buNone/>
            </a:pPr>
            <a:r>
              <a:rPr lang="en-US" sz="1450" b="1" dirty="0">
                <a:solidFill>
                  <a:srgbClr val="16213E"/>
                </a:solidFill>
                <a:latin typeface="Calibri" pitchFamily="34" charset="0"/>
                <a:ea typeface="Calibri" pitchFamily="34" charset="-122"/>
                <a:cs typeface="Calibri" pitchFamily="34" charset="-120"/>
              </a:rPr>
              <a:t>Enumeration + Ethics + Lab</a:t>
            </a:r>
            <a:endParaRPr lang="en-US" sz="1450" dirty="0"/>
          </a:p>
        </p:txBody>
      </p:sp>
      <p:sp>
        <p:nvSpPr>
          <p:cNvPr id="33" name="Text 31"/>
          <p:cNvSpPr/>
          <p:nvPr/>
        </p:nvSpPr>
        <p:spPr>
          <a:xfrm>
            <a:off x="4297680" y="5349240"/>
            <a:ext cx="6309360" cy="621792"/>
          </a:xfrm>
          <a:prstGeom prst="rect">
            <a:avLst/>
          </a:prstGeom>
          <a:noFill/>
          <a:ln/>
        </p:spPr>
        <p:txBody>
          <a:bodyPr wrap="square" rtlCol="0" anchor="ctr"/>
          <a:lstStyle/>
          <a:p>
            <a:pPr indent="0" marL="0">
              <a:buNone/>
            </a:pPr>
            <a:r>
              <a:rPr lang="en-US" sz="1200" dirty="0">
                <a:solidFill>
                  <a:srgbClr val="5C6B84"/>
                </a:solidFill>
                <a:latin typeface="Calibri" pitchFamily="34" charset="0"/>
                <a:ea typeface="Calibri" pitchFamily="34" charset="-122"/>
                <a:cs typeface="Calibri" pitchFamily="34" charset="-120"/>
              </a:rPr>
              <a:t>SMB/FTP/SNMP/DNS/SMTP enumeration, legal boundaries, guided lab</a:t>
            </a:r>
            <a:endParaRPr lang="en-US" sz="1200" dirty="0"/>
          </a:p>
        </p:txBody>
      </p:sp>
      <p:sp>
        <p:nvSpPr>
          <p:cNvPr id="34" name="Text 32"/>
          <p:cNvSpPr/>
          <p:nvPr/>
        </p:nvSpPr>
        <p:spPr>
          <a:xfrm>
            <a:off x="10680192" y="5349240"/>
            <a:ext cx="1005840" cy="621792"/>
          </a:xfrm>
          <a:prstGeom prst="rect">
            <a:avLst/>
          </a:prstGeom>
          <a:noFill/>
          <a:ln/>
        </p:spPr>
        <p:txBody>
          <a:bodyPr wrap="square" rtlCol="0" anchor="ctr"/>
          <a:lstStyle/>
          <a:p>
            <a:pPr algn="r" indent="0" marL="0">
              <a:buNone/>
            </a:pPr>
            <a:r>
              <a:rPr lang="en-US" sz="1250" b="1" dirty="0">
                <a:solidFill>
                  <a:srgbClr val="1E9E6A"/>
                </a:solidFill>
                <a:latin typeface="Calibri" pitchFamily="34" charset="0"/>
                <a:ea typeface="Calibri" pitchFamily="34" charset="-122"/>
                <a:cs typeface="Calibri" pitchFamily="34" charset="-120"/>
              </a:rPr>
              <a:t>25 min</a:t>
            </a:r>
            <a:endParaRPr lang="en-US" sz="1250" dirty="0"/>
          </a:p>
        </p:txBody>
      </p:sp>
      <p:sp>
        <p:nvSpPr>
          <p:cNvPr id="35" name="Text 33"/>
          <p:cNvSpPr/>
          <p:nvPr/>
        </p:nvSpPr>
        <p:spPr>
          <a:xfrm>
            <a:off x="11365992" y="6446520"/>
            <a:ext cx="457200" cy="274320"/>
          </a:xfrm>
          <a:prstGeom prst="rect">
            <a:avLst/>
          </a:prstGeom>
          <a:noFill/>
          <a:ln/>
        </p:spPr>
        <p:txBody>
          <a:bodyPr wrap="square" rtlCol="0" anchor="ctr"/>
          <a:lstStyle/>
          <a:p>
            <a:pPr algn="r" indent="0" marL="0">
              <a:buNone/>
            </a:pPr>
            <a:r>
              <a:rPr lang="en-US" sz="1000" dirty="0">
                <a:solidFill>
                  <a:srgbClr val="8892A6"/>
                </a:solidFill>
                <a:latin typeface="Courier New" pitchFamily="34" charset="0"/>
                <a:ea typeface="Courier New" pitchFamily="34" charset="-122"/>
                <a:cs typeface="Courier New"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rtlCol="0" anchor="ctr"/>
          <a:lstStyle/>
          <a:p>
            <a:pPr algn="l" indent="0" marL="0">
              <a:buNone/>
            </a:pPr>
            <a:r>
              <a:rPr lang="en-US" sz="1200" b="1" spc="200" kern="0" dirty="0">
                <a:solidFill>
                  <a:srgbClr val="1E9E6A"/>
                </a:solidFill>
                <a:latin typeface="Calibri" pitchFamily="34" charset="0"/>
                <a:ea typeface="Calibri" pitchFamily="34" charset="-122"/>
                <a:cs typeface="Calibri" pitchFamily="34" charset="-120"/>
              </a:rPr>
              <a:t>THE BIGGER PICTURE</a:t>
            </a:r>
            <a:endParaRPr lang="en-US" sz="1200" dirty="0"/>
          </a:p>
        </p:txBody>
      </p:sp>
      <p:sp>
        <p:nvSpPr>
          <p:cNvPr id="3" name="Text 1"/>
          <p:cNvSpPr/>
          <p:nvPr/>
        </p:nvSpPr>
        <p:spPr>
          <a:xfrm>
            <a:off x="502920" y="658368"/>
            <a:ext cx="10515600" cy="548640"/>
          </a:xfrm>
          <a:prstGeom prst="rect">
            <a:avLst/>
          </a:prstGeom>
          <a:noFill/>
          <a:ln/>
        </p:spPr>
        <p:txBody>
          <a:bodyPr wrap="square" rtlCol="0" anchor="ctr"/>
          <a:lstStyle/>
          <a:p>
            <a:pPr algn="l" indent="0" marL="0">
              <a:buNone/>
            </a:pPr>
            <a:r>
              <a:rPr lang="en-US" sz="3200" b="1" dirty="0">
                <a:solidFill>
                  <a:srgbClr val="16213E"/>
                </a:solidFill>
                <a:latin typeface="Calibri" pitchFamily="34" charset="0"/>
                <a:ea typeface="Calibri" pitchFamily="34" charset="-122"/>
                <a:cs typeface="Calibri" pitchFamily="34" charset="-120"/>
              </a:rPr>
              <a:t>Scanning &amp; Enumeration in the Pentest Lifecycle</a:t>
            </a:r>
            <a:endParaRPr lang="en-US" sz="3200" dirty="0"/>
          </a:p>
        </p:txBody>
      </p:sp>
      <p:sp>
        <p:nvSpPr>
          <p:cNvPr id="4" name="Text 2"/>
          <p:cNvSpPr/>
          <p:nvPr/>
        </p:nvSpPr>
        <p:spPr>
          <a:xfrm>
            <a:off x="502920" y="1161288"/>
            <a:ext cx="10515600" cy="365760"/>
          </a:xfrm>
          <a:prstGeom prst="rect">
            <a:avLst/>
          </a:prstGeom>
          <a:noFill/>
          <a:ln/>
        </p:spPr>
        <p:txBody>
          <a:bodyPr wrap="square" rtlCol="0" anchor="ctr"/>
          <a:lstStyle/>
          <a:p>
            <a:pPr algn="l" indent="0" marL="0">
              <a:buNone/>
            </a:pPr>
            <a:r>
              <a:rPr lang="en-US" sz="1400" dirty="0">
                <a:solidFill>
                  <a:srgbClr val="5C6B84"/>
                </a:solidFill>
                <a:latin typeface="Calibri" pitchFamily="34" charset="0"/>
                <a:ea typeface="Calibri" pitchFamily="34" charset="-122"/>
                <a:cs typeface="Calibri" pitchFamily="34" charset="-120"/>
              </a:rPr>
              <a:t>Everything after this stage depends on what we find here</a:t>
            </a:r>
            <a:endParaRPr lang="en-US" sz="1400" dirty="0"/>
          </a:p>
        </p:txBody>
      </p:sp>
      <p:sp>
        <p:nvSpPr>
          <p:cNvPr id="5" name="Shape 3"/>
          <p:cNvSpPr/>
          <p:nvPr/>
        </p:nvSpPr>
        <p:spPr>
          <a:xfrm>
            <a:off x="1874520" y="3566160"/>
            <a:ext cx="1081278" cy="0"/>
          </a:xfrm>
          <a:prstGeom prst="line">
            <a:avLst/>
          </a:prstGeom>
          <a:noFill/>
          <a:ln w="25400">
            <a:solidFill>
              <a:srgbClr val="DCE3EA"/>
            </a:solidFill>
            <a:prstDash val="solid"/>
          </a:ln>
        </p:spPr>
      </p:sp>
      <p:sp>
        <p:nvSpPr>
          <p:cNvPr id="6" name="Shape 4"/>
          <p:cNvSpPr/>
          <p:nvPr/>
        </p:nvSpPr>
        <p:spPr>
          <a:xfrm>
            <a:off x="502920" y="2880360"/>
            <a:ext cx="1371600" cy="1371600"/>
          </a:xfrm>
          <a:prstGeom prst="ellipse">
            <a:avLst/>
          </a:prstGeom>
          <a:solidFill>
            <a:srgbClr val="F2F5F7"/>
          </a:solidFill>
          <a:ln w="19050">
            <a:solidFill>
              <a:srgbClr val="DCE3EA"/>
            </a:solidFill>
            <a:prstDash val="solid"/>
          </a:ln>
        </p:spPr>
      </p:sp>
      <p:sp>
        <p:nvSpPr>
          <p:cNvPr id="7" name="Text 5"/>
          <p:cNvSpPr/>
          <p:nvPr/>
        </p:nvSpPr>
        <p:spPr>
          <a:xfrm>
            <a:off x="502920" y="2880360"/>
            <a:ext cx="1371600" cy="1371600"/>
          </a:xfrm>
          <a:prstGeom prst="rect">
            <a:avLst/>
          </a:prstGeom>
          <a:noFill/>
          <a:ln/>
        </p:spPr>
        <p:txBody>
          <a:bodyPr wrap="square" rtlCol="0" anchor="ctr"/>
          <a:lstStyle/>
          <a:p>
            <a:pPr algn="ctr" indent="0" marL="0">
              <a:buNone/>
            </a:pPr>
            <a:r>
              <a:rPr lang="en-US" sz="1300" b="1" dirty="0">
                <a:solidFill>
                  <a:srgbClr val="16213E"/>
                </a:solidFill>
                <a:latin typeface="Calibri" pitchFamily="34" charset="0"/>
                <a:ea typeface="Calibri" pitchFamily="34" charset="-122"/>
                <a:cs typeface="Calibri" pitchFamily="34" charset="-120"/>
              </a:rPr>
              <a:t>Reconnaissance</a:t>
            </a:r>
            <a:endParaRPr lang="en-US" sz="1300" dirty="0"/>
          </a:p>
        </p:txBody>
      </p:sp>
      <p:sp>
        <p:nvSpPr>
          <p:cNvPr id="8" name="Text 6"/>
          <p:cNvSpPr/>
          <p:nvPr/>
        </p:nvSpPr>
        <p:spPr>
          <a:xfrm>
            <a:off x="502920" y="2496312"/>
            <a:ext cx="1371600" cy="320040"/>
          </a:xfrm>
          <a:prstGeom prst="rect">
            <a:avLst/>
          </a:prstGeom>
          <a:noFill/>
          <a:ln/>
        </p:spPr>
        <p:txBody>
          <a:bodyPr wrap="square" rtlCol="0" anchor="ctr"/>
          <a:lstStyle/>
          <a:p>
            <a:pPr algn="ctr" indent="0" marL="0">
              <a:buNone/>
            </a:pPr>
            <a:r>
              <a:rPr lang="en-US" sz="1200" b="1" dirty="0">
                <a:solidFill>
                  <a:srgbClr val="9AA5B8"/>
                </a:solidFill>
                <a:latin typeface="Courier New" pitchFamily="34" charset="0"/>
                <a:ea typeface="Courier New" pitchFamily="34" charset="-122"/>
                <a:cs typeface="Courier New" pitchFamily="34" charset="-120"/>
              </a:rPr>
              <a:t>1</a:t>
            </a:r>
            <a:endParaRPr lang="en-US" sz="1200" dirty="0"/>
          </a:p>
        </p:txBody>
      </p:sp>
      <p:sp>
        <p:nvSpPr>
          <p:cNvPr id="9" name="Shape 7"/>
          <p:cNvSpPr/>
          <p:nvPr/>
        </p:nvSpPr>
        <p:spPr>
          <a:xfrm>
            <a:off x="4327398" y="3566160"/>
            <a:ext cx="1081278" cy="0"/>
          </a:xfrm>
          <a:prstGeom prst="line">
            <a:avLst/>
          </a:prstGeom>
          <a:noFill/>
          <a:ln w="25400">
            <a:solidFill>
              <a:srgbClr val="1E9E6A"/>
            </a:solidFill>
            <a:prstDash val="solid"/>
          </a:ln>
        </p:spPr>
      </p:sp>
      <p:sp>
        <p:nvSpPr>
          <p:cNvPr id="10" name="Shape 8"/>
          <p:cNvSpPr/>
          <p:nvPr/>
        </p:nvSpPr>
        <p:spPr>
          <a:xfrm>
            <a:off x="2955798" y="2880360"/>
            <a:ext cx="1371600" cy="1371600"/>
          </a:xfrm>
          <a:prstGeom prst="ellipse">
            <a:avLst/>
          </a:prstGeom>
          <a:solidFill>
            <a:srgbClr val="0B132B"/>
          </a:solidFill>
          <a:ln w="31750">
            <a:solidFill>
              <a:srgbClr val="2FD48C"/>
            </a:solidFill>
            <a:prstDash val="solid"/>
          </a:ln>
          <a:effectLst>
            <a:outerShdw sx="100000" sy="100000" kx="0" ky="0" algn="bl" rotWithShape="0" blurRad="127000" dist="38100" dir="5400000">
              <a:srgbClr val="000000">
                <a:alpha val="25000"/>
              </a:srgbClr>
            </a:outerShdw>
          </a:effectLst>
        </p:spPr>
      </p:sp>
      <p:sp>
        <p:nvSpPr>
          <p:cNvPr id="11" name="Text 9"/>
          <p:cNvSpPr/>
          <p:nvPr/>
        </p:nvSpPr>
        <p:spPr>
          <a:xfrm>
            <a:off x="2955798" y="2880360"/>
            <a:ext cx="1371600" cy="1371600"/>
          </a:xfrm>
          <a:prstGeom prst="rect">
            <a:avLst/>
          </a:prstGeom>
          <a:noFill/>
          <a:ln/>
        </p:spPr>
        <p:txBody>
          <a:bodyPr wrap="square" rtlCol="0" anchor="ctr"/>
          <a:lstStyle/>
          <a:p>
            <a:pPr algn="ctr" indent="0" marL="0">
              <a:buNone/>
            </a:pPr>
            <a:r>
              <a:rPr lang="en-US" sz="1300" b="1" dirty="0">
                <a:solidFill>
                  <a:srgbClr val="2FD48C"/>
                </a:solidFill>
                <a:latin typeface="Calibri" pitchFamily="34" charset="0"/>
                <a:ea typeface="Calibri" pitchFamily="34" charset="-122"/>
                <a:cs typeface="Calibri" pitchFamily="34" charset="-120"/>
              </a:rPr>
              <a:t>Scanning &amp;</a:t>
            </a:r>
            <a:endParaRPr lang="en-US" sz="1300" dirty="0"/>
          </a:p>
          <a:p>
            <a:pPr algn="ctr" indent="0" marL="0">
              <a:buNone/>
            </a:pPr>
            <a:r>
              <a:rPr lang="en-US" sz="1300" b="1" dirty="0">
                <a:solidFill>
                  <a:srgbClr val="2FD48C"/>
                </a:solidFill>
                <a:latin typeface="Calibri" pitchFamily="34" charset="0"/>
                <a:ea typeface="Calibri" pitchFamily="34" charset="-122"/>
                <a:cs typeface="Calibri" pitchFamily="34" charset="-120"/>
              </a:rPr>
              <a:t>Enumeration</a:t>
            </a:r>
            <a:endParaRPr lang="en-US" sz="1300" dirty="0"/>
          </a:p>
        </p:txBody>
      </p:sp>
      <p:sp>
        <p:nvSpPr>
          <p:cNvPr id="12" name="Text 10"/>
          <p:cNvSpPr/>
          <p:nvPr/>
        </p:nvSpPr>
        <p:spPr>
          <a:xfrm>
            <a:off x="2955798" y="2496312"/>
            <a:ext cx="1371600" cy="320040"/>
          </a:xfrm>
          <a:prstGeom prst="rect">
            <a:avLst/>
          </a:prstGeom>
          <a:noFill/>
          <a:ln/>
        </p:spPr>
        <p:txBody>
          <a:bodyPr wrap="square" rtlCol="0" anchor="ctr"/>
          <a:lstStyle/>
          <a:p>
            <a:pPr algn="ctr" indent="0" marL="0">
              <a:buNone/>
            </a:pPr>
            <a:r>
              <a:rPr lang="en-US" sz="1200" b="1" dirty="0">
                <a:solidFill>
                  <a:srgbClr val="1E9E6A"/>
                </a:solidFill>
                <a:latin typeface="Courier New" pitchFamily="34" charset="0"/>
                <a:ea typeface="Courier New" pitchFamily="34" charset="-122"/>
                <a:cs typeface="Courier New" pitchFamily="34" charset="-120"/>
              </a:rPr>
              <a:t>2</a:t>
            </a:r>
            <a:endParaRPr lang="en-US" sz="1200" dirty="0"/>
          </a:p>
        </p:txBody>
      </p:sp>
      <p:sp>
        <p:nvSpPr>
          <p:cNvPr id="13" name="Shape 11"/>
          <p:cNvSpPr/>
          <p:nvPr/>
        </p:nvSpPr>
        <p:spPr>
          <a:xfrm>
            <a:off x="6780276" y="3566160"/>
            <a:ext cx="1081278" cy="0"/>
          </a:xfrm>
          <a:prstGeom prst="line">
            <a:avLst/>
          </a:prstGeom>
          <a:noFill/>
          <a:ln w="25400">
            <a:solidFill>
              <a:srgbClr val="DCE3EA"/>
            </a:solidFill>
            <a:prstDash val="solid"/>
          </a:ln>
        </p:spPr>
      </p:sp>
      <p:sp>
        <p:nvSpPr>
          <p:cNvPr id="14" name="Shape 12"/>
          <p:cNvSpPr/>
          <p:nvPr/>
        </p:nvSpPr>
        <p:spPr>
          <a:xfrm>
            <a:off x="5408676" y="2880360"/>
            <a:ext cx="1371600" cy="1371600"/>
          </a:xfrm>
          <a:prstGeom prst="ellipse">
            <a:avLst/>
          </a:prstGeom>
          <a:solidFill>
            <a:srgbClr val="F2F5F7"/>
          </a:solidFill>
          <a:ln w="19050">
            <a:solidFill>
              <a:srgbClr val="DCE3EA"/>
            </a:solidFill>
            <a:prstDash val="solid"/>
          </a:ln>
        </p:spPr>
      </p:sp>
      <p:sp>
        <p:nvSpPr>
          <p:cNvPr id="15" name="Text 13"/>
          <p:cNvSpPr/>
          <p:nvPr/>
        </p:nvSpPr>
        <p:spPr>
          <a:xfrm>
            <a:off x="5408676" y="2880360"/>
            <a:ext cx="1371600" cy="1371600"/>
          </a:xfrm>
          <a:prstGeom prst="rect">
            <a:avLst/>
          </a:prstGeom>
          <a:noFill/>
          <a:ln/>
        </p:spPr>
        <p:txBody>
          <a:bodyPr wrap="square" rtlCol="0" anchor="ctr"/>
          <a:lstStyle/>
          <a:p>
            <a:pPr algn="ctr" indent="0" marL="0">
              <a:buNone/>
            </a:pPr>
            <a:r>
              <a:rPr lang="en-US" sz="1300" b="1" dirty="0">
                <a:solidFill>
                  <a:srgbClr val="16213E"/>
                </a:solidFill>
                <a:latin typeface="Calibri" pitchFamily="34" charset="0"/>
                <a:ea typeface="Calibri" pitchFamily="34" charset="-122"/>
                <a:cs typeface="Calibri" pitchFamily="34" charset="-120"/>
              </a:rPr>
              <a:t>Gaining</a:t>
            </a:r>
            <a:endParaRPr lang="en-US" sz="1300" dirty="0"/>
          </a:p>
          <a:p>
            <a:pPr algn="ctr" indent="0" marL="0">
              <a:buNone/>
            </a:pPr>
            <a:r>
              <a:rPr lang="en-US" sz="1300" b="1" dirty="0">
                <a:solidFill>
                  <a:srgbClr val="16213E"/>
                </a:solidFill>
                <a:latin typeface="Calibri" pitchFamily="34" charset="0"/>
                <a:ea typeface="Calibri" pitchFamily="34" charset="-122"/>
                <a:cs typeface="Calibri" pitchFamily="34" charset="-120"/>
              </a:rPr>
              <a:t>Access</a:t>
            </a:r>
            <a:endParaRPr lang="en-US" sz="1300" dirty="0"/>
          </a:p>
        </p:txBody>
      </p:sp>
      <p:sp>
        <p:nvSpPr>
          <p:cNvPr id="16" name="Text 14"/>
          <p:cNvSpPr/>
          <p:nvPr/>
        </p:nvSpPr>
        <p:spPr>
          <a:xfrm>
            <a:off x="5408676" y="2496312"/>
            <a:ext cx="1371600" cy="320040"/>
          </a:xfrm>
          <a:prstGeom prst="rect">
            <a:avLst/>
          </a:prstGeom>
          <a:noFill/>
          <a:ln/>
        </p:spPr>
        <p:txBody>
          <a:bodyPr wrap="square" rtlCol="0" anchor="ctr"/>
          <a:lstStyle/>
          <a:p>
            <a:pPr algn="ctr" indent="0" marL="0">
              <a:buNone/>
            </a:pPr>
            <a:r>
              <a:rPr lang="en-US" sz="1200" b="1" dirty="0">
                <a:solidFill>
                  <a:srgbClr val="9AA5B8"/>
                </a:solidFill>
                <a:latin typeface="Courier New" pitchFamily="34" charset="0"/>
                <a:ea typeface="Courier New" pitchFamily="34" charset="-122"/>
                <a:cs typeface="Courier New" pitchFamily="34" charset="-120"/>
              </a:rPr>
              <a:t>3</a:t>
            </a:r>
            <a:endParaRPr lang="en-US" sz="1200" dirty="0"/>
          </a:p>
        </p:txBody>
      </p:sp>
      <p:sp>
        <p:nvSpPr>
          <p:cNvPr id="17" name="Shape 15"/>
          <p:cNvSpPr/>
          <p:nvPr/>
        </p:nvSpPr>
        <p:spPr>
          <a:xfrm>
            <a:off x="9233154" y="3566160"/>
            <a:ext cx="1081278" cy="0"/>
          </a:xfrm>
          <a:prstGeom prst="line">
            <a:avLst/>
          </a:prstGeom>
          <a:noFill/>
          <a:ln w="25400">
            <a:solidFill>
              <a:srgbClr val="DCE3EA"/>
            </a:solidFill>
            <a:prstDash val="solid"/>
          </a:ln>
        </p:spPr>
      </p:sp>
      <p:sp>
        <p:nvSpPr>
          <p:cNvPr id="18" name="Shape 16"/>
          <p:cNvSpPr/>
          <p:nvPr/>
        </p:nvSpPr>
        <p:spPr>
          <a:xfrm>
            <a:off x="7861554" y="2880360"/>
            <a:ext cx="1371600" cy="1371600"/>
          </a:xfrm>
          <a:prstGeom prst="ellipse">
            <a:avLst/>
          </a:prstGeom>
          <a:solidFill>
            <a:srgbClr val="F2F5F7"/>
          </a:solidFill>
          <a:ln w="19050">
            <a:solidFill>
              <a:srgbClr val="DCE3EA"/>
            </a:solidFill>
            <a:prstDash val="solid"/>
          </a:ln>
        </p:spPr>
      </p:sp>
      <p:sp>
        <p:nvSpPr>
          <p:cNvPr id="19" name="Text 17"/>
          <p:cNvSpPr/>
          <p:nvPr/>
        </p:nvSpPr>
        <p:spPr>
          <a:xfrm>
            <a:off x="7861554" y="2880360"/>
            <a:ext cx="1371600" cy="1371600"/>
          </a:xfrm>
          <a:prstGeom prst="rect">
            <a:avLst/>
          </a:prstGeom>
          <a:noFill/>
          <a:ln/>
        </p:spPr>
        <p:txBody>
          <a:bodyPr wrap="square" rtlCol="0" anchor="ctr"/>
          <a:lstStyle/>
          <a:p>
            <a:pPr algn="ctr" indent="0" marL="0">
              <a:buNone/>
            </a:pPr>
            <a:r>
              <a:rPr lang="en-US" sz="1300" b="1" dirty="0">
                <a:solidFill>
                  <a:srgbClr val="16213E"/>
                </a:solidFill>
                <a:latin typeface="Calibri" pitchFamily="34" charset="0"/>
                <a:ea typeface="Calibri" pitchFamily="34" charset="-122"/>
                <a:cs typeface="Calibri" pitchFamily="34" charset="-120"/>
              </a:rPr>
              <a:t>Maintaining</a:t>
            </a:r>
            <a:endParaRPr lang="en-US" sz="1300" dirty="0"/>
          </a:p>
          <a:p>
            <a:pPr algn="ctr" indent="0" marL="0">
              <a:buNone/>
            </a:pPr>
            <a:r>
              <a:rPr lang="en-US" sz="1300" b="1" dirty="0">
                <a:solidFill>
                  <a:srgbClr val="16213E"/>
                </a:solidFill>
                <a:latin typeface="Calibri" pitchFamily="34" charset="0"/>
                <a:ea typeface="Calibri" pitchFamily="34" charset="-122"/>
                <a:cs typeface="Calibri" pitchFamily="34" charset="-120"/>
              </a:rPr>
              <a:t>Access</a:t>
            </a:r>
            <a:endParaRPr lang="en-US" sz="1300" dirty="0"/>
          </a:p>
        </p:txBody>
      </p:sp>
      <p:sp>
        <p:nvSpPr>
          <p:cNvPr id="20" name="Text 18"/>
          <p:cNvSpPr/>
          <p:nvPr/>
        </p:nvSpPr>
        <p:spPr>
          <a:xfrm>
            <a:off x="7861554" y="2496312"/>
            <a:ext cx="1371600" cy="320040"/>
          </a:xfrm>
          <a:prstGeom prst="rect">
            <a:avLst/>
          </a:prstGeom>
          <a:noFill/>
          <a:ln/>
        </p:spPr>
        <p:txBody>
          <a:bodyPr wrap="square" rtlCol="0" anchor="ctr"/>
          <a:lstStyle/>
          <a:p>
            <a:pPr algn="ctr" indent="0" marL="0">
              <a:buNone/>
            </a:pPr>
            <a:r>
              <a:rPr lang="en-US" sz="1200" b="1" dirty="0">
                <a:solidFill>
                  <a:srgbClr val="9AA5B8"/>
                </a:solidFill>
                <a:latin typeface="Courier New" pitchFamily="34" charset="0"/>
                <a:ea typeface="Courier New" pitchFamily="34" charset="-122"/>
                <a:cs typeface="Courier New" pitchFamily="34" charset="-120"/>
              </a:rPr>
              <a:t>4</a:t>
            </a:r>
            <a:endParaRPr lang="en-US" sz="1200" dirty="0"/>
          </a:p>
        </p:txBody>
      </p:sp>
      <p:sp>
        <p:nvSpPr>
          <p:cNvPr id="21" name="Shape 19"/>
          <p:cNvSpPr/>
          <p:nvPr/>
        </p:nvSpPr>
        <p:spPr>
          <a:xfrm>
            <a:off x="10314432" y="2880360"/>
            <a:ext cx="1371600" cy="1371600"/>
          </a:xfrm>
          <a:prstGeom prst="ellipse">
            <a:avLst/>
          </a:prstGeom>
          <a:solidFill>
            <a:srgbClr val="F2F5F7"/>
          </a:solidFill>
          <a:ln w="19050">
            <a:solidFill>
              <a:srgbClr val="DCE3EA"/>
            </a:solidFill>
            <a:prstDash val="solid"/>
          </a:ln>
        </p:spPr>
      </p:sp>
      <p:sp>
        <p:nvSpPr>
          <p:cNvPr id="22" name="Text 20"/>
          <p:cNvSpPr/>
          <p:nvPr/>
        </p:nvSpPr>
        <p:spPr>
          <a:xfrm>
            <a:off x="10314432" y="2880360"/>
            <a:ext cx="1371600" cy="1371600"/>
          </a:xfrm>
          <a:prstGeom prst="rect">
            <a:avLst/>
          </a:prstGeom>
          <a:noFill/>
          <a:ln/>
        </p:spPr>
        <p:txBody>
          <a:bodyPr wrap="square" rtlCol="0" anchor="ctr"/>
          <a:lstStyle/>
          <a:p>
            <a:pPr algn="ctr" indent="0" marL="0">
              <a:buNone/>
            </a:pPr>
            <a:r>
              <a:rPr lang="en-US" sz="1300" b="1" dirty="0">
                <a:solidFill>
                  <a:srgbClr val="16213E"/>
                </a:solidFill>
                <a:latin typeface="Calibri" pitchFamily="34" charset="0"/>
                <a:ea typeface="Calibri" pitchFamily="34" charset="-122"/>
                <a:cs typeface="Calibri" pitchFamily="34" charset="-120"/>
              </a:rPr>
              <a:t>Covering Tracks</a:t>
            </a:r>
            <a:endParaRPr lang="en-US" sz="1300" dirty="0"/>
          </a:p>
          <a:p>
            <a:pPr algn="ctr" indent="0" marL="0">
              <a:buNone/>
            </a:pPr>
            <a:r>
              <a:rPr lang="en-US" sz="1300" b="1" dirty="0">
                <a:solidFill>
                  <a:srgbClr val="16213E"/>
                </a:solidFill>
                <a:latin typeface="Calibri" pitchFamily="34" charset="0"/>
                <a:ea typeface="Calibri" pitchFamily="34" charset="-122"/>
                <a:cs typeface="Calibri" pitchFamily="34" charset="-120"/>
              </a:rPr>
              <a:t>&amp; Reporting</a:t>
            </a:r>
            <a:endParaRPr lang="en-US" sz="1300" dirty="0"/>
          </a:p>
        </p:txBody>
      </p:sp>
      <p:sp>
        <p:nvSpPr>
          <p:cNvPr id="23" name="Text 21"/>
          <p:cNvSpPr/>
          <p:nvPr/>
        </p:nvSpPr>
        <p:spPr>
          <a:xfrm>
            <a:off x="10314432" y="2496312"/>
            <a:ext cx="1371600" cy="320040"/>
          </a:xfrm>
          <a:prstGeom prst="rect">
            <a:avLst/>
          </a:prstGeom>
          <a:noFill/>
          <a:ln/>
        </p:spPr>
        <p:txBody>
          <a:bodyPr wrap="square" rtlCol="0" anchor="ctr"/>
          <a:lstStyle/>
          <a:p>
            <a:pPr algn="ctr" indent="0" marL="0">
              <a:buNone/>
            </a:pPr>
            <a:r>
              <a:rPr lang="en-US" sz="1200" b="1" dirty="0">
                <a:solidFill>
                  <a:srgbClr val="9AA5B8"/>
                </a:solidFill>
                <a:latin typeface="Courier New" pitchFamily="34" charset="0"/>
                <a:ea typeface="Courier New" pitchFamily="34" charset="-122"/>
                <a:cs typeface="Courier New" pitchFamily="34" charset="-120"/>
              </a:rPr>
              <a:t>5</a:t>
            </a:r>
            <a:endParaRPr lang="en-US" sz="1200" dirty="0"/>
          </a:p>
        </p:txBody>
      </p:sp>
      <p:sp>
        <p:nvSpPr>
          <p:cNvPr id="24" name="Shape 22"/>
          <p:cNvSpPr/>
          <p:nvPr/>
        </p:nvSpPr>
        <p:spPr>
          <a:xfrm>
            <a:off x="502920" y="4846320"/>
            <a:ext cx="11183112" cy="1234440"/>
          </a:xfrm>
          <a:prstGeom prst="roundRect">
            <a:avLst>
              <a:gd name="adj" fmla="val 5926"/>
            </a:avLst>
          </a:prstGeom>
          <a:solidFill>
            <a:srgbClr val="EAF7F1"/>
          </a:solidFill>
          <a:ln/>
        </p:spPr>
      </p:sp>
      <p:sp>
        <p:nvSpPr>
          <p:cNvPr id="25" name="Text 23"/>
          <p:cNvSpPr/>
          <p:nvPr/>
        </p:nvSpPr>
        <p:spPr>
          <a:xfrm>
            <a:off x="731520" y="4983480"/>
            <a:ext cx="10725912" cy="1005840"/>
          </a:xfrm>
          <a:prstGeom prst="rect">
            <a:avLst/>
          </a:prstGeom>
          <a:noFill/>
          <a:ln/>
        </p:spPr>
        <p:txBody>
          <a:bodyPr wrap="square" rtlCol="0" anchor="t"/>
          <a:lstStyle/>
          <a:p>
            <a:pPr indent="0" marL="0">
              <a:lnSpc>
                <a:spcPct val="125000"/>
              </a:lnSpc>
              <a:buNone/>
            </a:pPr>
            <a:r>
              <a:rPr lang="en-US" sz="1250" b="1" dirty="0">
                <a:solidFill>
                  <a:srgbClr val="1E9E6A"/>
                </a:solidFill>
                <a:latin typeface="Calibri" pitchFamily="34" charset="0"/>
                <a:ea typeface="Calibri" pitchFamily="34" charset="-122"/>
                <a:cs typeface="Calibri" pitchFamily="34" charset="-120"/>
              </a:rPr>
              <a:t>Why it matters:  </a:t>
            </a:r>
            <a:pPr indent="0" marL="0">
              <a:lnSpc>
                <a:spcPct val="125000"/>
              </a:lnSpc>
              <a:buNone/>
            </a:pPr>
            <a:r>
              <a:rPr lang="en-US" sz="1250" dirty="0">
                <a:solidFill>
                  <a:srgbClr val="16213E"/>
                </a:solidFill>
                <a:latin typeface="Calibri" pitchFamily="34" charset="0"/>
                <a:ea typeface="Calibri" pitchFamily="34" charset="-122"/>
                <a:cs typeface="Calibri" pitchFamily="34" charset="-120"/>
              </a:rPr>
              <a:t>Recon tells us what exists on the internet. Scanning &amp; Enumeration tells us exactly what's listening, what version it's running, and how it's configured. Every exploit we select in the next phase is chosen based on the data gathered right here — bad enumeration means wasted exploits, missed footholds, or worse: getting caught by the target's monitoring.</a:t>
            </a:r>
            <a:endParaRPr lang="en-US" sz="1250" dirty="0"/>
          </a:p>
        </p:txBody>
      </p:sp>
      <p:sp>
        <p:nvSpPr>
          <p:cNvPr id="26" name="Text 24"/>
          <p:cNvSpPr/>
          <p:nvPr/>
        </p:nvSpPr>
        <p:spPr>
          <a:xfrm>
            <a:off x="11365992" y="6446520"/>
            <a:ext cx="457200" cy="274320"/>
          </a:xfrm>
          <a:prstGeom prst="rect">
            <a:avLst/>
          </a:prstGeom>
          <a:noFill/>
          <a:ln/>
        </p:spPr>
        <p:txBody>
          <a:bodyPr wrap="square" rtlCol="0" anchor="ctr"/>
          <a:lstStyle/>
          <a:p>
            <a:pPr algn="r" indent="0" marL="0">
              <a:buNone/>
            </a:pPr>
            <a:r>
              <a:rPr lang="en-US" sz="1000" dirty="0">
                <a:solidFill>
                  <a:srgbClr val="8892A6"/>
                </a:solidFill>
                <a:latin typeface="Courier New" pitchFamily="34" charset="0"/>
                <a:ea typeface="Courier New" pitchFamily="34" charset="-122"/>
                <a:cs typeface="Courier New"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rtlCol="0" anchor="ctr"/>
          <a:lstStyle/>
          <a:p>
            <a:pPr algn="l" indent="0" marL="0">
              <a:buNone/>
            </a:pPr>
            <a:r>
              <a:rPr lang="en-US" sz="1200" b="1" spc="200" kern="0" dirty="0">
                <a:solidFill>
                  <a:srgbClr val="1E9E6A"/>
                </a:solidFill>
                <a:latin typeface="Calibri" pitchFamily="34" charset="0"/>
                <a:ea typeface="Calibri" pitchFamily="34" charset="-122"/>
                <a:cs typeface="Calibri" pitchFamily="34" charset="-120"/>
              </a:rPr>
              <a:t>DEFINITIONS</a:t>
            </a:r>
            <a:endParaRPr lang="en-US" sz="1200" dirty="0"/>
          </a:p>
        </p:txBody>
      </p:sp>
      <p:sp>
        <p:nvSpPr>
          <p:cNvPr id="3" name="Text 1"/>
          <p:cNvSpPr/>
          <p:nvPr/>
        </p:nvSpPr>
        <p:spPr>
          <a:xfrm>
            <a:off x="502920" y="658368"/>
            <a:ext cx="10515600" cy="548640"/>
          </a:xfrm>
          <a:prstGeom prst="rect">
            <a:avLst/>
          </a:prstGeom>
          <a:noFill/>
          <a:ln/>
        </p:spPr>
        <p:txBody>
          <a:bodyPr wrap="square" rtlCol="0" anchor="ctr"/>
          <a:lstStyle/>
          <a:p>
            <a:pPr algn="l" indent="0" marL="0">
              <a:buNone/>
            </a:pPr>
            <a:r>
              <a:rPr lang="en-US" sz="3200" b="1" dirty="0">
                <a:solidFill>
                  <a:srgbClr val="16213E"/>
                </a:solidFill>
                <a:latin typeface="Calibri" pitchFamily="34" charset="0"/>
                <a:ea typeface="Calibri" pitchFamily="34" charset="-122"/>
                <a:cs typeface="Calibri" pitchFamily="34" charset="-120"/>
              </a:rPr>
              <a:t>Scanning vs. Enumeration</a:t>
            </a:r>
            <a:endParaRPr lang="en-US" sz="3200" dirty="0"/>
          </a:p>
        </p:txBody>
      </p:sp>
      <p:sp>
        <p:nvSpPr>
          <p:cNvPr id="4" name="Text 2"/>
          <p:cNvSpPr/>
          <p:nvPr/>
        </p:nvSpPr>
        <p:spPr>
          <a:xfrm>
            <a:off x="502920" y="1161288"/>
            <a:ext cx="10515600" cy="365760"/>
          </a:xfrm>
          <a:prstGeom prst="rect">
            <a:avLst/>
          </a:prstGeom>
          <a:noFill/>
          <a:ln/>
        </p:spPr>
        <p:txBody>
          <a:bodyPr wrap="square" rtlCol="0" anchor="ctr"/>
          <a:lstStyle/>
          <a:p>
            <a:pPr algn="l" indent="0" marL="0">
              <a:buNone/>
            </a:pPr>
            <a:r>
              <a:rPr lang="en-US" sz="1400" dirty="0">
                <a:solidFill>
                  <a:srgbClr val="5C6B84"/>
                </a:solidFill>
                <a:latin typeface="Calibri" pitchFamily="34" charset="0"/>
                <a:ea typeface="Calibri" pitchFamily="34" charset="-122"/>
                <a:cs typeface="Calibri" pitchFamily="34" charset="-120"/>
              </a:rPr>
              <a:t>Two related but distinct steps people often blur together</a:t>
            </a:r>
            <a:endParaRPr lang="en-US" sz="1400" dirty="0"/>
          </a:p>
        </p:txBody>
      </p:sp>
      <p:sp>
        <p:nvSpPr>
          <p:cNvPr id="5" name="Shape 3"/>
          <p:cNvSpPr/>
          <p:nvPr/>
        </p:nvSpPr>
        <p:spPr>
          <a:xfrm>
            <a:off x="502920" y="1737360"/>
            <a:ext cx="5408676" cy="4343400"/>
          </a:xfrm>
          <a:prstGeom prst="roundRect">
            <a:avLst>
              <a:gd name="adj" fmla="val 2105"/>
            </a:avLst>
          </a:prstGeom>
          <a:solidFill>
            <a:srgbClr val="EAF7F1"/>
          </a:solidFill>
          <a:ln/>
        </p:spPr>
      </p:sp>
      <p:sp>
        <p:nvSpPr>
          <p:cNvPr id="6" name="Text 4"/>
          <p:cNvSpPr/>
          <p:nvPr/>
        </p:nvSpPr>
        <p:spPr>
          <a:xfrm>
            <a:off x="777240" y="1920240"/>
            <a:ext cx="4860036" cy="457200"/>
          </a:xfrm>
          <a:prstGeom prst="rect">
            <a:avLst/>
          </a:prstGeom>
          <a:noFill/>
          <a:ln/>
        </p:spPr>
        <p:txBody>
          <a:bodyPr wrap="square" rtlCol="0" anchor="ctr"/>
          <a:lstStyle/>
          <a:p>
            <a:pPr indent="0" marL="0">
              <a:buNone/>
            </a:pPr>
            <a:r>
              <a:rPr lang="en-US" sz="2000" b="1" dirty="0">
                <a:solidFill>
                  <a:srgbClr val="1E9E6A"/>
                </a:solidFill>
                <a:latin typeface="Calibri" pitchFamily="34" charset="0"/>
                <a:ea typeface="Calibri" pitchFamily="34" charset="-122"/>
                <a:cs typeface="Calibri" pitchFamily="34" charset="-120"/>
              </a:rPr>
              <a:t>Scanning</a:t>
            </a:r>
            <a:endParaRPr lang="en-US" sz="2000" dirty="0"/>
          </a:p>
        </p:txBody>
      </p:sp>
      <p:sp>
        <p:nvSpPr>
          <p:cNvPr id="7" name="Text 5"/>
          <p:cNvSpPr/>
          <p:nvPr/>
        </p:nvSpPr>
        <p:spPr>
          <a:xfrm>
            <a:off x="777240" y="2514600"/>
            <a:ext cx="4860036" cy="256032"/>
          </a:xfrm>
          <a:prstGeom prst="rect">
            <a:avLst/>
          </a:prstGeom>
          <a:noFill/>
          <a:ln/>
        </p:spPr>
        <p:txBody>
          <a:bodyPr wrap="square" rtlCol="0" anchor="ctr"/>
          <a:lstStyle/>
          <a:p>
            <a:pPr indent="0" marL="0">
              <a:buNone/>
            </a:pPr>
            <a:r>
              <a:rPr lang="en-US" sz="1050" b="1" spc="100" kern="0" dirty="0">
                <a:solidFill>
                  <a:srgbClr val="5C6B84"/>
                </a:solidFill>
                <a:latin typeface="Calibri" pitchFamily="34" charset="0"/>
                <a:ea typeface="Calibri" pitchFamily="34" charset="-122"/>
                <a:cs typeface="Calibri" pitchFamily="34" charset="-120"/>
              </a:rPr>
              <a:t>GOAL</a:t>
            </a:r>
            <a:endParaRPr lang="en-US" sz="1050" dirty="0"/>
          </a:p>
        </p:txBody>
      </p:sp>
      <p:sp>
        <p:nvSpPr>
          <p:cNvPr id="8" name="Text 6"/>
          <p:cNvSpPr/>
          <p:nvPr/>
        </p:nvSpPr>
        <p:spPr>
          <a:xfrm>
            <a:off x="777240" y="2770632"/>
            <a:ext cx="4860036" cy="502920"/>
          </a:xfrm>
          <a:prstGeom prst="rect">
            <a:avLst/>
          </a:prstGeom>
          <a:noFill/>
          <a:ln/>
        </p:spPr>
        <p:txBody>
          <a:bodyPr wrap="square" rtlCol="0" anchor="ctr"/>
          <a:lstStyle/>
          <a:p>
            <a:pPr indent="0" marL="0">
              <a:lnSpc>
                <a:spcPct val="110000"/>
              </a:lnSpc>
              <a:buNone/>
            </a:pPr>
            <a:r>
              <a:rPr lang="en-US" sz="1300" dirty="0">
                <a:solidFill>
                  <a:srgbClr val="16213E"/>
                </a:solidFill>
                <a:latin typeface="Calibri" pitchFamily="34" charset="0"/>
                <a:ea typeface="Calibri" pitchFamily="34" charset="-122"/>
                <a:cs typeface="Calibri" pitchFamily="34" charset="-120"/>
              </a:rPr>
              <a:t>Discover live hosts, open ports &amp; running services</a:t>
            </a:r>
            <a:endParaRPr lang="en-US" sz="1300" dirty="0"/>
          </a:p>
        </p:txBody>
      </p:sp>
      <p:sp>
        <p:nvSpPr>
          <p:cNvPr id="9" name="Text 7"/>
          <p:cNvSpPr/>
          <p:nvPr/>
        </p:nvSpPr>
        <p:spPr>
          <a:xfrm>
            <a:off x="777240" y="3300984"/>
            <a:ext cx="4860036" cy="256032"/>
          </a:xfrm>
          <a:prstGeom prst="rect">
            <a:avLst/>
          </a:prstGeom>
          <a:noFill/>
          <a:ln/>
        </p:spPr>
        <p:txBody>
          <a:bodyPr wrap="square" rtlCol="0" anchor="ctr"/>
          <a:lstStyle/>
          <a:p>
            <a:pPr indent="0" marL="0">
              <a:buNone/>
            </a:pPr>
            <a:r>
              <a:rPr lang="en-US" sz="1050" b="1" spc="100" kern="0" dirty="0">
                <a:solidFill>
                  <a:srgbClr val="5C6B84"/>
                </a:solidFill>
                <a:latin typeface="Calibri" pitchFamily="34" charset="0"/>
                <a:ea typeface="Calibri" pitchFamily="34" charset="-122"/>
                <a:cs typeface="Calibri" pitchFamily="34" charset="-120"/>
              </a:rPr>
              <a:t>QUESTION ANSWERED</a:t>
            </a:r>
            <a:endParaRPr lang="en-US" sz="1050" dirty="0"/>
          </a:p>
        </p:txBody>
      </p:sp>
      <p:sp>
        <p:nvSpPr>
          <p:cNvPr id="10" name="Text 8"/>
          <p:cNvSpPr/>
          <p:nvPr/>
        </p:nvSpPr>
        <p:spPr>
          <a:xfrm>
            <a:off x="777240" y="3557016"/>
            <a:ext cx="4860036" cy="502920"/>
          </a:xfrm>
          <a:prstGeom prst="rect">
            <a:avLst/>
          </a:prstGeom>
          <a:noFill/>
          <a:ln/>
        </p:spPr>
        <p:txBody>
          <a:bodyPr wrap="square" rtlCol="0" anchor="ctr"/>
          <a:lstStyle/>
          <a:p>
            <a:pPr indent="0" marL="0">
              <a:lnSpc>
                <a:spcPct val="110000"/>
              </a:lnSpc>
              <a:buNone/>
            </a:pPr>
            <a:r>
              <a:rPr lang="en-US" sz="1300" dirty="0">
                <a:solidFill>
                  <a:srgbClr val="16213E"/>
                </a:solidFill>
                <a:latin typeface="Calibri" pitchFamily="34" charset="0"/>
                <a:ea typeface="Calibri" pitchFamily="34" charset="-122"/>
                <a:cs typeface="Calibri" pitchFamily="34" charset="-120"/>
              </a:rPr>
              <a:t>“What is out there and what is listening?”</a:t>
            </a:r>
            <a:endParaRPr lang="en-US" sz="1300" dirty="0"/>
          </a:p>
        </p:txBody>
      </p:sp>
      <p:sp>
        <p:nvSpPr>
          <p:cNvPr id="11" name="Text 9"/>
          <p:cNvSpPr/>
          <p:nvPr/>
        </p:nvSpPr>
        <p:spPr>
          <a:xfrm>
            <a:off x="777240" y="4087368"/>
            <a:ext cx="4860036" cy="256032"/>
          </a:xfrm>
          <a:prstGeom prst="rect">
            <a:avLst/>
          </a:prstGeom>
          <a:noFill/>
          <a:ln/>
        </p:spPr>
        <p:txBody>
          <a:bodyPr wrap="square" rtlCol="0" anchor="ctr"/>
          <a:lstStyle/>
          <a:p>
            <a:pPr indent="0" marL="0">
              <a:buNone/>
            </a:pPr>
            <a:r>
              <a:rPr lang="en-US" sz="1050" b="1" spc="100" kern="0" dirty="0">
                <a:solidFill>
                  <a:srgbClr val="5C6B84"/>
                </a:solidFill>
                <a:latin typeface="Calibri" pitchFamily="34" charset="0"/>
                <a:ea typeface="Calibri" pitchFamily="34" charset="-122"/>
                <a:cs typeface="Calibri" pitchFamily="34" charset="-120"/>
              </a:rPr>
              <a:t>TYPICAL TOOLS</a:t>
            </a:r>
            <a:endParaRPr lang="en-US" sz="1050" dirty="0"/>
          </a:p>
        </p:txBody>
      </p:sp>
      <p:sp>
        <p:nvSpPr>
          <p:cNvPr id="12" name="Text 10"/>
          <p:cNvSpPr/>
          <p:nvPr/>
        </p:nvSpPr>
        <p:spPr>
          <a:xfrm>
            <a:off x="777240" y="4343400"/>
            <a:ext cx="4860036" cy="502920"/>
          </a:xfrm>
          <a:prstGeom prst="rect">
            <a:avLst/>
          </a:prstGeom>
          <a:noFill/>
          <a:ln/>
        </p:spPr>
        <p:txBody>
          <a:bodyPr wrap="square" rtlCol="0" anchor="ctr"/>
          <a:lstStyle/>
          <a:p>
            <a:pPr indent="0" marL="0">
              <a:lnSpc>
                <a:spcPct val="110000"/>
              </a:lnSpc>
              <a:buNone/>
            </a:pPr>
            <a:r>
              <a:rPr lang="en-US" sz="1300" dirty="0">
                <a:solidFill>
                  <a:srgbClr val="16213E"/>
                </a:solidFill>
                <a:latin typeface="Calibri" pitchFamily="34" charset="0"/>
                <a:ea typeface="Calibri" pitchFamily="34" charset="-122"/>
                <a:cs typeface="Calibri" pitchFamily="34" charset="-120"/>
              </a:rPr>
              <a:t>Nmap, Masscan, Angry IP Scanner</a:t>
            </a:r>
            <a:endParaRPr lang="en-US" sz="1300" dirty="0"/>
          </a:p>
        </p:txBody>
      </p:sp>
      <p:sp>
        <p:nvSpPr>
          <p:cNvPr id="13" name="Text 11"/>
          <p:cNvSpPr/>
          <p:nvPr/>
        </p:nvSpPr>
        <p:spPr>
          <a:xfrm>
            <a:off x="777240" y="4873752"/>
            <a:ext cx="4860036" cy="256032"/>
          </a:xfrm>
          <a:prstGeom prst="rect">
            <a:avLst/>
          </a:prstGeom>
          <a:noFill/>
          <a:ln/>
        </p:spPr>
        <p:txBody>
          <a:bodyPr wrap="square" rtlCol="0" anchor="ctr"/>
          <a:lstStyle/>
          <a:p>
            <a:pPr indent="0" marL="0">
              <a:buNone/>
            </a:pPr>
            <a:r>
              <a:rPr lang="en-US" sz="1050" b="1" spc="100" kern="0" dirty="0">
                <a:solidFill>
                  <a:srgbClr val="5C6B84"/>
                </a:solidFill>
                <a:latin typeface="Calibri" pitchFamily="34" charset="0"/>
                <a:ea typeface="Calibri" pitchFamily="34" charset="-122"/>
                <a:cs typeface="Calibri" pitchFamily="34" charset="-120"/>
              </a:rPr>
              <a:t>OUTPUT</a:t>
            </a:r>
            <a:endParaRPr lang="en-US" sz="1050" dirty="0"/>
          </a:p>
        </p:txBody>
      </p:sp>
      <p:sp>
        <p:nvSpPr>
          <p:cNvPr id="14" name="Text 12"/>
          <p:cNvSpPr/>
          <p:nvPr/>
        </p:nvSpPr>
        <p:spPr>
          <a:xfrm>
            <a:off x="777240" y="5129784"/>
            <a:ext cx="4860036" cy="502920"/>
          </a:xfrm>
          <a:prstGeom prst="rect">
            <a:avLst/>
          </a:prstGeom>
          <a:noFill/>
          <a:ln/>
        </p:spPr>
        <p:txBody>
          <a:bodyPr wrap="square" rtlCol="0" anchor="ctr"/>
          <a:lstStyle/>
          <a:p>
            <a:pPr indent="0" marL="0">
              <a:lnSpc>
                <a:spcPct val="110000"/>
              </a:lnSpc>
              <a:buNone/>
            </a:pPr>
            <a:r>
              <a:rPr lang="en-US" sz="1300" dirty="0">
                <a:solidFill>
                  <a:srgbClr val="16213E"/>
                </a:solidFill>
                <a:latin typeface="Calibri" pitchFamily="34" charset="0"/>
                <a:ea typeface="Calibri" pitchFamily="34" charset="-122"/>
                <a:cs typeface="Calibri" pitchFamily="34" charset="-120"/>
              </a:rPr>
              <a:t>A list of hosts, ports, and service banners</a:t>
            </a:r>
            <a:endParaRPr lang="en-US" sz="1300" dirty="0"/>
          </a:p>
        </p:txBody>
      </p:sp>
      <p:sp>
        <p:nvSpPr>
          <p:cNvPr id="15" name="Text 13"/>
          <p:cNvSpPr/>
          <p:nvPr/>
        </p:nvSpPr>
        <p:spPr>
          <a:xfrm>
            <a:off x="777240" y="5660136"/>
            <a:ext cx="4860036" cy="256032"/>
          </a:xfrm>
          <a:prstGeom prst="rect">
            <a:avLst/>
          </a:prstGeom>
          <a:noFill/>
          <a:ln/>
        </p:spPr>
        <p:txBody>
          <a:bodyPr wrap="square" rtlCol="0" anchor="ctr"/>
          <a:lstStyle/>
          <a:p>
            <a:pPr indent="0" marL="0">
              <a:buNone/>
            </a:pPr>
            <a:r>
              <a:rPr lang="en-US" sz="1050" b="1" spc="100" kern="0" dirty="0">
                <a:solidFill>
                  <a:srgbClr val="5C6B84"/>
                </a:solidFill>
                <a:latin typeface="Calibri" pitchFamily="34" charset="0"/>
                <a:ea typeface="Calibri" pitchFamily="34" charset="-122"/>
                <a:cs typeface="Calibri" pitchFamily="34" charset="-120"/>
              </a:rPr>
              <a:t>DEPTH</a:t>
            </a:r>
            <a:endParaRPr lang="en-US" sz="1050" dirty="0"/>
          </a:p>
        </p:txBody>
      </p:sp>
      <p:sp>
        <p:nvSpPr>
          <p:cNvPr id="16" name="Text 14"/>
          <p:cNvSpPr/>
          <p:nvPr/>
        </p:nvSpPr>
        <p:spPr>
          <a:xfrm>
            <a:off x="777240" y="5916168"/>
            <a:ext cx="4860036" cy="502920"/>
          </a:xfrm>
          <a:prstGeom prst="rect">
            <a:avLst/>
          </a:prstGeom>
          <a:noFill/>
          <a:ln/>
        </p:spPr>
        <p:txBody>
          <a:bodyPr wrap="square" rtlCol="0" anchor="ctr"/>
          <a:lstStyle/>
          <a:p>
            <a:pPr indent="0" marL="0">
              <a:lnSpc>
                <a:spcPct val="110000"/>
              </a:lnSpc>
              <a:buNone/>
            </a:pPr>
            <a:r>
              <a:rPr lang="en-US" sz="1300" dirty="0">
                <a:solidFill>
                  <a:srgbClr val="16213E"/>
                </a:solidFill>
                <a:latin typeface="Calibri" pitchFamily="34" charset="0"/>
                <a:ea typeface="Calibri" pitchFamily="34" charset="-122"/>
                <a:cs typeface="Calibri" pitchFamily="34" charset="-120"/>
              </a:rPr>
              <a:t>Broad and relatively shallow</a:t>
            </a:r>
            <a:endParaRPr lang="en-US" sz="1300" dirty="0"/>
          </a:p>
        </p:txBody>
      </p:sp>
      <p:sp>
        <p:nvSpPr>
          <p:cNvPr id="17" name="Shape 15"/>
          <p:cNvSpPr/>
          <p:nvPr/>
        </p:nvSpPr>
        <p:spPr>
          <a:xfrm>
            <a:off x="6277356" y="1737360"/>
            <a:ext cx="5408676" cy="4343400"/>
          </a:xfrm>
          <a:prstGeom prst="roundRect">
            <a:avLst>
              <a:gd name="adj" fmla="val 2105"/>
            </a:avLst>
          </a:prstGeom>
          <a:solidFill>
            <a:srgbClr val="F2F5F7"/>
          </a:solidFill>
          <a:ln/>
        </p:spPr>
      </p:sp>
      <p:sp>
        <p:nvSpPr>
          <p:cNvPr id="18" name="Text 16"/>
          <p:cNvSpPr/>
          <p:nvPr/>
        </p:nvSpPr>
        <p:spPr>
          <a:xfrm>
            <a:off x="6551676" y="1920240"/>
            <a:ext cx="4860036" cy="457200"/>
          </a:xfrm>
          <a:prstGeom prst="rect">
            <a:avLst/>
          </a:prstGeom>
          <a:noFill/>
          <a:ln/>
        </p:spPr>
        <p:txBody>
          <a:bodyPr wrap="square" rtlCol="0" anchor="ctr"/>
          <a:lstStyle/>
          <a:p>
            <a:pPr indent="0" marL="0">
              <a:buNone/>
            </a:pPr>
            <a:r>
              <a:rPr lang="en-US" sz="2000" b="1" dirty="0">
                <a:solidFill>
                  <a:srgbClr val="4FB6E8"/>
                </a:solidFill>
                <a:latin typeface="Calibri" pitchFamily="34" charset="0"/>
                <a:ea typeface="Calibri" pitchFamily="34" charset="-122"/>
                <a:cs typeface="Calibri" pitchFamily="34" charset="-120"/>
              </a:rPr>
              <a:t>Enumeration</a:t>
            </a:r>
            <a:endParaRPr lang="en-US" sz="2000" dirty="0"/>
          </a:p>
        </p:txBody>
      </p:sp>
      <p:sp>
        <p:nvSpPr>
          <p:cNvPr id="19" name="Text 17"/>
          <p:cNvSpPr/>
          <p:nvPr/>
        </p:nvSpPr>
        <p:spPr>
          <a:xfrm>
            <a:off x="6551676" y="2514600"/>
            <a:ext cx="4860036" cy="256032"/>
          </a:xfrm>
          <a:prstGeom prst="rect">
            <a:avLst/>
          </a:prstGeom>
          <a:noFill/>
          <a:ln/>
        </p:spPr>
        <p:txBody>
          <a:bodyPr wrap="square" rtlCol="0" anchor="ctr"/>
          <a:lstStyle/>
          <a:p>
            <a:pPr indent="0" marL="0">
              <a:buNone/>
            </a:pPr>
            <a:r>
              <a:rPr lang="en-US" sz="1050" b="1" spc="100" kern="0" dirty="0">
                <a:solidFill>
                  <a:srgbClr val="5C6B84"/>
                </a:solidFill>
                <a:latin typeface="Calibri" pitchFamily="34" charset="0"/>
                <a:ea typeface="Calibri" pitchFamily="34" charset="-122"/>
                <a:cs typeface="Calibri" pitchFamily="34" charset="-120"/>
              </a:rPr>
              <a:t>GOAL</a:t>
            </a:r>
            <a:endParaRPr lang="en-US" sz="1050" dirty="0"/>
          </a:p>
        </p:txBody>
      </p:sp>
      <p:sp>
        <p:nvSpPr>
          <p:cNvPr id="20" name="Text 18"/>
          <p:cNvSpPr/>
          <p:nvPr/>
        </p:nvSpPr>
        <p:spPr>
          <a:xfrm>
            <a:off x="6551676" y="2770632"/>
            <a:ext cx="4860036" cy="502920"/>
          </a:xfrm>
          <a:prstGeom prst="rect">
            <a:avLst/>
          </a:prstGeom>
          <a:noFill/>
          <a:ln/>
        </p:spPr>
        <p:txBody>
          <a:bodyPr wrap="square" rtlCol="0" anchor="ctr"/>
          <a:lstStyle/>
          <a:p>
            <a:pPr indent="0" marL="0">
              <a:lnSpc>
                <a:spcPct val="110000"/>
              </a:lnSpc>
              <a:buNone/>
            </a:pPr>
            <a:r>
              <a:rPr lang="en-US" sz="1300" dirty="0">
                <a:solidFill>
                  <a:srgbClr val="16213E"/>
                </a:solidFill>
                <a:latin typeface="Calibri" pitchFamily="34" charset="0"/>
                <a:ea typeface="Calibri" pitchFamily="34" charset="-122"/>
                <a:cs typeface="Calibri" pitchFamily="34" charset="-120"/>
              </a:rPr>
              <a:t>Extract detailed, usable data from a discovered service</a:t>
            </a:r>
            <a:endParaRPr lang="en-US" sz="1300" dirty="0"/>
          </a:p>
        </p:txBody>
      </p:sp>
      <p:sp>
        <p:nvSpPr>
          <p:cNvPr id="21" name="Text 19"/>
          <p:cNvSpPr/>
          <p:nvPr/>
        </p:nvSpPr>
        <p:spPr>
          <a:xfrm>
            <a:off x="6551676" y="3300984"/>
            <a:ext cx="4860036" cy="256032"/>
          </a:xfrm>
          <a:prstGeom prst="rect">
            <a:avLst/>
          </a:prstGeom>
          <a:noFill/>
          <a:ln/>
        </p:spPr>
        <p:txBody>
          <a:bodyPr wrap="square" rtlCol="0" anchor="ctr"/>
          <a:lstStyle/>
          <a:p>
            <a:pPr indent="0" marL="0">
              <a:buNone/>
            </a:pPr>
            <a:r>
              <a:rPr lang="en-US" sz="1050" b="1" spc="100" kern="0" dirty="0">
                <a:solidFill>
                  <a:srgbClr val="5C6B84"/>
                </a:solidFill>
                <a:latin typeface="Calibri" pitchFamily="34" charset="0"/>
                <a:ea typeface="Calibri" pitchFamily="34" charset="-122"/>
                <a:cs typeface="Calibri" pitchFamily="34" charset="-120"/>
              </a:rPr>
              <a:t>QUESTION ANSWERED</a:t>
            </a:r>
            <a:endParaRPr lang="en-US" sz="1050" dirty="0"/>
          </a:p>
        </p:txBody>
      </p:sp>
      <p:sp>
        <p:nvSpPr>
          <p:cNvPr id="22" name="Text 20"/>
          <p:cNvSpPr/>
          <p:nvPr/>
        </p:nvSpPr>
        <p:spPr>
          <a:xfrm>
            <a:off x="6551676" y="3557016"/>
            <a:ext cx="4860036" cy="502920"/>
          </a:xfrm>
          <a:prstGeom prst="rect">
            <a:avLst/>
          </a:prstGeom>
          <a:noFill/>
          <a:ln/>
        </p:spPr>
        <p:txBody>
          <a:bodyPr wrap="square" rtlCol="0" anchor="ctr"/>
          <a:lstStyle/>
          <a:p>
            <a:pPr indent="0" marL="0">
              <a:lnSpc>
                <a:spcPct val="110000"/>
              </a:lnSpc>
              <a:buNone/>
            </a:pPr>
            <a:r>
              <a:rPr lang="en-US" sz="1300" dirty="0">
                <a:solidFill>
                  <a:srgbClr val="16213E"/>
                </a:solidFill>
                <a:latin typeface="Calibri" pitchFamily="34" charset="0"/>
                <a:ea typeface="Calibri" pitchFamily="34" charset="-122"/>
                <a:cs typeface="Calibri" pitchFamily="34" charset="-120"/>
              </a:rPr>
              <a:t>“Exactly what can I do with this service?”</a:t>
            </a:r>
            <a:endParaRPr lang="en-US" sz="1300" dirty="0"/>
          </a:p>
        </p:txBody>
      </p:sp>
      <p:sp>
        <p:nvSpPr>
          <p:cNvPr id="23" name="Text 21"/>
          <p:cNvSpPr/>
          <p:nvPr/>
        </p:nvSpPr>
        <p:spPr>
          <a:xfrm>
            <a:off x="6551676" y="4087368"/>
            <a:ext cx="4860036" cy="256032"/>
          </a:xfrm>
          <a:prstGeom prst="rect">
            <a:avLst/>
          </a:prstGeom>
          <a:noFill/>
          <a:ln/>
        </p:spPr>
        <p:txBody>
          <a:bodyPr wrap="square" rtlCol="0" anchor="ctr"/>
          <a:lstStyle/>
          <a:p>
            <a:pPr indent="0" marL="0">
              <a:buNone/>
            </a:pPr>
            <a:r>
              <a:rPr lang="en-US" sz="1050" b="1" spc="100" kern="0" dirty="0">
                <a:solidFill>
                  <a:srgbClr val="5C6B84"/>
                </a:solidFill>
                <a:latin typeface="Calibri" pitchFamily="34" charset="0"/>
                <a:ea typeface="Calibri" pitchFamily="34" charset="-122"/>
                <a:cs typeface="Calibri" pitchFamily="34" charset="-120"/>
              </a:rPr>
              <a:t>TYPICAL TOOLS</a:t>
            </a:r>
            <a:endParaRPr lang="en-US" sz="1050" dirty="0"/>
          </a:p>
        </p:txBody>
      </p:sp>
      <p:sp>
        <p:nvSpPr>
          <p:cNvPr id="24" name="Text 22"/>
          <p:cNvSpPr/>
          <p:nvPr/>
        </p:nvSpPr>
        <p:spPr>
          <a:xfrm>
            <a:off x="6551676" y="4343400"/>
            <a:ext cx="4860036" cy="502920"/>
          </a:xfrm>
          <a:prstGeom prst="rect">
            <a:avLst/>
          </a:prstGeom>
          <a:noFill/>
          <a:ln/>
        </p:spPr>
        <p:txBody>
          <a:bodyPr wrap="square" rtlCol="0" anchor="ctr"/>
          <a:lstStyle/>
          <a:p>
            <a:pPr indent="0" marL="0">
              <a:lnSpc>
                <a:spcPct val="110000"/>
              </a:lnSpc>
              <a:buNone/>
            </a:pPr>
            <a:r>
              <a:rPr lang="en-US" sz="1300" dirty="0">
                <a:solidFill>
                  <a:srgbClr val="16213E"/>
                </a:solidFill>
                <a:latin typeface="Calibri" pitchFamily="34" charset="0"/>
                <a:ea typeface="Calibri" pitchFamily="34" charset="-122"/>
                <a:cs typeface="Calibri" pitchFamily="34" charset="-120"/>
              </a:rPr>
              <a:t>enum4linux, smbclient, snmpwalk, dnsrecon, NSE scripts</a:t>
            </a:r>
            <a:endParaRPr lang="en-US" sz="1300" dirty="0"/>
          </a:p>
        </p:txBody>
      </p:sp>
      <p:sp>
        <p:nvSpPr>
          <p:cNvPr id="25" name="Text 23"/>
          <p:cNvSpPr/>
          <p:nvPr/>
        </p:nvSpPr>
        <p:spPr>
          <a:xfrm>
            <a:off x="6551676" y="4873752"/>
            <a:ext cx="4860036" cy="256032"/>
          </a:xfrm>
          <a:prstGeom prst="rect">
            <a:avLst/>
          </a:prstGeom>
          <a:noFill/>
          <a:ln/>
        </p:spPr>
        <p:txBody>
          <a:bodyPr wrap="square" rtlCol="0" anchor="ctr"/>
          <a:lstStyle/>
          <a:p>
            <a:pPr indent="0" marL="0">
              <a:buNone/>
            </a:pPr>
            <a:r>
              <a:rPr lang="en-US" sz="1050" b="1" spc="100" kern="0" dirty="0">
                <a:solidFill>
                  <a:srgbClr val="5C6B84"/>
                </a:solidFill>
                <a:latin typeface="Calibri" pitchFamily="34" charset="0"/>
                <a:ea typeface="Calibri" pitchFamily="34" charset="-122"/>
                <a:cs typeface="Calibri" pitchFamily="34" charset="-120"/>
              </a:rPr>
              <a:t>OUTPUT</a:t>
            </a:r>
            <a:endParaRPr lang="en-US" sz="1050" dirty="0"/>
          </a:p>
        </p:txBody>
      </p:sp>
      <p:sp>
        <p:nvSpPr>
          <p:cNvPr id="26" name="Text 24"/>
          <p:cNvSpPr/>
          <p:nvPr/>
        </p:nvSpPr>
        <p:spPr>
          <a:xfrm>
            <a:off x="6551676" y="5129784"/>
            <a:ext cx="4860036" cy="502920"/>
          </a:xfrm>
          <a:prstGeom prst="rect">
            <a:avLst/>
          </a:prstGeom>
          <a:noFill/>
          <a:ln/>
        </p:spPr>
        <p:txBody>
          <a:bodyPr wrap="square" rtlCol="0" anchor="ctr"/>
          <a:lstStyle/>
          <a:p>
            <a:pPr indent="0" marL="0">
              <a:lnSpc>
                <a:spcPct val="110000"/>
              </a:lnSpc>
              <a:buNone/>
            </a:pPr>
            <a:r>
              <a:rPr lang="en-US" sz="1300" dirty="0">
                <a:solidFill>
                  <a:srgbClr val="16213E"/>
                </a:solidFill>
                <a:latin typeface="Calibri" pitchFamily="34" charset="0"/>
                <a:ea typeface="Calibri" pitchFamily="34" charset="-122"/>
                <a:cs typeface="Calibri" pitchFamily="34" charset="-120"/>
              </a:rPr>
              <a:t>Usernames, shares, DNS records, SNMP OIDs, misconfigs</a:t>
            </a:r>
            <a:endParaRPr lang="en-US" sz="1300" dirty="0"/>
          </a:p>
        </p:txBody>
      </p:sp>
      <p:sp>
        <p:nvSpPr>
          <p:cNvPr id="27" name="Text 25"/>
          <p:cNvSpPr/>
          <p:nvPr/>
        </p:nvSpPr>
        <p:spPr>
          <a:xfrm>
            <a:off x="6551676" y="5660136"/>
            <a:ext cx="4860036" cy="256032"/>
          </a:xfrm>
          <a:prstGeom prst="rect">
            <a:avLst/>
          </a:prstGeom>
          <a:noFill/>
          <a:ln/>
        </p:spPr>
        <p:txBody>
          <a:bodyPr wrap="square" rtlCol="0" anchor="ctr"/>
          <a:lstStyle/>
          <a:p>
            <a:pPr indent="0" marL="0">
              <a:buNone/>
            </a:pPr>
            <a:r>
              <a:rPr lang="en-US" sz="1050" b="1" spc="100" kern="0" dirty="0">
                <a:solidFill>
                  <a:srgbClr val="5C6B84"/>
                </a:solidFill>
                <a:latin typeface="Calibri" pitchFamily="34" charset="0"/>
                <a:ea typeface="Calibri" pitchFamily="34" charset="-122"/>
                <a:cs typeface="Calibri" pitchFamily="34" charset="-120"/>
              </a:rPr>
              <a:t>DEPTH</a:t>
            </a:r>
            <a:endParaRPr lang="en-US" sz="1050" dirty="0"/>
          </a:p>
        </p:txBody>
      </p:sp>
      <p:sp>
        <p:nvSpPr>
          <p:cNvPr id="28" name="Text 26"/>
          <p:cNvSpPr/>
          <p:nvPr/>
        </p:nvSpPr>
        <p:spPr>
          <a:xfrm>
            <a:off x="6551676" y="5916168"/>
            <a:ext cx="4860036" cy="502920"/>
          </a:xfrm>
          <a:prstGeom prst="rect">
            <a:avLst/>
          </a:prstGeom>
          <a:noFill/>
          <a:ln/>
        </p:spPr>
        <p:txBody>
          <a:bodyPr wrap="square" rtlCol="0" anchor="ctr"/>
          <a:lstStyle/>
          <a:p>
            <a:pPr indent="0" marL="0">
              <a:lnSpc>
                <a:spcPct val="110000"/>
              </a:lnSpc>
              <a:buNone/>
            </a:pPr>
            <a:r>
              <a:rPr lang="en-US" sz="1300" dirty="0">
                <a:solidFill>
                  <a:srgbClr val="16213E"/>
                </a:solidFill>
                <a:latin typeface="Calibri" pitchFamily="34" charset="0"/>
                <a:ea typeface="Calibri" pitchFamily="34" charset="-122"/>
                <a:cs typeface="Calibri" pitchFamily="34" charset="-120"/>
              </a:rPr>
              <a:t>Narrow and deep, service by service</a:t>
            </a:r>
            <a:endParaRPr lang="en-US" sz="1300" dirty="0"/>
          </a:p>
        </p:txBody>
      </p:sp>
      <p:sp>
        <p:nvSpPr>
          <p:cNvPr id="29" name="Text 27"/>
          <p:cNvSpPr/>
          <p:nvPr/>
        </p:nvSpPr>
        <p:spPr>
          <a:xfrm>
            <a:off x="11365992" y="6446520"/>
            <a:ext cx="457200" cy="274320"/>
          </a:xfrm>
          <a:prstGeom prst="rect">
            <a:avLst/>
          </a:prstGeom>
          <a:noFill/>
          <a:ln/>
        </p:spPr>
        <p:txBody>
          <a:bodyPr wrap="square" rtlCol="0" anchor="ctr"/>
          <a:lstStyle/>
          <a:p>
            <a:pPr algn="r" indent="0" marL="0">
              <a:buNone/>
            </a:pPr>
            <a:r>
              <a:rPr lang="en-US" sz="1000" dirty="0">
                <a:solidFill>
                  <a:srgbClr val="8892A6"/>
                </a:solidFill>
                <a:latin typeface="Courier New" pitchFamily="34" charset="0"/>
                <a:ea typeface="Courier New" pitchFamily="34" charset="-122"/>
                <a:cs typeface="Courier New"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rtlCol="0" anchor="ctr"/>
          <a:lstStyle/>
          <a:p>
            <a:pPr algn="l" indent="0" marL="0">
              <a:buNone/>
            </a:pPr>
            <a:r>
              <a:rPr lang="en-US" sz="1200" b="1" spc="200" kern="0" dirty="0">
                <a:solidFill>
                  <a:srgbClr val="1E9E6A"/>
                </a:solidFill>
                <a:latin typeface="Calibri" pitchFamily="34" charset="0"/>
                <a:ea typeface="Calibri" pitchFamily="34" charset="-122"/>
                <a:cs typeface="Calibri" pitchFamily="34" charset="-120"/>
              </a:rPr>
              <a:t>THEORY REFRESHER</a:t>
            </a:r>
            <a:endParaRPr lang="en-US" sz="1200" dirty="0"/>
          </a:p>
        </p:txBody>
      </p:sp>
      <p:sp>
        <p:nvSpPr>
          <p:cNvPr id="3" name="Text 1"/>
          <p:cNvSpPr/>
          <p:nvPr/>
        </p:nvSpPr>
        <p:spPr>
          <a:xfrm>
            <a:off x="502920" y="658368"/>
            <a:ext cx="10515600" cy="548640"/>
          </a:xfrm>
          <a:prstGeom prst="rect">
            <a:avLst/>
          </a:prstGeom>
          <a:noFill/>
          <a:ln/>
        </p:spPr>
        <p:txBody>
          <a:bodyPr wrap="square" rtlCol="0" anchor="ctr"/>
          <a:lstStyle/>
          <a:p>
            <a:pPr algn="l" indent="0" marL="0">
              <a:buNone/>
            </a:pPr>
            <a:r>
              <a:rPr lang="en-US" sz="3200" b="1" dirty="0">
                <a:solidFill>
                  <a:srgbClr val="16213E"/>
                </a:solidFill>
                <a:latin typeface="Calibri" pitchFamily="34" charset="0"/>
                <a:ea typeface="Calibri" pitchFamily="34" charset="-122"/>
                <a:cs typeface="Calibri" pitchFamily="34" charset="-120"/>
              </a:rPr>
              <a:t>The TCP Three-Way Handshake</a:t>
            </a:r>
            <a:endParaRPr lang="en-US" sz="3200" dirty="0"/>
          </a:p>
        </p:txBody>
      </p:sp>
      <p:sp>
        <p:nvSpPr>
          <p:cNvPr id="4" name="Text 2"/>
          <p:cNvSpPr/>
          <p:nvPr/>
        </p:nvSpPr>
        <p:spPr>
          <a:xfrm>
            <a:off x="502920" y="1161288"/>
            <a:ext cx="10515600" cy="365760"/>
          </a:xfrm>
          <a:prstGeom prst="rect">
            <a:avLst/>
          </a:prstGeom>
          <a:noFill/>
          <a:ln/>
        </p:spPr>
        <p:txBody>
          <a:bodyPr wrap="square" rtlCol="0" anchor="ctr"/>
          <a:lstStyle/>
          <a:p>
            <a:pPr algn="l" indent="0" marL="0">
              <a:buNone/>
            </a:pPr>
            <a:r>
              <a:rPr lang="en-US" sz="1400" dirty="0">
                <a:solidFill>
                  <a:srgbClr val="5C6B84"/>
                </a:solidFill>
                <a:latin typeface="Calibri" pitchFamily="34" charset="0"/>
                <a:ea typeface="Calibri" pitchFamily="34" charset="-122"/>
                <a:cs typeface="Calibri" pitchFamily="34" charset="-120"/>
              </a:rPr>
              <a:t>Nmap's TCP scan types are all variations on this exchange</a:t>
            </a:r>
            <a:endParaRPr lang="en-US" sz="1400" dirty="0"/>
          </a:p>
        </p:txBody>
      </p:sp>
      <p:sp>
        <p:nvSpPr>
          <p:cNvPr id="5" name="Shape 3"/>
          <p:cNvSpPr/>
          <p:nvPr/>
        </p:nvSpPr>
        <p:spPr>
          <a:xfrm>
            <a:off x="777240" y="2011680"/>
            <a:ext cx="1828800" cy="777240"/>
          </a:xfrm>
          <a:prstGeom prst="roundRect">
            <a:avLst>
              <a:gd name="adj" fmla="val 9412"/>
            </a:avLst>
          </a:prstGeom>
          <a:solidFill>
            <a:srgbClr val="0B132B"/>
          </a:solidFill>
          <a:ln/>
        </p:spPr>
      </p:sp>
      <p:sp>
        <p:nvSpPr>
          <p:cNvPr id="6" name="Text 4"/>
          <p:cNvSpPr/>
          <p:nvPr/>
        </p:nvSpPr>
        <p:spPr>
          <a:xfrm>
            <a:off x="777240" y="2011680"/>
            <a:ext cx="1828800" cy="7772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Client</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(scanner)</a:t>
            </a:r>
            <a:endParaRPr lang="en-US" sz="1400" dirty="0"/>
          </a:p>
        </p:txBody>
      </p:sp>
      <p:sp>
        <p:nvSpPr>
          <p:cNvPr id="7" name="Shape 5"/>
          <p:cNvSpPr/>
          <p:nvPr/>
        </p:nvSpPr>
        <p:spPr>
          <a:xfrm>
            <a:off x="9582912" y="2011680"/>
            <a:ext cx="1828800" cy="777240"/>
          </a:xfrm>
          <a:prstGeom prst="roundRect">
            <a:avLst>
              <a:gd name="adj" fmla="val 9412"/>
            </a:avLst>
          </a:prstGeom>
          <a:solidFill>
            <a:srgbClr val="0B132B"/>
          </a:solidFill>
          <a:ln/>
        </p:spPr>
      </p:sp>
      <p:sp>
        <p:nvSpPr>
          <p:cNvPr id="8" name="Text 6"/>
          <p:cNvSpPr/>
          <p:nvPr/>
        </p:nvSpPr>
        <p:spPr>
          <a:xfrm>
            <a:off x="9582912" y="2011680"/>
            <a:ext cx="1828800" cy="7772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Server</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(target)</a:t>
            </a:r>
            <a:endParaRPr lang="en-US" sz="1400" dirty="0"/>
          </a:p>
        </p:txBody>
      </p:sp>
      <p:sp>
        <p:nvSpPr>
          <p:cNvPr id="9" name="Shape 7"/>
          <p:cNvSpPr/>
          <p:nvPr/>
        </p:nvSpPr>
        <p:spPr>
          <a:xfrm>
            <a:off x="2606040" y="3200400"/>
            <a:ext cx="6976872" cy="0"/>
          </a:xfrm>
          <a:prstGeom prst="line">
            <a:avLst/>
          </a:prstGeom>
          <a:noFill/>
          <a:ln w="28575">
            <a:solidFill>
              <a:srgbClr val="1E9E6A"/>
            </a:solidFill>
            <a:prstDash val="solid"/>
            <a:headEnd type="none"/>
            <a:tailEnd type="triangle"/>
          </a:ln>
        </p:spPr>
      </p:sp>
      <p:sp>
        <p:nvSpPr>
          <p:cNvPr id="10" name="Text 8"/>
          <p:cNvSpPr/>
          <p:nvPr/>
        </p:nvSpPr>
        <p:spPr>
          <a:xfrm>
            <a:off x="2606040" y="2816352"/>
            <a:ext cx="6976872" cy="292608"/>
          </a:xfrm>
          <a:prstGeom prst="rect">
            <a:avLst/>
          </a:prstGeom>
          <a:noFill/>
          <a:ln/>
        </p:spPr>
        <p:txBody>
          <a:bodyPr wrap="square" rtlCol="0" anchor="ctr"/>
          <a:lstStyle/>
          <a:p>
            <a:pPr algn="ctr" indent="0" marL="0">
              <a:buNone/>
            </a:pPr>
            <a:r>
              <a:rPr lang="en-US" sz="1400" b="1" dirty="0">
                <a:solidFill>
                  <a:srgbClr val="1E9E6A"/>
                </a:solidFill>
                <a:latin typeface="Courier New" pitchFamily="34" charset="0"/>
                <a:ea typeface="Courier New" pitchFamily="34" charset="-122"/>
                <a:cs typeface="Courier New" pitchFamily="34" charset="-120"/>
              </a:rPr>
              <a:t>1.  SYN  →</a:t>
            </a:r>
            <a:endParaRPr lang="en-US" sz="1400" dirty="0"/>
          </a:p>
        </p:txBody>
      </p:sp>
      <p:sp>
        <p:nvSpPr>
          <p:cNvPr id="11" name="Text 9"/>
          <p:cNvSpPr/>
          <p:nvPr/>
        </p:nvSpPr>
        <p:spPr>
          <a:xfrm>
            <a:off x="2606040" y="3255264"/>
            <a:ext cx="6976872" cy="274320"/>
          </a:xfrm>
          <a:prstGeom prst="rect">
            <a:avLst/>
          </a:prstGeom>
          <a:noFill/>
          <a:ln/>
        </p:spPr>
        <p:txBody>
          <a:bodyPr wrap="square" rtlCol="0" anchor="ctr"/>
          <a:lstStyle/>
          <a:p>
            <a:pPr algn="ctr" indent="0" marL="0">
              <a:buNone/>
            </a:pPr>
            <a:r>
              <a:rPr lang="en-US" sz="1100" i="1" dirty="0">
                <a:solidFill>
                  <a:srgbClr val="5C6B84"/>
                </a:solidFill>
                <a:latin typeface="Calibri" pitchFamily="34" charset="0"/>
                <a:ea typeface="Calibri" pitchFamily="34" charset="-122"/>
                <a:cs typeface="Calibri" pitchFamily="34" charset="-120"/>
              </a:rPr>
              <a:t>“I'd like to connect”</a:t>
            </a:r>
            <a:endParaRPr lang="en-US" sz="1100" dirty="0"/>
          </a:p>
        </p:txBody>
      </p:sp>
      <p:sp>
        <p:nvSpPr>
          <p:cNvPr id="12" name="Shape 10"/>
          <p:cNvSpPr/>
          <p:nvPr/>
        </p:nvSpPr>
        <p:spPr>
          <a:xfrm>
            <a:off x="2606040" y="3886200"/>
            <a:ext cx="6976872" cy="0"/>
          </a:xfrm>
          <a:prstGeom prst="line">
            <a:avLst/>
          </a:prstGeom>
          <a:noFill/>
          <a:ln w="28575">
            <a:solidFill>
              <a:srgbClr val="4FB6E8"/>
            </a:solidFill>
            <a:prstDash val="solid"/>
            <a:headEnd type="triangle"/>
            <a:tailEnd type="none"/>
          </a:ln>
        </p:spPr>
      </p:sp>
      <p:sp>
        <p:nvSpPr>
          <p:cNvPr id="13" name="Text 11"/>
          <p:cNvSpPr/>
          <p:nvPr/>
        </p:nvSpPr>
        <p:spPr>
          <a:xfrm>
            <a:off x="2606040" y="3502152"/>
            <a:ext cx="6976872" cy="292608"/>
          </a:xfrm>
          <a:prstGeom prst="rect">
            <a:avLst/>
          </a:prstGeom>
          <a:noFill/>
          <a:ln/>
        </p:spPr>
        <p:txBody>
          <a:bodyPr wrap="square" rtlCol="0" anchor="ctr"/>
          <a:lstStyle/>
          <a:p>
            <a:pPr algn="ctr" indent="0" marL="0">
              <a:buNone/>
            </a:pPr>
            <a:r>
              <a:rPr lang="en-US" sz="1400" b="1" dirty="0">
                <a:solidFill>
                  <a:srgbClr val="4FB6E8"/>
                </a:solidFill>
                <a:latin typeface="Courier New" pitchFamily="34" charset="0"/>
                <a:ea typeface="Courier New" pitchFamily="34" charset="-122"/>
                <a:cs typeface="Courier New" pitchFamily="34" charset="-120"/>
              </a:rPr>
              <a:t>←  2.  SYN / ACK</a:t>
            </a:r>
            <a:endParaRPr lang="en-US" sz="1400" dirty="0"/>
          </a:p>
        </p:txBody>
      </p:sp>
      <p:sp>
        <p:nvSpPr>
          <p:cNvPr id="14" name="Text 12"/>
          <p:cNvSpPr/>
          <p:nvPr/>
        </p:nvSpPr>
        <p:spPr>
          <a:xfrm>
            <a:off x="2606040" y="3941064"/>
            <a:ext cx="6976872" cy="274320"/>
          </a:xfrm>
          <a:prstGeom prst="rect">
            <a:avLst/>
          </a:prstGeom>
          <a:noFill/>
          <a:ln/>
        </p:spPr>
        <p:txBody>
          <a:bodyPr wrap="square" rtlCol="0" anchor="ctr"/>
          <a:lstStyle/>
          <a:p>
            <a:pPr algn="ctr" indent="0" marL="0">
              <a:buNone/>
            </a:pPr>
            <a:r>
              <a:rPr lang="en-US" sz="1100" i="1" dirty="0">
                <a:solidFill>
                  <a:srgbClr val="5C6B84"/>
                </a:solidFill>
                <a:latin typeface="Calibri" pitchFamily="34" charset="0"/>
                <a:ea typeface="Calibri" pitchFamily="34" charset="-122"/>
                <a:cs typeface="Calibri" pitchFamily="34" charset="-120"/>
              </a:rPr>
              <a:t>“OK, and I acknowledge you”</a:t>
            </a:r>
            <a:endParaRPr lang="en-US" sz="1100" dirty="0"/>
          </a:p>
        </p:txBody>
      </p:sp>
      <p:sp>
        <p:nvSpPr>
          <p:cNvPr id="15" name="Shape 13"/>
          <p:cNvSpPr/>
          <p:nvPr/>
        </p:nvSpPr>
        <p:spPr>
          <a:xfrm>
            <a:off x="2606040" y="4572000"/>
            <a:ext cx="6976872" cy="0"/>
          </a:xfrm>
          <a:prstGeom prst="line">
            <a:avLst/>
          </a:prstGeom>
          <a:noFill/>
          <a:ln w="28575">
            <a:solidFill>
              <a:srgbClr val="1E9E6A"/>
            </a:solidFill>
            <a:prstDash val="solid"/>
            <a:headEnd type="none"/>
            <a:tailEnd type="triangle"/>
          </a:ln>
        </p:spPr>
      </p:sp>
      <p:sp>
        <p:nvSpPr>
          <p:cNvPr id="16" name="Text 14"/>
          <p:cNvSpPr/>
          <p:nvPr/>
        </p:nvSpPr>
        <p:spPr>
          <a:xfrm>
            <a:off x="2606040" y="4187952"/>
            <a:ext cx="6976872" cy="292608"/>
          </a:xfrm>
          <a:prstGeom prst="rect">
            <a:avLst/>
          </a:prstGeom>
          <a:noFill/>
          <a:ln/>
        </p:spPr>
        <p:txBody>
          <a:bodyPr wrap="square" rtlCol="0" anchor="ctr"/>
          <a:lstStyle/>
          <a:p>
            <a:pPr algn="ctr" indent="0" marL="0">
              <a:buNone/>
            </a:pPr>
            <a:r>
              <a:rPr lang="en-US" sz="1400" b="1" dirty="0">
                <a:solidFill>
                  <a:srgbClr val="1E9E6A"/>
                </a:solidFill>
                <a:latin typeface="Courier New" pitchFamily="34" charset="0"/>
                <a:ea typeface="Courier New" pitchFamily="34" charset="-122"/>
                <a:cs typeface="Courier New" pitchFamily="34" charset="-120"/>
              </a:rPr>
              <a:t>3.  ACK  →</a:t>
            </a:r>
            <a:endParaRPr lang="en-US" sz="1400" dirty="0"/>
          </a:p>
        </p:txBody>
      </p:sp>
      <p:sp>
        <p:nvSpPr>
          <p:cNvPr id="17" name="Text 15"/>
          <p:cNvSpPr/>
          <p:nvPr/>
        </p:nvSpPr>
        <p:spPr>
          <a:xfrm>
            <a:off x="2606040" y="4626864"/>
            <a:ext cx="6976872" cy="274320"/>
          </a:xfrm>
          <a:prstGeom prst="rect">
            <a:avLst/>
          </a:prstGeom>
          <a:noFill/>
          <a:ln/>
        </p:spPr>
        <p:txBody>
          <a:bodyPr wrap="square" rtlCol="0" anchor="ctr"/>
          <a:lstStyle/>
          <a:p>
            <a:pPr algn="ctr" indent="0" marL="0">
              <a:buNone/>
            </a:pPr>
            <a:r>
              <a:rPr lang="en-US" sz="1100" i="1" dirty="0">
                <a:solidFill>
                  <a:srgbClr val="5C6B84"/>
                </a:solidFill>
                <a:latin typeface="Calibri" pitchFamily="34" charset="0"/>
                <a:ea typeface="Calibri" pitchFamily="34" charset="-122"/>
                <a:cs typeface="Calibri" pitchFamily="34" charset="-120"/>
              </a:rPr>
              <a:t>“Connection established”</a:t>
            </a:r>
            <a:endParaRPr lang="en-US" sz="1100" dirty="0"/>
          </a:p>
        </p:txBody>
      </p:sp>
      <p:sp>
        <p:nvSpPr>
          <p:cNvPr id="18" name="Shape 16"/>
          <p:cNvSpPr/>
          <p:nvPr/>
        </p:nvSpPr>
        <p:spPr>
          <a:xfrm>
            <a:off x="502920" y="5303520"/>
            <a:ext cx="11183112" cy="1005840"/>
          </a:xfrm>
          <a:prstGeom prst="roundRect">
            <a:avLst>
              <a:gd name="adj" fmla="val 7273"/>
            </a:avLst>
          </a:prstGeom>
          <a:solidFill>
            <a:srgbClr val="F2F5F7"/>
          </a:solidFill>
          <a:ln/>
        </p:spPr>
      </p:sp>
      <p:sp>
        <p:nvSpPr>
          <p:cNvPr id="19" name="Text 17"/>
          <p:cNvSpPr/>
          <p:nvPr/>
        </p:nvSpPr>
        <p:spPr>
          <a:xfrm>
            <a:off x="731520" y="5422392"/>
            <a:ext cx="10725912" cy="777240"/>
          </a:xfrm>
          <a:prstGeom prst="rect">
            <a:avLst/>
          </a:prstGeom>
          <a:noFill/>
          <a:ln/>
        </p:spPr>
        <p:txBody>
          <a:bodyPr wrap="square" rtlCol="0" anchor="t"/>
          <a:lstStyle/>
          <a:p>
            <a:pPr indent="0" marL="0">
              <a:lnSpc>
                <a:spcPct val="120000"/>
              </a:lnSpc>
              <a:buNone/>
            </a:pPr>
            <a:r>
              <a:rPr lang="en-US" sz="1250" b="1" dirty="0">
                <a:solidFill>
                  <a:srgbClr val="1E9E6A"/>
                </a:solidFill>
                <a:latin typeface="Calibri" pitchFamily="34" charset="0"/>
                <a:ea typeface="Calibri" pitchFamily="34" charset="-122"/>
                <a:cs typeface="Calibri" pitchFamily="34" charset="-120"/>
              </a:rPr>
              <a:t>Why we care:  </a:t>
            </a:r>
            <a:pPr indent="0" marL="0">
              <a:lnSpc>
                <a:spcPct val="120000"/>
              </a:lnSpc>
              <a:buNone/>
            </a:pPr>
            <a:r>
              <a:rPr lang="en-US" sz="1250" dirty="0">
                <a:solidFill>
                  <a:srgbClr val="16213E"/>
                </a:solidFill>
                <a:latin typeface="Calibri" pitchFamily="34" charset="0"/>
                <a:ea typeface="Calibri" pitchFamily="34" charset="-122"/>
                <a:cs typeface="Calibri" pitchFamily="34" charset="-120"/>
              </a:rPr>
              <a:t>A SYN scan (-sS) sends step 1, reads step 2, and never sends step 3 — the connection is never fully established, so it's faster and quieter. A Connect scan (-sT) completes all three steps using the OS network stack, which is slower but doesn't need raw-socket privileges.</a:t>
            </a:r>
            <a:endParaRPr lang="en-US" sz="1250" dirty="0"/>
          </a:p>
        </p:txBody>
      </p:sp>
      <p:sp>
        <p:nvSpPr>
          <p:cNvPr id="20" name="Text 18"/>
          <p:cNvSpPr/>
          <p:nvPr/>
        </p:nvSpPr>
        <p:spPr>
          <a:xfrm>
            <a:off x="11365992" y="6446520"/>
            <a:ext cx="457200" cy="274320"/>
          </a:xfrm>
          <a:prstGeom prst="rect">
            <a:avLst/>
          </a:prstGeom>
          <a:noFill/>
          <a:ln/>
        </p:spPr>
        <p:txBody>
          <a:bodyPr wrap="square" rtlCol="0" anchor="ctr"/>
          <a:lstStyle/>
          <a:p>
            <a:pPr algn="r" indent="0" marL="0">
              <a:buNone/>
            </a:pPr>
            <a:r>
              <a:rPr lang="en-US" sz="1000" dirty="0">
                <a:solidFill>
                  <a:srgbClr val="8892A6"/>
                </a:solidFill>
                <a:latin typeface="Courier New" pitchFamily="34" charset="0"/>
                <a:ea typeface="Courier New" pitchFamily="34" charset="-122"/>
                <a:cs typeface="Courier New"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rtlCol="0" anchor="ctr"/>
          <a:lstStyle/>
          <a:p>
            <a:pPr algn="l" indent="0" marL="0">
              <a:buNone/>
            </a:pPr>
            <a:r>
              <a:rPr lang="en-US" sz="1200" b="1" spc="200" kern="0" dirty="0">
                <a:solidFill>
                  <a:srgbClr val="1E9E6A"/>
                </a:solidFill>
                <a:latin typeface="Calibri" pitchFamily="34" charset="0"/>
                <a:ea typeface="Calibri" pitchFamily="34" charset="-122"/>
                <a:cs typeface="Calibri" pitchFamily="34" charset="-120"/>
              </a:rPr>
              <a:t>THEORY REFRESHER</a:t>
            </a:r>
            <a:endParaRPr lang="en-US" sz="1200" dirty="0"/>
          </a:p>
        </p:txBody>
      </p:sp>
      <p:sp>
        <p:nvSpPr>
          <p:cNvPr id="3" name="Text 1"/>
          <p:cNvSpPr/>
          <p:nvPr/>
        </p:nvSpPr>
        <p:spPr>
          <a:xfrm>
            <a:off x="502920" y="658368"/>
            <a:ext cx="10515600" cy="548640"/>
          </a:xfrm>
          <a:prstGeom prst="rect">
            <a:avLst/>
          </a:prstGeom>
          <a:noFill/>
          <a:ln/>
        </p:spPr>
        <p:txBody>
          <a:bodyPr wrap="square" rtlCol="0" anchor="ctr"/>
          <a:lstStyle/>
          <a:p>
            <a:pPr algn="l" indent="0" marL="0">
              <a:buNone/>
            </a:pPr>
            <a:r>
              <a:rPr lang="en-US" sz="3200" b="1" dirty="0">
                <a:solidFill>
                  <a:srgbClr val="16213E"/>
                </a:solidFill>
                <a:latin typeface="Calibri" pitchFamily="34" charset="0"/>
                <a:ea typeface="Calibri" pitchFamily="34" charset="-122"/>
                <a:cs typeface="Calibri" pitchFamily="34" charset="-120"/>
              </a:rPr>
              <a:t>Port States Explained</a:t>
            </a:r>
            <a:endParaRPr lang="en-US" sz="3200" dirty="0"/>
          </a:p>
        </p:txBody>
      </p:sp>
      <p:sp>
        <p:nvSpPr>
          <p:cNvPr id="4" name="Text 2"/>
          <p:cNvSpPr/>
          <p:nvPr/>
        </p:nvSpPr>
        <p:spPr>
          <a:xfrm>
            <a:off x="502920" y="1161288"/>
            <a:ext cx="10515600" cy="365760"/>
          </a:xfrm>
          <a:prstGeom prst="rect">
            <a:avLst/>
          </a:prstGeom>
          <a:noFill/>
          <a:ln/>
        </p:spPr>
        <p:txBody>
          <a:bodyPr wrap="square" rtlCol="0" anchor="ctr"/>
          <a:lstStyle/>
          <a:p>
            <a:pPr algn="l" indent="0" marL="0">
              <a:buNone/>
            </a:pPr>
            <a:r>
              <a:rPr lang="en-US" sz="1400" dirty="0">
                <a:solidFill>
                  <a:srgbClr val="5C6B84"/>
                </a:solidFill>
                <a:latin typeface="Calibri" pitchFamily="34" charset="0"/>
                <a:ea typeface="Calibri" pitchFamily="34" charset="-122"/>
                <a:cs typeface="Calibri" pitchFamily="34" charset="-120"/>
              </a:rPr>
              <a:t>Nmap reports one of these states for every port it probes</a:t>
            </a:r>
            <a:endParaRPr lang="en-US" sz="1400" dirty="0"/>
          </a:p>
        </p:txBody>
      </p:sp>
      <p:sp>
        <p:nvSpPr>
          <p:cNvPr id="5" name="Shape 3"/>
          <p:cNvSpPr/>
          <p:nvPr/>
        </p:nvSpPr>
        <p:spPr>
          <a:xfrm>
            <a:off x="502920" y="1828800"/>
            <a:ext cx="2590038" cy="2834640"/>
          </a:xfrm>
          <a:prstGeom prst="roundRect">
            <a:avLst>
              <a:gd name="adj" fmla="val 3530"/>
            </a:avLst>
          </a:prstGeom>
          <a:solidFill>
            <a:srgbClr val="F2F5F7"/>
          </a:solidFill>
          <a:ln/>
        </p:spPr>
      </p:sp>
      <p:sp>
        <p:nvSpPr>
          <p:cNvPr id="6" name="Shape 4"/>
          <p:cNvSpPr/>
          <p:nvPr/>
        </p:nvSpPr>
        <p:spPr>
          <a:xfrm>
            <a:off x="502920" y="1828800"/>
            <a:ext cx="2590038" cy="777240"/>
          </a:xfrm>
          <a:prstGeom prst="roundRect">
            <a:avLst>
              <a:gd name="adj" fmla="val 11765"/>
            </a:avLst>
          </a:prstGeom>
          <a:solidFill>
            <a:srgbClr val="1E9E6A"/>
          </a:solidFill>
          <a:ln/>
        </p:spPr>
      </p:sp>
      <p:sp>
        <p:nvSpPr>
          <p:cNvPr id="7" name="Shape 5"/>
          <p:cNvSpPr/>
          <p:nvPr/>
        </p:nvSpPr>
        <p:spPr>
          <a:xfrm>
            <a:off x="502920" y="2212848"/>
            <a:ext cx="2590038" cy="393192"/>
          </a:xfrm>
          <a:prstGeom prst="rect">
            <a:avLst/>
          </a:prstGeom>
          <a:solidFill>
            <a:srgbClr val="1E9E6A"/>
          </a:solidFill>
          <a:ln/>
        </p:spPr>
      </p:sp>
      <p:sp>
        <p:nvSpPr>
          <p:cNvPr id="8" name="Text 6"/>
          <p:cNvSpPr/>
          <p:nvPr/>
        </p:nvSpPr>
        <p:spPr>
          <a:xfrm>
            <a:off x="502920" y="1828800"/>
            <a:ext cx="2590038" cy="7772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OPEN</a:t>
            </a:r>
            <a:endParaRPr lang="en-US" sz="1600" dirty="0"/>
          </a:p>
        </p:txBody>
      </p:sp>
      <p:sp>
        <p:nvSpPr>
          <p:cNvPr id="9" name="Text 7"/>
          <p:cNvSpPr/>
          <p:nvPr/>
        </p:nvSpPr>
        <p:spPr>
          <a:xfrm>
            <a:off x="685800" y="2788920"/>
            <a:ext cx="2224278" cy="1737360"/>
          </a:xfrm>
          <a:prstGeom prst="rect">
            <a:avLst/>
          </a:prstGeom>
          <a:noFill/>
          <a:ln/>
        </p:spPr>
        <p:txBody>
          <a:bodyPr wrap="square" rtlCol="0" anchor="t"/>
          <a:lstStyle/>
          <a:p>
            <a:pPr indent="0" marL="0">
              <a:lnSpc>
                <a:spcPct val="125000"/>
              </a:lnSpc>
              <a:buNone/>
            </a:pPr>
            <a:r>
              <a:rPr lang="en-US" sz="1200" dirty="0">
                <a:solidFill>
                  <a:srgbClr val="16213E"/>
                </a:solidFill>
                <a:latin typeface="Calibri" pitchFamily="34" charset="0"/>
                <a:ea typeface="Calibri" pitchFamily="34" charset="-122"/>
                <a:cs typeface="Calibri" pitchFamily="34" charset="-120"/>
              </a:rPr>
              <a:t>An application is actively listening and accepting connections on this port.</a:t>
            </a:r>
            <a:endParaRPr lang="en-US" sz="1200" dirty="0"/>
          </a:p>
        </p:txBody>
      </p:sp>
      <p:sp>
        <p:nvSpPr>
          <p:cNvPr id="10" name="Shape 8"/>
          <p:cNvSpPr/>
          <p:nvPr/>
        </p:nvSpPr>
        <p:spPr>
          <a:xfrm>
            <a:off x="3367278" y="1828800"/>
            <a:ext cx="2590038" cy="2834640"/>
          </a:xfrm>
          <a:prstGeom prst="roundRect">
            <a:avLst>
              <a:gd name="adj" fmla="val 3530"/>
            </a:avLst>
          </a:prstGeom>
          <a:solidFill>
            <a:srgbClr val="F2F5F7"/>
          </a:solidFill>
          <a:ln/>
        </p:spPr>
      </p:sp>
      <p:sp>
        <p:nvSpPr>
          <p:cNvPr id="11" name="Shape 9"/>
          <p:cNvSpPr/>
          <p:nvPr/>
        </p:nvSpPr>
        <p:spPr>
          <a:xfrm>
            <a:off x="3367278" y="1828800"/>
            <a:ext cx="2590038" cy="777240"/>
          </a:xfrm>
          <a:prstGeom prst="roundRect">
            <a:avLst>
              <a:gd name="adj" fmla="val 11765"/>
            </a:avLst>
          </a:prstGeom>
          <a:solidFill>
            <a:srgbClr val="E85D5D"/>
          </a:solidFill>
          <a:ln/>
        </p:spPr>
      </p:sp>
      <p:sp>
        <p:nvSpPr>
          <p:cNvPr id="12" name="Shape 10"/>
          <p:cNvSpPr/>
          <p:nvPr/>
        </p:nvSpPr>
        <p:spPr>
          <a:xfrm>
            <a:off x="3367278" y="2212848"/>
            <a:ext cx="2590038" cy="393192"/>
          </a:xfrm>
          <a:prstGeom prst="rect">
            <a:avLst/>
          </a:prstGeom>
          <a:solidFill>
            <a:srgbClr val="E85D5D"/>
          </a:solidFill>
          <a:ln/>
        </p:spPr>
      </p:sp>
      <p:sp>
        <p:nvSpPr>
          <p:cNvPr id="13" name="Text 11"/>
          <p:cNvSpPr/>
          <p:nvPr/>
        </p:nvSpPr>
        <p:spPr>
          <a:xfrm>
            <a:off x="3367278" y="1828800"/>
            <a:ext cx="2590038" cy="7772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CLOSED</a:t>
            </a:r>
            <a:endParaRPr lang="en-US" sz="1600" dirty="0"/>
          </a:p>
        </p:txBody>
      </p:sp>
      <p:sp>
        <p:nvSpPr>
          <p:cNvPr id="14" name="Text 12"/>
          <p:cNvSpPr/>
          <p:nvPr/>
        </p:nvSpPr>
        <p:spPr>
          <a:xfrm>
            <a:off x="3550158" y="2788920"/>
            <a:ext cx="2224278" cy="1737360"/>
          </a:xfrm>
          <a:prstGeom prst="rect">
            <a:avLst/>
          </a:prstGeom>
          <a:noFill/>
          <a:ln/>
        </p:spPr>
        <p:txBody>
          <a:bodyPr wrap="square" rtlCol="0" anchor="t"/>
          <a:lstStyle/>
          <a:p>
            <a:pPr indent="0" marL="0">
              <a:lnSpc>
                <a:spcPct val="125000"/>
              </a:lnSpc>
              <a:buNone/>
            </a:pPr>
            <a:r>
              <a:rPr lang="en-US" sz="1200" dirty="0">
                <a:solidFill>
                  <a:srgbClr val="16213E"/>
                </a:solidFill>
                <a:latin typeface="Calibri" pitchFamily="34" charset="0"/>
                <a:ea typeface="Calibri" pitchFamily="34" charset="-122"/>
                <a:cs typeface="Calibri" pitchFamily="34" charset="-120"/>
              </a:rPr>
              <a:t>The port is reachable (no firewall in the way) but no application is listening — a RST is returned.</a:t>
            </a:r>
            <a:endParaRPr lang="en-US" sz="1200" dirty="0"/>
          </a:p>
        </p:txBody>
      </p:sp>
      <p:sp>
        <p:nvSpPr>
          <p:cNvPr id="15" name="Shape 13"/>
          <p:cNvSpPr/>
          <p:nvPr/>
        </p:nvSpPr>
        <p:spPr>
          <a:xfrm>
            <a:off x="6231636" y="1828800"/>
            <a:ext cx="2590038" cy="2834640"/>
          </a:xfrm>
          <a:prstGeom prst="roundRect">
            <a:avLst>
              <a:gd name="adj" fmla="val 3530"/>
            </a:avLst>
          </a:prstGeom>
          <a:solidFill>
            <a:srgbClr val="F2F5F7"/>
          </a:solidFill>
          <a:ln/>
        </p:spPr>
      </p:sp>
      <p:sp>
        <p:nvSpPr>
          <p:cNvPr id="16" name="Shape 14"/>
          <p:cNvSpPr/>
          <p:nvPr/>
        </p:nvSpPr>
        <p:spPr>
          <a:xfrm>
            <a:off x="6231636" y="1828800"/>
            <a:ext cx="2590038" cy="777240"/>
          </a:xfrm>
          <a:prstGeom prst="roundRect">
            <a:avLst>
              <a:gd name="adj" fmla="val 11765"/>
            </a:avLst>
          </a:prstGeom>
          <a:solidFill>
            <a:srgbClr val="C9A227"/>
          </a:solidFill>
          <a:ln/>
        </p:spPr>
      </p:sp>
      <p:sp>
        <p:nvSpPr>
          <p:cNvPr id="17" name="Shape 15"/>
          <p:cNvSpPr/>
          <p:nvPr/>
        </p:nvSpPr>
        <p:spPr>
          <a:xfrm>
            <a:off x="6231636" y="2212848"/>
            <a:ext cx="2590038" cy="393192"/>
          </a:xfrm>
          <a:prstGeom prst="rect">
            <a:avLst/>
          </a:prstGeom>
          <a:solidFill>
            <a:srgbClr val="C9A227"/>
          </a:solidFill>
          <a:ln/>
        </p:spPr>
      </p:sp>
      <p:sp>
        <p:nvSpPr>
          <p:cNvPr id="18" name="Text 16"/>
          <p:cNvSpPr/>
          <p:nvPr/>
        </p:nvSpPr>
        <p:spPr>
          <a:xfrm>
            <a:off x="6231636" y="1828800"/>
            <a:ext cx="2590038" cy="7772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FILTERED</a:t>
            </a:r>
            <a:endParaRPr lang="en-US" sz="1600" dirty="0"/>
          </a:p>
        </p:txBody>
      </p:sp>
      <p:sp>
        <p:nvSpPr>
          <p:cNvPr id="19" name="Text 17"/>
          <p:cNvSpPr/>
          <p:nvPr/>
        </p:nvSpPr>
        <p:spPr>
          <a:xfrm>
            <a:off x="6414516" y="2788920"/>
            <a:ext cx="2224278" cy="1737360"/>
          </a:xfrm>
          <a:prstGeom prst="rect">
            <a:avLst/>
          </a:prstGeom>
          <a:noFill/>
          <a:ln/>
        </p:spPr>
        <p:txBody>
          <a:bodyPr wrap="square" rtlCol="0" anchor="t"/>
          <a:lstStyle/>
          <a:p>
            <a:pPr indent="0" marL="0">
              <a:lnSpc>
                <a:spcPct val="125000"/>
              </a:lnSpc>
              <a:buNone/>
            </a:pPr>
            <a:r>
              <a:rPr lang="en-US" sz="1200" dirty="0">
                <a:solidFill>
                  <a:srgbClr val="16213E"/>
                </a:solidFill>
                <a:latin typeface="Calibri" pitchFamily="34" charset="0"/>
                <a:ea typeface="Calibri" pitchFamily="34" charset="-122"/>
                <a:cs typeface="Calibri" pitchFamily="34" charset="-120"/>
              </a:rPr>
              <a:t>A firewall, ACL, or packet filter is blocking probes, so Nmap can't tell if the port is open.</a:t>
            </a:r>
            <a:endParaRPr lang="en-US" sz="1200" dirty="0"/>
          </a:p>
        </p:txBody>
      </p:sp>
      <p:sp>
        <p:nvSpPr>
          <p:cNvPr id="20" name="Shape 18"/>
          <p:cNvSpPr/>
          <p:nvPr/>
        </p:nvSpPr>
        <p:spPr>
          <a:xfrm>
            <a:off x="9095994" y="1828800"/>
            <a:ext cx="2590038" cy="2834640"/>
          </a:xfrm>
          <a:prstGeom prst="roundRect">
            <a:avLst>
              <a:gd name="adj" fmla="val 3530"/>
            </a:avLst>
          </a:prstGeom>
          <a:solidFill>
            <a:srgbClr val="F2F5F7"/>
          </a:solidFill>
          <a:ln/>
        </p:spPr>
      </p:sp>
      <p:sp>
        <p:nvSpPr>
          <p:cNvPr id="21" name="Shape 19"/>
          <p:cNvSpPr/>
          <p:nvPr/>
        </p:nvSpPr>
        <p:spPr>
          <a:xfrm>
            <a:off x="9095994" y="1828800"/>
            <a:ext cx="2590038" cy="777240"/>
          </a:xfrm>
          <a:prstGeom prst="roundRect">
            <a:avLst>
              <a:gd name="adj" fmla="val 11765"/>
            </a:avLst>
          </a:prstGeom>
          <a:solidFill>
            <a:srgbClr val="4FB6E8"/>
          </a:solidFill>
          <a:ln/>
        </p:spPr>
      </p:sp>
      <p:sp>
        <p:nvSpPr>
          <p:cNvPr id="22" name="Shape 20"/>
          <p:cNvSpPr/>
          <p:nvPr/>
        </p:nvSpPr>
        <p:spPr>
          <a:xfrm>
            <a:off x="9095994" y="2212848"/>
            <a:ext cx="2590038" cy="393192"/>
          </a:xfrm>
          <a:prstGeom prst="rect">
            <a:avLst/>
          </a:prstGeom>
          <a:solidFill>
            <a:srgbClr val="4FB6E8"/>
          </a:solidFill>
          <a:ln/>
        </p:spPr>
      </p:sp>
      <p:sp>
        <p:nvSpPr>
          <p:cNvPr id="23" name="Text 21"/>
          <p:cNvSpPr/>
          <p:nvPr/>
        </p:nvSpPr>
        <p:spPr>
          <a:xfrm>
            <a:off x="9095994" y="1828800"/>
            <a:ext cx="2590038" cy="7772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UNFILTERED</a:t>
            </a:r>
            <a:endParaRPr lang="en-US" sz="1600" dirty="0"/>
          </a:p>
        </p:txBody>
      </p:sp>
      <p:sp>
        <p:nvSpPr>
          <p:cNvPr id="24" name="Text 22"/>
          <p:cNvSpPr/>
          <p:nvPr/>
        </p:nvSpPr>
        <p:spPr>
          <a:xfrm>
            <a:off x="9278874" y="2788920"/>
            <a:ext cx="2224278" cy="1737360"/>
          </a:xfrm>
          <a:prstGeom prst="rect">
            <a:avLst/>
          </a:prstGeom>
          <a:noFill/>
          <a:ln/>
        </p:spPr>
        <p:txBody>
          <a:bodyPr wrap="square" rtlCol="0" anchor="t"/>
          <a:lstStyle/>
          <a:p>
            <a:pPr indent="0" marL="0">
              <a:lnSpc>
                <a:spcPct val="125000"/>
              </a:lnSpc>
              <a:buNone/>
            </a:pPr>
            <a:r>
              <a:rPr lang="en-US" sz="1200" dirty="0">
                <a:solidFill>
                  <a:srgbClr val="16213E"/>
                </a:solidFill>
                <a:latin typeface="Calibri" pitchFamily="34" charset="0"/>
                <a:ea typeface="Calibri" pitchFamily="34" charset="-122"/>
                <a:cs typeface="Calibri" pitchFamily="34" charset="-120"/>
              </a:rPr>
              <a:t>The port is reachable but its open/closed state is undetermined — seen mainly with ACK scans.</a:t>
            </a:r>
            <a:endParaRPr lang="en-US" sz="1200" dirty="0"/>
          </a:p>
        </p:txBody>
      </p:sp>
      <p:sp>
        <p:nvSpPr>
          <p:cNvPr id="25" name="Text 23"/>
          <p:cNvSpPr/>
          <p:nvPr/>
        </p:nvSpPr>
        <p:spPr>
          <a:xfrm>
            <a:off x="502920" y="5029200"/>
            <a:ext cx="11183112" cy="548640"/>
          </a:xfrm>
          <a:prstGeom prst="rect">
            <a:avLst/>
          </a:prstGeom>
          <a:noFill/>
          <a:ln/>
        </p:spPr>
        <p:txBody>
          <a:bodyPr wrap="square" rtlCol="0" anchor="ctr"/>
          <a:lstStyle/>
          <a:p>
            <a:pPr indent="0" marL="0">
              <a:buNone/>
            </a:pPr>
            <a:r>
              <a:rPr lang="en-US" sz="1200" i="1" dirty="0">
                <a:solidFill>
                  <a:srgbClr val="5C6B84"/>
                </a:solidFill>
                <a:latin typeface="Calibri" pitchFamily="34" charset="0"/>
                <a:ea typeface="Calibri" pitchFamily="34" charset="-122"/>
                <a:cs typeface="Calibri" pitchFamily="34" charset="-120"/>
              </a:rPr>
              <a:t>Talking point: emphasize that “filtered” is the most common result against hardened, production targets — a good pentester never confuses “filtered” with “secure.”</a:t>
            </a:r>
            <a:endParaRPr lang="en-US" sz="1200" dirty="0"/>
          </a:p>
        </p:txBody>
      </p:sp>
      <p:sp>
        <p:nvSpPr>
          <p:cNvPr id="26" name="Text 24"/>
          <p:cNvSpPr/>
          <p:nvPr/>
        </p:nvSpPr>
        <p:spPr>
          <a:xfrm>
            <a:off x="11365992" y="6446520"/>
            <a:ext cx="457200" cy="274320"/>
          </a:xfrm>
          <a:prstGeom prst="rect">
            <a:avLst/>
          </a:prstGeom>
          <a:noFill/>
          <a:ln/>
        </p:spPr>
        <p:txBody>
          <a:bodyPr wrap="square" rtlCol="0" anchor="ctr"/>
          <a:lstStyle/>
          <a:p>
            <a:pPr algn="r" indent="0" marL="0">
              <a:buNone/>
            </a:pPr>
            <a:r>
              <a:rPr lang="en-US" sz="1000" dirty="0">
                <a:solidFill>
                  <a:srgbClr val="8892A6"/>
                </a:solidFill>
                <a:latin typeface="Courier New" pitchFamily="34" charset="0"/>
                <a:ea typeface="Courier New" pitchFamily="34" charset="-122"/>
                <a:cs typeface="Courier New"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rtlCol="0" anchor="ctr"/>
          <a:lstStyle/>
          <a:p>
            <a:pPr algn="l" indent="0" marL="0">
              <a:buNone/>
            </a:pPr>
            <a:r>
              <a:rPr lang="en-US" sz="1200" b="1" spc="200" kern="0" dirty="0">
                <a:solidFill>
                  <a:srgbClr val="1E9E6A"/>
                </a:solidFill>
                <a:latin typeface="Calibri" pitchFamily="34" charset="0"/>
                <a:ea typeface="Calibri" pitchFamily="34" charset="-122"/>
                <a:cs typeface="Calibri" pitchFamily="34" charset="-120"/>
              </a:rPr>
              <a:t>THE BIG PICTURE</a:t>
            </a:r>
            <a:endParaRPr lang="en-US" sz="1200" dirty="0"/>
          </a:p>
        </p:txBody>
      </p:sp>
      <p:sp>
        <p:nvSpPr>
          <p:cNvPr id="3" name="Text 1"/>
          <p:cNvSpPr/>
          <p:nvPr/>
        </p:nvSpPr>
        <p:spPr>
          <a:xfrm>
            <a:off x="502920" y="658368"/>
            <a:ext cx="10515600" cy="548640"/>
          </a:xfrm>
          <a:prstGeom prst="rect">
            <a:avLst/>
          </a:prstGeom>
          <a:noFill/>
          <a:ln/>
        </p:spPr>
        <p:txBody>
          <a:bodyPr wrap="square" rtlCol="0" anchor="ctr"/>
          <a:lstStyle/>
          <a:p>
            <a:pPr algn="l" indent="0" marL="0">
              <a:buNone/>
            </a:pPr>
            <a:r>
              <a:rPr lang="en-US" sz="3200" b="1" dirty="0">
                <a:solidFill>
                  <a:srgbClr val="16213E"/>
                </a:solidFill>
                <a:latin typeface="Calibri" pitchFamily="34" charset="0"/>
                <a:ea typeface="Calibri" pitchFamily="34" charset="-122"/>
                <a:cs typeface="Calibri" pitchFamily="34" charset="-120"/>
              </a:rPr>
              <a:t>Six Categories of Scanning &amp; Enumeration</a:t>
            </a:r>
            <a:endParaRPr lang="en-US" sz="3200" dirty="0"/>
          </a:p>
        </p:txBody>
      </p:sp>
      <p:sp>
        <p:nvSpPr>
          <p:cNvPr id="4" name="Text 2"/>
          <p:cNvSpPr/>
          <p:nvPr/>
        </p:nvSpPr>
        <p:spPr>
          <a:xfrm>
            <a:off x="502920" y="1161288"/>
            <a:ext cx="10515600" cy="365760"/>
          </a:xfrm>
          <a:prstGeom prst="rect">
            <a:avLst/>
          </a:prstGeom>
          <a:noFill/>
          <a:ln/>
        </p:spPr>
        <p:txBody>
          <a:bodyPr wrap="square" rtlCol="0" anchor="ctr"/>
          <a:lstStyle/>
          <a:p>
            <a:pPr algn="l" indent="0" marL="0">
              <a:buNone/>
            </a:pPr>
            <a:r>
              <a:rPr lang="en-US" sz="1400" dirty="0">
                <a:solidFill>
                  <a:srgbClr val="5C6B84"/>
                </a:solidFill>
                <a:latin typeface="Calibri" pitchFamily="34" charset="0"/>
                <a:ea typeface="Calibri" pitchFamily="34" charset="-122"/>
                <a:cs typeface="Calibri" pitchFamily="34" charset="-120"/>
              </a:rPr>
              <a:t>We'll touch every one of these today, in this order</a:t>
            </a:r>
            <a:endParaRPr lang="en-US" sz="1400" dirty="0"/>
          </a:p>
        </p:txBody>
      </p:sp>
      <p:sp>
        <p:nvSpPr>
          <p:cNvPr id="5" name="Shape 3"/>
          <p:cNvSpPr/>
          <p:nvPr/>
        </p:nvSpPr>
        <p:spPr>
          <a:xfrm>
            <a:off x="502920" y="1691640"/>
            <a:ext cx="3544824" cy="1874520"/>
          </a:xfrm>
          <a:prstGeom prst="roundRect">
            <a:avLst>
              <a:gd name="adj" fmla="val 3902"/>
            </a:avLst>
          </a:prstGeom>
          <a:solidFill>
            <a:srgbClr val="F2F5F7"/>
          </a:solidFill>
          <a:ln/>
          <a:effectLst>
            <a:outerShdw sx="100000" sy="100000" kx="0" ky="0" algn="bl" rotWithShape="0" blurRad="76200" dist="25400" dir="5400000">
              <a:srgbClr val="000000">
                <a:alpha val="12000"/>
              </a:srgbClr>
            </a:outerShdw>
          </a:effectLst>
        </p:spPr>
      </p:sp>
      <p:sp>
        <p:nvSpPr>
          <p:cNvPr id="6" name="Shape 4"/>
          <p:cNvSpPr/>
          <p:nvPr/>
        </p:nvSpPr>
        <p:spPr>
          <a:xfrm>
            <a:off x="704088" y="1874520"/>
            <a:ext cx="384048" cy="384048"/>
          </a:xfrm>
          <a:prstGeom prst="ellipse">
            <a:avLst/>
          </a:prstGeom>
          <a:solidFill>
            <a:srgbClr val="1E9E6A"/>
          </a:solidFill>
          <a:ln/>
        </p:spPr>
      </p:sp>
      <p:sp>
        <p:nvSpPr>
          <p:cNvPr id="7" name="Text 5"/>
          <p:cNvSpPr/>
          <p:nvPr/>
        </p:nvSpPr>
        <p:spPr>
          <a:xfrm>
            <a:off x="704088" y="1874520"/>
            <a:ext cx="384048" cy="384048"/>
          </a:xfrm>
          <a:prstGeom prst="rect">
            <a:avLst/>
          </a:prstGeom>
          <a:noFill/>
          <a:ln/>
        </p:spPr>
        <p:txBody>
          <a:bodyPr wrap="square" rtlCol="0" anchor="ctr"/>
          <a:lstStyle/>
          <a:p>
            <a:pPr algn="ctr" indent="0" marL="0">
              <a:buNone/>
            </a:pPr>
            <a:r>
              <a:rPr lang="en-US" sz="1600" b="1" dirty="0">
                <a:solidFill>
                  <a:srgbClr val="0B132B"/>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704088" y="2377440"/>
            <a:ext cx="3142488" cy="365760"/>
          </a:xfrm>
          <a:prstGeom prst="rect">
            <a:avLst/>
          </a:prstGeom>
          <a:noFill/>
          <a:ln/>
        </p:spPr>
        <p:txBody>
          <a:bodyPr wrap="square" rtlCol="0" anchor="ctr"/>
          <a:lstStyle/>
          <a:p>
            <a:pPr indent="0" marL="0">
              <a:buNone/>
            </a:pPr>
            <a:r>
              <a:rPr lang="en-US" sz="1500" b="1" dirty="0">
                <a:solidFill>
                  <a:srgbClr val="16213E"/>
                </a:solidFill>
                <a:latin typeface="Calibri" pitchFamily="34" charset="0"/>
                <a:ea typeface="Calibri" pitchFamily="34" charset="-122"/>
                <a:cs typeface="Calibri" pitchFamily="34" charset="-120"/>
              </a:rPr>
              <a:t>Host Discovery</a:t>
            </a:r>
            <a:endParaRPr lang="en-US" sz="1500" dirty="0"/>
          </a:p>
        </p:txBody>
      </p:sp>
      <p:sp>
        <p:nvSpPr>
          <p:cNvPr id="9" name="Text 7"/>
          <p:cNvSpPr/>
          <p:nvPr/>
        </p:nvSpPr>
        <p:spPr>
          <a:xfrm>
            <a:off x="704088" y="2743200"/>
            <a:ext cx="3142488" cy="685800"/>
          </a:xfrm>
          <a:prstGeom prst="rect">
            <a:avLst/>
          </a:prstGeom>
          <a:noFill/>
          <a:ln/>
        </p:spPr>
        <p:txBody>
          <a:bodyPr wrap="square" rtlCol="0" anchor="t"/>
          <a:lstStyle/>
          <a:p>
            <a:pPr indent="0" marL="0">
              <a:lnSpc>
                <a:spcPct val="115000"/>
              </a:lnSpc>
              <a:buNone/>
            </a:pPr>
            <a:r>
              <a:rPr lang="en-US" sz="1150" dirty="0">
                <a:solidFill>
                  <a:srgbClr val="5C6B84"/>
                </a:solidFill>
                <a:latin typeface="Calibri" pitchFamily="34" charset="0"/>
                <a:ea typeface="Calibri" pitchFamily="34" charset="-122"/>
                <a:cs typeface="Calibri" pitchFamily="34" charset="-120"/>
              </a:rPr>
              <a:t>Find which IPs are alive on the network before wasting time port-scanning dead hosts (ping sweeps, ARP scans).</a:t>
            </a:r>
            <a:endParaRPr lang="en-US" sz="1150" dirty="0"/>
          </a:p>
        </p:txBody>
      </p:sp>
      <p:sp>
        <p:nvSpPr>
          <p:cNvPr id="10" name="Shape 8"/>
          <p:cNvSpPr/>
          <p:nvPr/>
        </p:nvSpPr>
        <p:spPr>
          <a:xfrm>
            <a:off x="4322064" y="1691640"/>
            <a:ext cx="3544824" cy="1874520"/>
          </a:xfrm>
          <a:prstGeom prst="roundRect">
            <a:avLst>
              <a:gd name="adj" fmla="val 3902"/>
            </a:avLst>
          </a:prstGeom>
          <a:solidFill>
            <a:srgbClr val="F2F5F7"/>
          </a:solidFill>
          <a:ln/>
          <a:effectLst>
            <a:outerShdw sx="100000" sy="100000" kx="0" ky="0" algn="bl" rotWithShape="0" blurRad="76200" dist="25400" dir="5400000">
              <a:srgbClr val="000000">
                <a:alpha val="12000"/>
              </a:srgbClr>
            </a:outerShdw>
          </a:effectLst>
        </p:spPr>
      </p:sp>
      <p:sp>
        <p:nvSpPr>
          <p:cNvPr id="11" name="Shape 9"/>
          <p:cNvSpPr/>
          <p:nvPr/>
        </p:nvSpPr>
        <p:spPr>
          <a:xfrm>
            <a:off x="4523232" y="1874520"/>
            <a:ext cx="384048" cy="384048"/>
          </a:xfrm>
          <a:prstGeom prst="ellipse">
            <a:avLst/>
          </a:prstGeom>
          <a:solidFill>
            <a:srgbClr val="1E9E6A"/>
          </a:solidFill>
          <a:ln/>
        </p:spPr>
      </p:sp>
      <p:sp>
        <p:nvSpPr>
          <p:cNvPr id="12" name="Text 10"/>
          <p:cNvSpPr/>
          <p:nvPr/>
        </p:nvSpPr>
        <p:spPr>
          <a:xfrm>
            <a:off x="4523232" y="1874520"/>
            <a:ext cx="384048" cy="384048"/>
          </a:xfrm>
          <a:prstGeom prst="rect">
            <a:avLst/>
          </a:prstGeom>
          <a:noFill/>
          <a:ln/>
        </p:spPr>
        <p:txBody>
          <a:bodyPr wrap="square" rtlCol="0" anchor="ctr"/>
          <a:lstStyle/>
          <a:p>
            <a:pPr algn="ctr" indent="0" marL="0">
              <a:buNone/>
            </a:pPr>
            <a:r>
              <a:rPr lang="en-US" sz="1600" b="1" dirty="0">
                <a:solidFill>
                  <a:srgbClr val="0B132B"/>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4523232" y="2377440"/>
            <a:ext cx="3142488" cy="365760"/>
          </a:xfrm>
          <a:prstGeom prst="rect">
            <a:avLst/>
          </a:prstGeom>
          <a:noFill/>
          <a:ln/>
        </p:spPr>
        <p:txBody>
          <a:bodyPr wrap="square" rtlCol="0" anchor="ctr"/>
          <a:lstStyle/>
          <a:p>
            <a:pPr indent="0" marL="0">
              <a:buNone/>
            </a:pPr>
            <a:r>
              <a:rPr lang="en-US" sz="1500" b="1" dirty="0">
                <a:solidFill>
                  <a:srgbClr val="16213E"/>
                </a:solidFill>
                <a:latin typeface="Calibri" pitchFamily="34" charset="0"/>
                <a:ea typeface="Calibri" pitchFamily="34" charset="-122"/>
                <a:cs typeface="Calibri" pitchFamily="34" charset="-120"/>
              </a:rPr>
              <a:t>Port Scanning</a:t>
            </a:r>
            <a:endParaRPr lang="en-US" sz="1500" dirty="0"/>
          </a:p>
        </p:txBody>
      </p:sp>
      <p:sp>
        <p:nvSpPr>
          <p:cNvPr id="14" name="Text 12"/>
          <p:cNvSpPr/>
          <p:nvPr/>
        </p:nvSpPr>
        <p:spPr>
          <a:xfrm>
            <a:off x="4523232" y="2743200"/>
            <a:ext cx="3142488" cy="685800"/>
          </a:xfrm>
          <a:prstGeom prst="rect">
            <a:avLst/>
          </a:prstGeom>
          <a:noFill/>
          <a:ln/>
        </p:spPr>
        <p:txBody>
          <a:bodyPr wrap="square" rtlCol="0" anchor="t"/>
          <a:lstStyle/>
          <a:p>
            <a:pPr indent="0" marL="0">
              <a:lnSpc>
                <a:spcPct val="115000"/>
              </a:lnSpc>
              <a:buNone/>
            </a:pPr>
            <a:r>
              <a:rPr lang="en-US" sz="1150" dirty="0">
                <a:solidFill>
                  <a:srgbClr val="5C6B84"/>
                </a:solidFill>
                <a:latin typeface="Calibri" pitchFamily="34" charset="0"/>
                <a:ea typeface="Calibri" pitchFamily="34" charset="-122"/>
                <a:cs typeface="Calibri" pitchFamily="34" charset="-120"/>
              </a:rPr>
              <a:t>Identify which TCP/UDP ports are open, closed, or filtered on a live host.</a:t>
            </a:r>
            <a:endParaRPr lang="en-US" sz="1150" dirty="0"/>
          </a:p>
        </p:txBody>
      </p:sp>
      <p:sp>
        <p:nvSpPr>
          <p:cNvPr id="15" name="Shape 13"/>
          <p:cNvSpPr/>
          <p:nvPr/>
        </p:nvSpPr>
        <p:spPr>
          <a:xfrm>
            <a:off x="8141208" y="1691640"/>
            <a:ext cx="3544824" cy="1874520"/>
          </a:xfrm>
          <a:prstGeom prst="roundRect">
            <a:avLst>
              <a:gd name="adj" fmla="val 3902"/>
            </a:avLst>
          </a:prstGeom>
          <a:solidFill>
            <a:srgbClr val="F2F5F7"/>
          </a:solidFill>
          <a:ln/>
          <a:effectLst>
            <a:outerShdw sx="100000" sy="100000" kx="0" ky="0" algn="bl" rotWithShape="0" blurRad="76200" dist="25400" dir="5400000">
              <a:srgbClr val="000000">
                <a:alpha val="12000"/>
              </a:srgbClr>
            </a:outerShdw>
          </a:effectLst>
        </p:spPr>
      </p:sp>
      <p:sp>
        <p:nvSpPr>
          <p:cNvPr id="16" name="Shape 14"/>
          <p:cNvSpPr/>
          <p:nvPr/>
        </p:nvSpPr>
        <p:spPr>
          <a:xfrm>
            <a:off x="8342376" y="1874520"/>
            <a:ext cx="384048" cy="384048"/>
          </a:xfrm>
          <a:prstGeom prst="ellipse">
            <a:avLst/>
          </a:prstGeom>
          <a:solidFill>
            <a:srgbClr val="1E9E6A"/>
          </a:solidFill>
          <a:ln/>
        </p:spPr>
      </p:sp>
      <p:sp>
        <p:nvSpPr>
          <p:cNvPr id="17" name="Text 15"/>
          <p:cNvSpPr/>
          <p:nvPr/>
        </p:nvSpPr>
        <p:spPr>
          <a:xfrm>
            <a:off x="8342376" y="1874520"/>
            <a:ext cx="384048" cy="384048"/>
          </a:xfrm>
          <a:prstGeom prst="rect">
            <a:avLst/>
          </a:prstGeom>
          <a:noFill/>
          <a:ln/>
        </p:spPr>
        <p:txBody>
          <a:bodyPr wrap="square" rtlCol="0" anchor="ctr"/>
          <a:lstStyle/>
          <a:p>
            <a:pPr algn="ctr" indent="0" marL="0">
              <a:buNone/>
            </a:pPr>
            <a:r>
              <a:rPr lang="en-US" sz="1600" b="1" dirty="0">
                <a:solidFill>
                  <a:srgbClr val="0B132B"/>
                </a:solidFill>
                <a:latin typeface="Calibri" pitchFamily="34" charset="0"/>
                <a:ea typeface="Calibri" pitchFamily="34" charset="-122"/>
                <a:cs typeface="Calibri" pitchFamily="34" charset="-120"/>
              </a:rPr>
              <a:t>3</a:t>
            </a:r>
            <a:endParaRPr lang="en-US" sz="1600" dirty="0"/>
          </a:p>
        </p:txBody>
      </p:sp>
      <p:sp>
        <p:nvSpPr>
          <p:cNvPr id="18" name="Text 16"/>
          <p:cNvSpPr/>
          <p:nvPr/>
        </p:nvSpPr>
        <p:spPr>
          <a:xfrm>
            <a:off x="8342376" y="2377440"/>
            <a:ext cx="3142488" cy="365760"/>
          </a:xfrm>
          <a:prstGeom prst="rect">
            <a:avLst/>
          </a:prstGeom>
          <a:noFill/>
          <a:ln/>
        </p:spPr>
        <p:txBody>
          <a:bodyPr wrap="square" rtlCol="0" anchor="ctr"/>
          <a:lstStyle/>
          <a:p>
            <a:pPr indent="0" marL="0">
              <a:buNone/>
            </a:pPr>
            <a:r>
              <a:rPr lang="en-US" sz="1500" b="1" dirty="0">
                <a:solidFill>
                  <a:srgbClr val="16213E"/>
                </a:solidFill>
                <a:latin typeface="Calibri" pitchFamily="34" charset="0"/>
                <a:ea typeface="Calibri" pitchFamily="34" charset="-122"/>
                <a:cs typeface="Calibri" pitchFamily="34" charset="-120"/>
              </a:rPr>
              <a:t>Service / Version Detection</a:t>
            </a:r>
            <a:endParaRPr lang="en-US" sz="1500" dirty="0"/>
          </a:p>
        </p:txBody>
      </p:sp>
      <p:sp>
        <p:nvSpPr>
          <p:cNvPr id="19" name="Text 17"/>
          <p:cNvSpPr/>
          <p:nvPr/>
        </p:nvSpPr>
        <p:spPr>
          <a:xfrm>
            <a:off x="8342376" y="2743200"/>
            <a:ext cx="3142488" cy="685800"/>
          </a:xfrm>
          <a:prstGeom prst="rect">
            <a:avLst/>
          </a:prstGeom>
          <a:noFill/>
          <a:ln/>
        </p:spPr>
        <p:txBody>
          <a:bodyPr wrap="square" rtlCol="0" anchor="t"/>
          <a:lstStyle/>
          <a:p>
            <a:pPr indent="0" marL="0">
              <a:lnSpc>
                <a:spcPct val="115000"/>
              </a:lnSpc>
              <a:buNone/>
            </a:pPr>
            <a:r>
              <a:rPr lang="en-US" sz="1150" dirty="0">
                <a:solidFill>
                  <a:srgbClr val="5C6B84"/>
                </a:solidFill>
                <a:latin typeface="Calibri" pitchFamily="34" charset="0"/>
                <a:ea typeface="Calibri" pitchFamily="34" charset="-122"/>
                <a:cs typeface="Calibri" pitchFamily="34" charset="-120"/>
              </a:rPr>
              <a:t>Determine exactly what software (and version) is bound to each open port.</a:t>
            </a:r>
            <a:endParaRPr lang="en-US" sz="1150" dirty="0"/>
          </a:p>
        </p:txBody>
      </p:sp>
      <p:sp>
        <p:nvSpPr>
          <p:cNvPr id="20" name="Shape 18"/>
          <p:cNvSpPr/>
          <p:nvPr/>
        </p:nvSpPr>
        <p:spPr>
          <a:xfrm>
            <a:off x="502920" y="3840480"/>
            <a:ext cx="3544824" cy="1874520"/>
          </a:xfrm>
          <a:prstGeom prst="roundRect">
            <a:avLst>
              <a:gd name="adj" fmla="val 3902"/>
            </a:avLst>
          </a:prstGeom>
          <a:solidFill>
            <a:srgbClr val="F2F5F7"/>
          </a:solidFill>
          <a:ln/>
          <a:effectLst>
            <a:outerShdw sx="100000" sy="100000" kx="0" ky="0" algn="bl" rotWithShape="0" blurRad="76200" dist="25400" dir="5400000">
              <a:srgbClr val="000000">
                <a:alpha val="12000"/>
              </a:srgbClr>
            </a:outerShdw>
          </a:effectLst>
        </p:spPr>
      </p:sp>
      <p:sp>
        <p:nvSpPr>
          <p:cNvPr id="21" name="Shape 19"/>
          <p:cNvSpPr/>
          <p:nvPr/>
        </p:nvSpPr>
        <p:spPr>
          <a:xfrm>
            <a:off x="704088" y="4023360"/>
            <a:ext cx="384048" cy="384048"/>
          </a:xfrm>
          <a:prstGeom prst="ellipse">
            <a:avLst/>
          </a:prstGeom>
          <a:solidFill>
            <a:srgbClr val="1E9E6A"/>
          </a:solidFill>
          <a:ln/>
        </p:spPr>
      </p:sp>
      <p:sp>
        <p:nvSpPr>
          <p:cNvPr id="22" name="Text 20"/>
          <p:cNvSpPr/>
          <p:nvPr/>
        </p:nvSpPr>
        <p:spPr>
          <a:xfrm>
            <a:off x="704088" y="4023360"/>
            <a:ext cx="384048" cy="384048"/>
          </a:xfrm>
          <a:prstGeom prst="rect">
            <a:avLst/>
          </a:prstGeom>
          <a:noFill/>
          <a:ln/>
        </p:spPr>
        <p:txBody>
          <a:bodyPr wrap="square" rtlCol="0" anchor="ctr"/>
          <a:lstStyle/>
          <a:p>
            <a:pPr algn="ctr" indent="0" marL="0">
              <a:buNone/>
            </a:pPr>
            <a:r>
              <a:rPr lang="en-US" sz="1600" b="1" dirty="0">
                <a:solidFill>
                  <a:srgbClr val="0B132B"/>
                </a:solidFill>
                <a:latin typeface="Calibri" pitchFamily="34" charset="0"/>
                <a:ea typeface="Calibri" pitchFamily="34" charset="-122"/>
                <a:cs typeface="Calibri" pitchFamily="34" charset="-120"/>
              </a:rPr>
              <a:t>4</a:t>
            </a:r>
            <a:endParaRPr lang="en-US" sz="1600" dirty="0"/>
          </a:p>
        </p:txBody>
      </p:sp>
      <p:sp>
        <p:nvSpPr>
          <p:cNvPr id="23" name="Text 21"/>
          <p:cNvSpPr/>
          <p:nvPr/>
        </p:nvSpPr>
        <p:spPr>
          <a:xfrm>
            <a:off x="704088" y="4526280"/>
            <a:ext cx="3142488" cy="365760"/>
          </a:xfrm>
          <a:prstGeom prst="rect">
            <a:avLst/>
          </a:prstGeom>
          <a:noFill/>
          <a:ln/>
        </p:spPr>
        <p:txBody>
          <a:bodyPr wrap="square" rtlCol="0" anchor="ctr"/>
          <a:lstStyle/>
          <a:p>
            <a:pPr indent="0" marL="0">
              <a:buNone/>
            </a:pPr>
            <a:r>
              <a:rPr lang="en-US" sz="1500" b="1" dirty="0">
                <a:solidFill>
                  <a:srgbClr val="16213E"/>
                </a:solidFill>
                <a:latin typeface="Calibri" pitchFamily="34" charset="0"/>
                <a:ea typeface="Calibri" pitchFamily="34" charset="-122"/>
                <a:cs typeface="Calibri" pitchFamily="34" charset="-120"/>
              </a:rPr>
              <a:t>OS Fingerprinting</a:t>
            </a:r>
            <a:endParaRPr lang="en-US" sz="1500" dirty="0"/>
          </a:p>
        </p:txBody>
      </p:sp>
      <p:sp>
        <p:nvSpPr>
          <p:cNvPr id="24" name="Text 22"/>
          <p:cNvSpPr/>
          <p:nvPr/>
        </p:nvSpPr>
        <p:spPr>
          <a:xfrm>
            <a:off x="704088" y="4892040"/>
            <a:ext cx="3142488" cy="685800"/>
          </a:xfrm>
          <a:prstGeom prst="rect">
            <a:avLst/>
          </a:prstGeom>
          <a:noFill/>
          <a:ln/>
        </p:spPr>
        <p:txBody>
          <a:bodyPr wrap="square" rtlCol="0" anchor="t"/>
          <a:lstStyle/>
          <a:p>
            <a:pPr indent="0" marL="0">
              <a:lnSpc>
                <a:spcPct val="115000"/>
              </a:lnSpc>
              <a:buNone/>
            </a:pPr>
            <a:r>
              <a:rPr lang="en-US" sz="1150" dirty="0">
                <a:solidFill>
                  <a:srgbClr val="5C6B84"/>
                </a:solidFill>
                <a:latin typeface="Calibri" pitchFamily="34" charset="0"/>
                <a:ea typeface="Calibri" pitchFamily="34" charset="-122"/>
                <a:cs typeface="Calibri" pitchFamily="34" charset="-120"/>
              </a:rPr>
              <a:t>Infer the target's operating system from subtle TCP/IP stack behaviors.</a:t>
            </a:r>
            <a:endParaRPr lang="en-US" sz="1150" dirty="0"/>
          </a:p>
        </p:txBody>
      </p:sp>
      <p:sp>
        <p:nvSpPr>
          <p:cNvPr id="25" name="Shape 23"/>
          <p:cNvSpPr/>
          <p:nvPr/>
        </p:nvSpPr>
        <p:spPr>
          <a:xfrm>
            <a:off x="4322064" y="3840480"/>
            <a:ext cx="3544824" cy="1874520"/>
          </a:xfrm>
          <a:prstGeom prst="roundRect">
            <a:avLst>
              <a:gd name="adj" fmla="val 3902"/>
            </a:avLst>
          </a:prstGeom>
          <a:solidFill>
            <a:srgbClr val="F2F5F7"/>
          </a:solidFill>
          <a:ln/>
          <a:effectLst>
            <a:outerShdw sx="100000" sy="100000" kx="0" ky="0" algn="bl" rotWithShape="0" blurRad="76200" dist="25400" dir="5400000">
              <a:srgbClr val="000000">
                <a:alpha val="12000"/>
              </a:srgbClr>
            </a:outerShdw>
          </a:effectLst>
        </p:spPr>
      </p:sp>
      <p:sp>
        <p:nvSpPr>
          <p:cNvPr id="26" name="Shape 24"/>
          <p:cNvSpPr/>
          <p:nvPr/>
        </p:nvSpPr>
        <p:spPr>
          <a:xfrm>
            <a:off x="4523232" y="4023360"/>
            <a:ext cx="384048" cy="384048"/>
          </a:xfrm>
          <a:prstGeom prst="ellipse">
            <a:avLst/>
          </a:prstGeom>
          <a:solidFill>
            <a:srgbClr val="1E9E6A"/>
          </a:solidFill>
          <a:ln/>
        </p:spPr>
      </p:sp>
      <p:sp>
        <p:nvSpPr>
          <p:cNvPr id="27" name="Text 25"/>
          <p:cNvSpPr/>
          <p:nvPr/>
        </p:nvSpPr>
        <p:spPr>
          <a:xfrm>
            <a:off x="4523232" y="4023360"/>
            <a:ext cx="384048" cy="384048"/>
          </a:xfrm>
          <a:prstGeom prst="rect">
            <a:avLst/>
          </a:prstGeom>
          <a:noFill/>
          <a:ln/>
        </p:spPr>
        <p:txBody>
          <a:bodyPr wrap="square" rtlCol="0" anchor="ctr"/>
          <a:lstStyle/>
          <a:p>
            <a:pPr algn="ctr" indent="0" marL="0">
              <a:buNone/>
            </a:pPr>
            <a:r>
              <a:rPr lang="en-US" sz="1600" b="1" dirty="0">
                <a:solidFill>
                  <a:srgbClr val="0B132B"/>
                </a:solidFill>
                <a:latin typeface="Calibri" pitchFamily="34" charset="0"/>
                <a:ea typeface="Calibri" pitchFamily="34" charset="-122"/>
                <a:cs typeface="Calibri" pitchFamily="34" charset="-120"/>
              </a:rPr>
              <a:t>5</a:t>
            </a:r>
            <a:endParaRPr lang="en-US" sz="1600" dirty="0"/>
          </a:p>
        </p:txBody>
      </p:sp>
      <p:sp>
        <p:nvSpPr>
          <p:cNvPr id="28" name="Text 26"/>
          <p:cNvSpPr/>
          <p:nvPr/>
        </p:nvSpPr>
        <p:spPr>
          <a:xfrm>
            <a:off x="4523232" y="4526280"/>
            <a:ext cx="3142488" cy="365760"/>
          </a:xfrm>
          <a:prstGeom prst="rect">
            <a:avLst/>
          </a:prstGeom>
          <a:noFill/>
          <a:ln/>
        </p:spPr>
        <p:txBody>
          <a:bodyPr wrap="square" rtlCol="0" anchor="ctr"/>
          <a:lstStyle/>
          <a:p>
            <a:pPr indent="0" marL="0">
              <a:buNone/>
            </a:pPr>
            <a:r>
              <a:rPr lang="en-US" sz="1500" b="1" dirty="0">
                <a:solidFill>
                  <a:srgbClr val="16213E"/>
                </a:solidFill>
                <a:latin typeface="Calibri" pitchFamily="34" charset="0"/>
                <a:ea typeface="Calibri" pitchFamily="34" charset="-122"/>
                <a:cs typeface="Calibri" pitchFamily="34" charset="-120"/>
              </a:rPr>
              <a:t>Vulnerability Scanning</a:t>
            </a:r>
            <a:endParaRPr lang="en-US" sz="1500" dirty="0"/>
          </a:p>
        </p:txBody>
      </p:sp>
      <p:sp>
        <p:nvSpPr>
          <p:cNvPr id="29" name="Text 27"/>
          <p:cNvSpPr/>
          <p:nvPr/>
        </p:nvSpPr>
        <p:spPr>
          <a:xfrm>
            <a:off x="4523232" y="4892040"/>
            <a:ext cx="3142488" cy="685800"/>
          </a:xfrm>
          <a:prstGeom prst="rect">
            <a:avLst/>
          </a:prstGeom>
          <a:noFill/>
          <a:ln/>
        </p:spPr>
        <p:txBody>
          <a:bodyPr wrap="square" rtlCol="0" anchor="t"/>
          <a:lstStyle/>
          <a:p>
            <a:pPr indent="0" marL="0">
              <a:lnSpc>
                <a:spcPct val="115000"/>
              </a:lnSpc>
              <a:buNone/>
            </a:pPr>
            <a:r>
              <a:rPr lang="en-US" sz="1150" dirty="0">
                <a:solidFill>
                  <a:srgbClr val="5C6B84"/>
                </a:solidFill>
                <a:latin typeface="Calibri" pitchFamily="34" charset="0"/>
                <a:ea typeface="Calibri" pitchFamily="34" charset="-122"/>
                <a:cs typeface="Calibri" pitchFamily="34" charset="-120"/>
              </a:rPr>
              <a:t>Match discovered services/versions against known CVEs using automated scripts.</a:t>
            </a:r>
            <a:endParaRPr lang="en-US" sz="1150" dirty="0"/>
          </a:p>
        </p:txBody>
      </p:sp>
      <p:sp>
        <p:nvSpPr>
          <p:cNvPr id="30" name="Shape 28"/>
          <p:cNvSpPr/>
          <p:nvPr/>
        </p:nvSpPr>
        <p:spPr>
          <a:xfrm>
            <a:off x="8141208" y="3840480"/>
            <a:ext cx="3544824" cy="1874520"/>
          </a:xfrm>
          <a:prstGeom prst="roundRect">
            <a:avLst>
              <a:gd name="adj" fmla="val 3902"/>
            </a:avLst>
          </a:prstGeom>
          <a:solidFill>
            <a:srgbClr val="F2F5F7"/>
          </a:solidFill>
          <a:ln/>
          <a:effectLst>
            <a:outerShdw sx="100000" sy="100000" kx="0" ky="0" algn="bl" rotWithShape="0" blurRad="76200" dist="25400" dir="5400000">
              <a:srgbClr val="000000">
                <a:alpha val="12000"/>
              </a:srgbClr>
            </a:outerShdw>
          </a:effectLst>
        </p:spPr>
      </p:sp>
      <p:sp>
        <p:nvSpPr>
          <p:cNvPr id="31" name="Shape 29"/>
          <p:cNvSpPr/>
          <p:nvPr/>
        </p:nvSpPr>
        <p:spPr>
          <a:xfrm>
            <a:off x="8342376" y="4023360"/>
            <a:ext cx="384048" cy="384048"/>
          </a:xfrm>
          <a:prstGeom prst="ellipse">
            <a:avLst/>
          </a:prstGeom>
          <a:solidFill>
            <a:srgbClr val="1E9E6A"/>
          </a:solidFill>
          <a:ln/>
        </p:spPr>
      </p:sp>
      <p:sp>
        <p:nvSpPr>
          <p:cNvPr id="32" name="Text 30"/>
          <p:cNvSpPr/>
          <p:nvPr/>
        </p:nvSpPr>
        <p:spPr>
          <a:xfrm>
            <a:off x="8342376" y="4023360"/>
            <a:ext cx="384048" cy="384048"/>
          </a:xfrm>
          <a:prstGeom prst="rect">
            <a:avLst/>
          </a:prstGeom>
          <a:noFill/>
          <a:ln/>
        </p:spPr>
        <p:txBody>
          <a:bodyPr wrap="square" rtlCol="0" anchor="ctr"/>
          <a:lstStyle/>
          <a:p>
            <a:pPr algn="ctr" indent="0" marL="0">
              <a:buNone/>
            </a:pPr>
            <a:r>
              <a:rPr lang="en-US" sz="1600" b="1" dirty="0">
                <a:solidFill>
                  <a:srgbClr val="0B132B"/>
                </a:solidFill>
                <a:latin typeface="Calibri" pitchFamily="34" charset="0"/>
                <a:ea typeface="Calibri" pitchFamily="34" charset="-122"/>
                <a:cs typeface="Calibri" pitchFamily="34" charset="-120"/>
              </a:rPr>
              <a:t>6</a:t>
            </a:r>
            <a:endParaRPr lang="en-US" sz="1600" dirty="0"/>
          </a:p>
        </p:txBody>
      </p:sp>
      <p:sp>
        <p:nvSpPr>
          <p:cNvPr id="33" name="Text 31"/>
          <p:cNvSpPr/>
          <p:nvPr/>
        </p:nvSpPr>
        <p:spPr>
          <a:xfrm>
            <a:off x="8342376" y="4526280"/>
            <a:ext cx="3142488" cy="365760"/>
          </a:xfrm>
          <a:prstGeom prst="rect">
            <a:avLst/>
          </a:prstGeom>
          <a:noFill/>
          <a:ln/>
        </p:spPr>
        <p:txBody>
          <a:bodyPr wrap="square" rtlCol="0" anchor="ctr"/>
          <a:lstStyle/>
          <a:p>
            <a:pPr indent="0" marL="0">
              <a:buNone/>
            </a:pPr>
            <a:r>
              <a:rPr lang="en-US" sz="1500" b="1" dirty="0">
                <a:solidFill>
                  <a:srgbClr val="16213E"/>
                </a:solidFill>
                <a:latin typeface="Calibri" pitchFamily="34" charset="0"/>
                <a:ea typeface="Calibri" pitchFamily="34" charset="-122"/>
                <a:cs typeface="Calibri" pitchFamily="34" charset="-120"/>
              </a:rPr>
              <a:t>Deep Enumeration</a:t>
            </a:r>
            <a:endParaRPr lang="en-US" sz="1500" dirty="0"/>
          </a:p>
        </p:txBody>
      </p:sp>
      <p:sp>
        <p:nvSpPr>
          <p:cNvPr id="34" name="Text 32"/>
          <p:cNvSpPr/>
          <p:nvPr/>
        </p:nvSpPr>
        <p:spPr>
          <a:xfrm>
            <a:off x="8342376" y="4892040"/>
            <a:ext cx="3142488" cy="685800"/>
          </a:xfrm>
          <a:prstGeom prst="rect">
            <a:avLst/>
          </a:prstGeom>
          <a:noFill/>
          <a:ln/>
        </p:spPr>
        <p:txBody>
          <a:bodyPr wrap="square" rtlCol="0" anchor="t"/>
          <a:lstStyle/>
          <a:p>
            <a:pPr indent="0" marL="0">
              <a:lnSpc>
                <a:spcPct val="115000"/>
              </a:lnSpc>
              <a:buNone/>
            </a:pPr>
            <a:r>
              <a:rPr lang="en-US" sz="1150" dirty="0">
                <a:solidFill>
                  <a:srgbClr val="5C6B84"/>
                </a:solidFill>
                <a:latin typeface="Calibri" pitchFamily="34" charset="0"/>
                <a:ea typeface="Calibri" pitchFamily="34" charset="-122"/>
                <a:cs typeface="Calibri" pitchFamily="34" charset="-120"/>
              </a:rPr>
              <a:t>Manually or semi-automatically extract usable data: shares, users, records, configs.</a:t>
            </a:r>
            <a:endParaRPr lang="en-US" sz="1150" dirty="0"/>
          </a:p>
        </p:txBody>
      </p:sp>
      <p:sp>
        <p:nvSpPr>
          <p:cNvPr id="35" name="Text 33"/>
          <p:cNvSpPr/>
          <p:nvPr/>
        </p:nvSpPr>
        <p:spPr>
          <a:xfrm>
            <a:off x="11365992" y="6446520"/>
            <a:ext cx="457200" cy="274320"/>
          </a:xfrm>
          <a:prstGeom prst="rect">
            <a:avLst/>
          </a:prstGeom>
          <a:noFill/>
          <a:ln/>
        </p:spPr>
        <p:txBody>
          <a:bodyPr wrap="square" rtlCol="0" anchor="ctr"/>
          <a:lstStyle/>
          <a:p>
            <a:pPr algn="r" indent="0" marL="0">
              <a:buNone/>
            </a:pPr>
            <a:r>
              <a:rPr lang="en-US" sz="1000" dirty="0">
                <a:solidFill>
                  <a:srgbClr val="8892A6"/>
                </a:solidFill>
                <a:latin typeface="Courier New" pitchFamily="34" charset="0"/>
                <a:ea typeface="Courier New" pitchFamily="34" charset="-122"/>
                <a:cs typeface="Courier New"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32B"/>
        </a:solidFill>
      </p:bgPr>
    </p:bg>
    <p:spTree>
      <p:nvGrpSpPr>
        <p:cNvPr id="1" name=""/>
        <p:cNvGrpSpPr/>
        <p:nvPr/>
      </p:nvGrpSpPr>
      <p:grpSpPr>
        <a:xfrm>
          <a:off x="0" y="0"/>
          <a:ext cx="0" cy="0"/>
          <a:chOff x="0" y="0"/>
          <a:chExt cx="0" cy="0"/>
        </a:xfrm>
      </p:grpSpPr>
      <p:sp>
        <p:nvSpPr>
          <p:cNvPr id="2" name="Text 0"/>
          <p:cNvSpPr/>
          <p:nvPr/>
        </p:nvSpPr>
        <p:spPr>
          <a:xfrm>
            <a:off x="502920" y="914400"/>
            <a:ext cx="5486400" cy="365760"/>
          </a:xfrm>
          <a:prstGeom prst="rect">
            <a:avLst/>
          </a:prstGeom>
          <a:noFill/>
          <a:ln/>
        </p:spPr>
        <p:txBody>
          <a:bodyPr wrap="square" rtlCol="0" anchor="ctr"/>
          <a:lstStyle/>
          <a:p>
            <a:pPr indent="0" marL="0">
              <a:buNone/>
            </a:pPr>
            <a:r>
              <a:rPr lang="en-US" sz="1300" b="1" spc="200" kern="0" dirty="0">
                <a:solidFill>
                  <a:srgbClr val="2FD48C"/>
                </a:solidFill>
                <a:latin typeface="Calibri" pitchFamily="34" charset="0"/>
                <a:ea typeface="Calibri" pitchFamily="34" charset="-122"/>
                <a:cs typeface="Calibri" pitchFamily="34" charset="-120"/>
              </a:rPr>
              <a:t>SECTION 02</a:t>
            </a:r>
            <a:endParaRPr lang="en-US" sz="1300" dirty="0"/>
          </a:p>
        </p:txBody>
      </p:sp>
      <p:sp>
        <p:nvSpPr>
          <p:cNvPr id="3" name="Text 1"/>
          <p:cNvSpPr/>
          <p:nvPr/>
        </p:nvSpPr>
        <p:spPr>
          <a:xfrm>
            <a:off x="502920" y="1371600"/>
            <a:ext cx="7315200" cy="1005840"/>
          </a:xfrm>
          <a:prstGeom prst="rect">
            <a:avLst/>
          </a:prstGeom>
          <a:noFill/>
          <a:ln/>
        </p:spPr>
        <p:txBody>
          <a:bodyPr wrap="square"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Meet Nmap</a:t>
            </a:r>
            <a:endParaRPr lang="en-US" sz="4200" dirty="0"/>
          </a:p>
        </p:txBody>
      </p:sp>
      <p:sp>
        <p:nvSpPr>
          <p:cNvPr id="4" name="Text 2"/>
          <p:cNvSpPr/>
          <p:nvPr/>
        </p:nvSpPr>
        <p:spPr>
          <a:xfrm>
            <a:off x="502920" y="2286000"/>
            <a:ext cx="6217920" cy="822960"/>
          </a:xfrm>
          <a:prstGeom prst="rect">
            <a:avLst/>
          </a:prstGeom>
          <a:noFill/>
          <a:ln/>
        </p:spPr>
        <p:txBody>
          <a:bodyPr wrap="square" rtlCol="0" anchor="ctr"/>
          <a:lstStyle/>
          <a:p>
            <a:pPr indent="0" marL="0">
              <a:lnSpc>
                <a:spcPct val="125000"/>
              </a:lnSpc>
              <a:buNone/>
            </a:pPr>
            <a:r>
              <a:rPr lang="en-US" sz="1500" dirty="0">
                <a:solidFill>
                  <a:srgbClr val="AEB8C4"/>
                </a:solidFill>
                <a:latin typeface="Calibri" pitchFamily="34" charset="0"/>
                <a:ea typeface="Calibri" pitchFamily="34" charset="-122"/>
                <a:cs typeface="Calibri" pitchFamily="34" charset="-120"/>
              </a:rPr>
              <a:t>The “Swiss Army knife” of network scanning — and the single tool you'll reach for most in this course.</a:t>
            </a:r>
            <a:endParaRPr lang="en-US" sz="1500" dirty="0"/>
          </a:p>
        </p:txBody>
      </p:sp>
      <p:sp>
        <p:nvSpPr>
          <p:cNvPr id="5" name="Shape 3"/>
          <p:cNvSpPr/>
          <p:nvPr/>
        </p:nvSpPr>
        <p:spPr>
          <a:xfrm>
            <a:off x="502920" y="4160520"/>
            <a:ext cx="2468880" cy="1417320"/>
          </a:xfrm>
          <a:prstGeom prst="roundRect">
            <a:avLst>
              <a:gd name="adj" fmla="val 5161"/>
            </a:avLst>
          </a:prstGeom>
          <a:solidFill>
            <a:srgbClr val="1C2541"/>
          </a:solidFill>
          <a:ln/>
        </p:spPr>
      </p:sp>
      <p:sp>
        <p:nvSpPr>
          <p:cNvPr id="6" name="Text 4"/>
          <p:cNvSpPr/>
          <p:nvPr/>
        </p:nvSpPr>
        <p:spPr>
          <a:xfrm>
            <a:off x="502920" y="4297680"/>
            <a:ext cx="2468880" cy="594360"/>
          </a:xfrm>
          <a:prstGeom prst="rect">
            <a:avLst/>
          </a:prstGeom>
          <a:noFill/>
          <a:ln/>
        </p:spPr>
        <p:txBody>
          <a:bodyPr wrap="square" rtlCol="0" anchor="ctr"/>
          <a:lstStyle/>
          <a:p>
            <a:pPr algn="ctr" indent="0" marL="0">
              <a:buNone/>
            </a:pPr>
            <a:r>
              <a:rPr lang="en-US" sz="2400" b="1" dirty="0">
                <a:solidFill>
                  <a:srgbClr val="2FD48C"/>
                </a:solidFill>
                <a:latin typeface="Calibri" pitchFamily="34" charset="0"/>
                <a:ea typeface="Calibri" pitchFamily="34" charset="-122"/>
                <a:cs typeface="Calibri" pitchFamily="34" charset="-120"/>
              </a:rPr>
              <a:t>1997</a:t>
            </a:r>
            <a:endParaRPr lang="en-US" sz="2400" dirty="0"/>
          </a:p>
        </p:txBody>
      </p:sp>
      <p:sp>
        <p:nvSpPr>
          <p:cNvPr id="7" name="Text 5"/>
          <p:cNvSpPr/>
          <p:nvPr/>
        </p:nvSpPr>
        <p:spPr>
          <a:xfrm>
            <a:off x="502920" y="4892040"/>
            <a:ext cx="2468880" cy="548640"/>
          </a:xfrm>
          <a:prstGeom prst="rect">
            <a:avLst/>
          </a:prstGeom>
          <a:noFill/>
          <a:ln/>
        </p:spPr>
        <p:txBody>
          <a:bodyPr wrap="square" rtlCol="0" anchor="t"/>
          <a:lstStyle/>
          <a:p>
            <a:pPr algn="ctr" indent="0" marL="0">
              <a:buNone/>
            </a:pPr>
            <a:r>
              <a:rPr lang="en-US" sz="1100" dirty="0">
                <a:solidFill>
                  <a:srgbClr val="AEB8C4"/>
                </a:solidFill>
                <a:latin typeface="Calibri" pitchFamily="34" charset="0"/>
                <a:ea typeface="Calibri" pitchFamily="34" charset="-122"/>
                <a:cs typeface="Calibri" pitchFamily="34" charset="-120"/>
              </a:rPr>
              <a:t>First released</a:t>
            </a:r>
            <a:endParaRPr lang="en-US" sz="1100" dirty="0"/>
          </a:p>
        </p:txBody>
      </p:sp>
      <p:sp>
        <p:nvSpPr>
          <p:cNvPr id="8" name="Shape 6"/>
          <p:cNvSpPr/>
          <p:nvPr/>
        </p:nvSpPr>
        <p:spPr>
          <a:xfrm>
            <a:off x="3246120" y="4160520"/>
            <a:ext cx="2468880" cy="1417320"/>
          </a:xfrm>
          <a:prstGeom prst="roundRect">
            <a:avLst>
              <a:gd name="adj" fmla="val 5161"/>
            </a:avLst>
          </a:prstGeom>
          <a:solidFill>
            <a:srgbClr val="1C2541"/>
          </a:solidFill>
          <a:ln/>
        </p:spPr>
      </p:sp>
      <p:sp>
        <p:nvSpPr>
          <p:cNvPr id="9" name="Text 7"/>
          <p:cNvSpPr/>
          <p:nvPr/>
        </p:nvSpPr>
        <p:spPr>
          <a:xfrm>
            <a:off x="3246120" y="4297680"/>
            <a:ext cx="2468880" cy="594360"/>
          </a:xfrm>
          <a:prstGeom prst="rect">
            <a:avLst/>
          </a:prstGeom>
          <a:noFill/>
          <a:ln/>
        </p:spPr>
        <p:txBody>
          <a:bodyPr wrap="square" rtlCol="0" anchor="ctr"/>
          <a:lstStyle/>
          <a:p>
            <a:pPr algn="ctr" indent="0" marL="0">
              <a:buNone/>
            </a:pPr>
            <a:r>
              <a:rPr lang="en-US" sz="2400" b="1" dirty="0">
                <a:solidFill>
                  <a:srgbClr val="2FD48C"/>
                </a:solidFill>
                <a:latin typeface="Calibri" pitchFamily="34" charset="0"/>
                <a:ea typeface="Calibri" pitchFamily="34" charset="-122"/>
                <a:cs typeface="Calibri" pitchFamily="34" charset="-120"/>
              </a:rPr>
              <a:t>600+</a:t>
            </a:r>
            <a:endParaRPr lang="en-US" sz="2400" dirty="0"/>
          </a:p>
        </p:txBody>
      </p:sp>
      <p:sp>
        <p:nvSpPr>
          <p:cNvPr id="10" name="Text 8"/>
          <p:cNvSpPr/>
          <p:nvPr/>
        </p:nvSpPr>
        <p:spPr>
          <a:xfrm>
            <a:off x="3246120" y="4892040"/>
            <a:ext cx="2468880" cy="548640"/>
          </a:xfrm>
          <a:prstGeom prst="rect">
            <a:avLst/>
          </a:prstGeom>
          <a:noFill/>
          <a:ln/>
        </p:spPr>
        <p:txBody>
          <a:bodyPr wrap="square" rtlCol="0" anchor="t"/>
          <a:lstStyle/>
          <a:p>
            <a:pPr algn="ctr" indent="0" marL="0">
              <a:buNone/>
            </a:pPr>
            <a:r>
              <a:rPr lang="en-US" sz="1100" dirty="0">
                <a:solidFill>
                  <a:srgbClr val="AEB8C4"/>
                </a:solidFill>
                <a:latin typeface="Calibri" pitchFamily="34" charset="0"/>
                <a:ea typeface="Calibri" pitchFamily="34" charset="-122"/>
                <a:cs typeface="Calibri" pitchFamily="34" charset="-120"/>
              </a:rPr>
              <a:t>NSE scripts bundled</a:t>
            </a:r>
            <a:endParaRPr lang="en-US" sz="1100" dirty="0"/>
          </a:p>
        </p:txBody>
      </p:sp>
      <p:sp>
        <p:nvSpPr>
          <p:cNvPr id="11" name="Shape 9"/>
          <p:cNvSpPr/>
          <p:nvPr/>
        </p:nvSpPr>
        <p:spPr>
          <a:xfrm>
            <a:off x="5989320" y="4160520"/>
            <a:ext cx="2468880" cy="1417320"/>
          </a:xfrm>
          <a:prstGeom prst="roundRect">
            <a:avLst>
              <a:gd name="adj" fmla="val 5161"/>
            </a:avLst>
          </a:prstGeom>
          <a:solidFill>
            <a:srgbClr val="1C2541"/>
          </a:solidFill>
          <a:ln/>
        </p:spPr>
      </p:sp>
      <p:sp>
        <p:nvSpPr>
          <p:cNvPr id="12" name="Text 10"/>
          <p:cNvSpPr/>
          <p:nvPr/>
        </p:nvSpPr>
        <p:spPr>
          <a:xfrm>
            <a:off x="5989320" y="4297680"/>
            <a:ext cx="2468880" cy="594360"/>
          </a:xfrm>
          <a:prstGeom prst="rect">
            <a:avLst/>
          </a:prstGeom>
          <a:noFill/>
          <a:ln/>
        </p:spPr>
        <p:txBody>
          <a:bodyPr wrap="square" rtlCol="0" anchor="ctr"/>
          <a:lstStyle/>
          <a:p>
            <a:pPr algn="ctr" indent="0" marL="0">
              <a:buNone/>
            </a:pPr>
            <a:r>
              <a:rPr lang="en-US" sz="2400" b="1" dirty="0">
                <a:solidFill>
                  <a:srgbClr val="2FD48C"/>
                </a:solidFill>
                <a:latin typeface="Calibri" pitchFamily="34" charset="0"/>
                <a:ea typeface="Calibri" pitchFamily="34" charset="-122"/>
                <a:cs typeface="Calibri" pitchFamily="34" charset="-120"/>
              </a:rPr>
              <a:t>100%</a:t>
            </a:r>
            <a:endParaRPr lang="en-US" sz="2400" dirty="0"/>
          </a:p>
        </p:txBody>
      </p:sp>
      <p:sp>
        <p:nvSpPr>
          <p:cNvPr id="13" name="Text 11"/>
          <p:cNvSpPr/>
          <p:nvPr/>
        </p:nvSpPr>
        <p:spPr>
          <a:xfrm>
            <a:off x="5989320" y="4892040"/>
            <a:ext cx="2468880" cy="548640"/>
          </a:xfrm>
          <a:prstGeom prst="rect">
            <a:avLst/>
          </a:prstGeom>
          <a:noFill/>
          <a:ln/>
        </p:spPr>
        <p:txBody>
          <a:bodyPr wrap="square" rtlCol="0" anchor="t"/>
          <a:lstStyle/>
          <a:p>
            <a:pPr algn="ctr" indent="0" marL="0">
              <a:buNone/>
            </a:pPr>
            <a:r>
              <a:rPr lang="en-US" sz="1100" dirty="0">
                <a:solidFill>
                  <a:srgbClr val="AEB8C4"/>
                </a:solidFill>
                <a:latin typeface="Calibri" pitchFamily="34" charset="0"/>
                <a:ea typeface="Calibri" pitchFamily="34" charset="-122"/>
                <a:cs typeface="Calibri" pitchFamily="34" charset="-120"/>
              </a:rPr>
              <a:t>Free &amp; open source</a:t>
            </a:r>
            <a:endParaRPr lang="en-US" sz="1100" dirty="0"/>
          </a:p>
        </p:txBody>
      </p:sp>
      <p:sp>
        <p:nvSpPr>
          <p:cNvPr id="14" name="Shape 12"/>
          <p:cNvSpPr/>
          <p:nvPr/>
        </p:nvSpPr>
        <p:spPr>
          <a:xfrm>
            <a:off x="8732520" y="4160520"/>
            <a:ext cx="2468880" cy="1417320"/>
          </a:xfrm>
          <a:prstGeom prst="roundRect">
            <a:avLst>
              <a:gd name="adj" fmla="val 5161"/>
            </a:avLst>
          </a:prstGeom>
          <a:solidFill>
            <a:srgbClr val="1C2541"/>
          </a:solidFill>
          <a:ln/>
        </p:spPr>
      </p:sp>
      <p:sp>
        <p:nvSpPr>
          <p:cNvPr id="15" name="Text 13"/>
          <p:cNvSpPr/>
          <p:nvPr/>
        </p:nvSpPr>
        <p:spPr>
          <a:xfrm>
            <a:off x="8732520" y="4297680"/>
            <a:ext cx="2468880" cy="594360"/>
          </a:xfrm>
          <a:prstGeom prst="rect">
            <a:avLst/>
          </a:prstGeom>
          <a:noFill/>
          <a:ln/>
        </p:spPr>
        <p:txBody>
          <a:bodyPr wrap="square" rtlCol="0" anchor="ctr"/>
          <a:lstStyle/>
          <a:p>
            <a:pPr algn="ctr" indent="0" marL="0">
              <a:buNone/>
            </a:pPr>
            <a:r>
              <a:rPr lang="en-US" sz="2400" b="1" dirty="0">
                <a:solidFill>
                  <a:srgbClr val="2FD48C"/>
                </a:solidFill>
                <a:latin typeface="Calibri" pitchFamily="34" charset="0"/>
                <a:ea typeface="Calibri" pitchFamily="34" charset="-122"/>
                <a:cs typeface="Calibri" pitchFamily="34" charset="-120"/>
              </a:rPr>
              <a:t>C/C++/Lua</a:t>
            </a:r>
            <a:endParaRPr lang="en-US" sz="2400" dirty="0"/>
          </a:p>
        </p:txBody>
      </p:sp>
      <p:sp>
        <p:nvSpPr>
          <p:cNvPr id="16" name="Text 14"/>
          <p:cNvSpPr/>
          <p:nvPr/>
        </p:nvSpPr>
        <p:spPr>
          <a:xfrm>
            <a:off x="8732520" y="4892040"/>
            <a:ext cx="2468880" cy="548640"/>
          </a:xfrm>
          <a:prstGeom prst="rect">
            <a:avLst/>
          </a:prstGeom>
          <a:noFill/>
          <a:ln/>
        </p:spPr>
        <p:txBody>
          <a:bodyPr wrap="square" rtlCol="0" anchor="t"/>
          <a:lstStyle/>
          <a:p>
            <a:pPr algn="ctr" indent="0" marL="0">
              <a:buNone/>
            </a:pPr>
            <a:r>
              <a:rPr lang="en-US" sz="1100" dirty="0">
                <a:solidFill>
                  <a:srgbClr val="AEB8C4"/>
                </a:solidFill>
                <a:latin typeface="Calibri" pitchFamily="34" charset="0"/>
                <a:ea typeface="Calibri" pitchFamily="34" charset="-122"/>
                <a:cs typeface="Calibri" pitchFamily="34" charset="-120"/>
              </a:rPr>
              <a:t>Core languages</a:t>
            </a:r>
            <a:endParaRPr lang="en-US" sz="1100" dirty="0"/>
          </a:p>
        </p:txBody>
      </p:sp>
      <p:sp>
        <p:nvSpPr>
          <p:cNvPr id="17" name="Text 15"/>
          <p:cNvSpPr/>
          <p:nvPr/>
        </p:nvSpPr>
        <p:spPr>
          <a:xfrm>
            <a:off x="11365992" y="6446520"/>
            <a:ext cx="457200" cy="274320"/>
          </a:xfrm>
          <a:prstGeom prst="rect">
            <a:avLst/>
          </a:prstGeom>
          <a:noFill/>
          <a:ln/>
        </p:spPr>
        <p:txBody>
          <a:bodyPr wrap="square" rtlCol="0" anchor="ctr"/>
          <a:lstStyle/>
          <a:p>
            <a:pPr algn="r" indent="0" marL="0">
              <a:buNone/>
            </a:pPr>
            <a:r>
              <a:rPr lang="en-US" sz="1000" dirty="0">
                <a:solidFill>
                  <a:srgbClr val="AEB8C4"/>
                </a:solidFill>
                <a:latin typeface="Courier New" pitchFamily="34" charset="0"/>
                <a:ea typeface="Courier New" pitchFamily="34" charset="-122"/>
                <a:cs typeface="Courier New"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rtlCol="0" anchor="ctr"/>
          <a:lstStyle/>
          <a:p>
            <a:pPr algn="l" indent="0" marL="0">
              <a:buNone/>
            </a:pPr>
            <a:r>
              <a:rPr lang="en-US" sz="1200" b="1" spc="200" kern="0" dirty="0">
                <a:solidFill>
                  <a:srgbClr val="1E9E6A"/>
                </a:solidFill>
                <a:latin typeface="Calibri" pitchFamily="34" charset="0"/>
                <a:ea typeface="Calibri" pitchFamily="34" charset="-122"/>
                <a:cs typeface="Calibri" pitchFamily="34" charset="-120"/>
              </a:rPr>
              <a:t>NMAP DEEP DIVE</a:t>
            </a:r>
            <a:endParaRPr lang="en-US" sz="1200" dirty="0"/>
          </a:p>
        </p:txBody>
      </p:sp>
      <p:sp>
        <p:nvSpPr>
          <p:cNvPr id="3" name="Text 1"/>
          <p:cNvSpPr/>
          <p:nvPr/>
        </p:nvSpPr>
        <p:spPr>
          <a:xfrm>
            <a:off x="502920" y="658368"/>
            <a:ext cx="10515600" cy="548640"/>
          </a:xfrm>
          <a:prstGeom prst="rect">
            <a:avLst/>
          </a:prstGeom>
          <a:noFill/>
          <a:ln/>
        </p:spPr>
        <p:txBody>
          <a:bodyPr wrap="square" rtlCol="0" anchor="ctr"/>
          <a:lstStyle/>
          <a:p>
            <a:pPr algn="l" indent="0" marL="0">
              <a:buNone/>
            </a:pPr>
            <a:r>
              <a:rPr lang="en-US" sz="3200" b="1" dirty="0">
                <a:solidFill>
                  <a:srgbClr val="16213E"/>
                </a:solidFill>
                <a:latin typeface="Calibri" pitchFamily="34" charset="0"/>
                <a:ea typeface="Calibri" pitchFamily="34" charset="-122"/>
                <a:cs typeface="Calibri" pitchFamily="34" charset="-120"/>
              </a:rPr>
              <a:t>Nmap Scan Types — TCP</a:t>
            </a:r>
            <a:endParaRPr lang="en-US" sz="3200" dirty="0"/>
          </a:p>
        </p:txBody>
      </p:sp>
      <p:sp>
        <p:nvSpPr>
          <p:cNvPr id="4" name="Text 2"/>
          <p:cNvSpPr/>
          <p:nvPr/>
        </p:nvSpPr>
        <p:spPr>
          <a:xfrm>
            <a:off x="502920" y="1161288"/>
            <a:ext cx="10515600" cy="365760"/>
          </a:xfrm>
          <a:prstGeom prst="rect">
            <a:avLst/>
          </a:prstGeom>
          <a:noFill/>
          <a:ln/>
        </p:spPr>
        <p:txBody>
          <a:bodyPr wrap="square" rtlCol="0" anchor="ctr"/>
          <a:lstStyle/>
          <a:p>
            <a:pPr algn="l" indent="0" marL="0">
              <a:buNone/>
            </a:pPr>
            <a:r>
              <a:rPr lang="en-US" sz="1400" dirty="0">
                <a:solidFill>
                  <a:srgbClr val="5C6B84"/>
                </a:solidFill>
                <a:latin typeface="Calibri" pitchFamily="34" charset="0"/>
                <a:ea typeface="Calibri" pitchFamily="34" charset="-122"/>
                <a:cs typeface="Calibri" pitchFamily="34" charset="-120"/>
              </a:rPr>
              <a:t>Choosing the right scan type is a stealth vs. accuracy trade-off</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828800"/>
          <a:ext cx="11183112" cy="914400"/>
        </p:xfrm>
        <a:graphic>
          <a:graphicData uri="http://schemas.openxmlformats.org/drawingml/2006/table">
            <a:tbl>
              <a:tblPr/>
              <a:tblGrid>
                <a:gridCol w="1554480"/>
                <a:gridCol w="1828800"/>
                <a:gridCol w="4663440"/>
                <a:gridCol w="3776472"/>
              </a:tblGrid>
              <a:tr h="457200">
                <a:tc>
                  <a:txBody>
                    <a:bodyPr/>
                    <a:lstStyle/>
                    <a:p>
                      <a:pPr algn="l" indent="0" marL="0">
                        <a:buNone/>
                      </a:pPr>
                      <a:r>
                        <a:rPr lang="en-US" sz="1250" b="1" dirty="0">
                          <a:solidFill>
                            <a:srgbClr val="FFFFFF"/>
                          </a:solidFill>
                        </a:rPr>
                        <a:t>Flag</a:t>
                      </a:r>
                      <a:endParaRPr lang="en-US" sz="1250" dirty="0"/>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C2541"/>
                    </a:solidFill>
                  </a:tcPr>
                </a:tc>
                <a:tc>
                  <a:txBody>
                    <a:bodyPr/>
                    <a:lstStyle/>
                    <a:p>
                      <a:pPr algn="l" indent="0" marL="0">
                        <a:buNone/>
                      </a:pPr>
                      <a:r>
                        <a:rPr lang="en-US" sz="1250" b="1" dirty="0">
                          <a:solidFill>
                            <a:srgbClr val="FFFFFF"/>
                          </a:solidFill>
                        </a:rPr>
                        <a:t>Name</a:t>
                      </a:r>
                      <a:endParaRPr lang="en-US" sz="1250" dirty="0"/>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C2541"/>
                    </a:solidFill>
                  </a:tcPr>
                </a:tc>
                <a:tc>
                  <a:txBody>
                    <a:bodyPr/>
                    <a:lstStyle/>
                    <a:p>
                      <a:pPr algn="l" indent="0" marL="0">
                        <a:buNone/>
                      </a:pPr>
                      <a:r>
                        <a:rPr lang="en-US" sz="1250" b="1" dirty="0">
                          <a:solidFill>
                            <a:srgbClr val="FFFFFF"/>
                          </a:solidFill>
                        </a:rPr>
                        <a:t>How it works</a:t>
                      </a:r>
                      <a:endParaRPr lang="en-US" sz="1250" dirty="0"/>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C2541"/>
                    </a:solidFill>
                  </a:tcPr>
                </a:tc>
                <a:tc>
                  <a:txBody>
                    <a:bodyPr/>
                    <a:lstStyle/>
                    <a:p>
                      <a:pPr algn="l" indent="0" marL="0">
                        <a:buNone/>
                      </a:pPr>
                      <a:r>
                        <a:rPr lang="en-US" sz="1250" b="1" dirty="0">
                          <a:solidFill>
                            <a:srgbClr val="FFFFFF"/>
                          </a:solidFill>
                        </a:rPr>
                        <a:t>Notes</a:t>
                      </a:r>
                      <a:endParaRPr lang="en-US" sz="1250" dirty="0"/>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C2541"/>
                    </a:solidFill>
                  </a:tcPr>
                </a:tc>
              </a:tr>
              <a:tr h="457200">
                <a:tc>
                  <a:txBody>
                    <a:bodyPr/>
                    <a:lstStyle/>
                    <a:p>
                      <a:pPr algn="l" indent="0" marL="0">
                        <a:buNone/>
                      </a:pPr>
                      <a:r>
                        <a:rPr lang="en-US" sz="1200" dirty="0">
                          <a:solidFill>
                            <a:srgbClr val="16213E"/>
                          </a:solidFill>
                          <a:latin typeface="Courier New" pitchFamily="34" charset="0"/>
                          <a:ea typeface="Courier New" pitchFamily="34" charset="-122"/>
                          <a:cs typeface="Courier New" pitchFamily="34" charset="-120"/>
                        </a:rPr>
                        <a:t>-sS</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SYN scan</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Sends SYN, reads response, never completes handshake</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Default w/ root; fast &amp; stealthy</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6213E"/>
                          </a:solidFill>
                          <a:latin typeface="Courier New" pitchFamily="34" charset="0"/>
                          <a:ea typeface="Courier New" pitchFamily="34" charset="-122"/>
                          <a:cs typeface="Courier New" pitchFamily="34" charset="-120"/>
                        </a:rPr>
                        <a:t>-sT</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Connect scan</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Completes full 3-way handshake via OS sockets</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No root needed; noisier, logged</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r>
              <a:tr h="457200">
                <a:tc>
                  <a:txBody>
                    <a:bodyPr/>
                    <a:lstStyle/>
                    <a:p>
                      <a:pPr algn="l" indent="0" marL="0">
                        <a:buNone/>
                      </a:pPr>
                      <a:r>
                        <a:rPr lang="en-US" sz="1200" dirty="0">
                          <a:solidFill>
                            <a:srgbClr val="16213E"/>
                          </a:solidFill>
                          <a:latin typeface="Courier New" pitchFamily="34" charset="0"/>
                          <a:ea typeface="Courier New" pitchFamily="34" charset="-122"/>
                          <a:cs typeface="Courier New" pitchFamily="34" charset="-120"/>
                        </a:rPr>
                        <a:t>-sA</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ACK scan</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Sends ACK only, used to map firewall rules</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Doesn't reveal open/closed, only filtered</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6213E"/>
                          </a:solidFill>
                          <a:latin typeface="Courier New" pitchFamily="34" charset="0"/>
                          <a:ea typeface="Courier New" pitchFamily="34" charset="-122"/>
                          <a:cs typeface="Courier New" pitchFamily="34" charset="-120"/>
                        </a:rPr>
                        <a:t>-sF / -sN / -sX</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FIN / Null / Xmas</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Sends unusual flag combos; relies on RFC 793 quirks</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Stealthier vs. some old stacks; unreliable on modern OSes</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r>
            </a:tbl>
          </a:graphicData>
        </a:graphic>
      </p:graphicFrame>
      <p:sp>
        <p:nvSpPr>
          <p:cNvPr id="6" name="Shape 3"/>
          <p:cNvSpPr/>
          <p:nvPr/>
        </p:nvSpPr>
        <p:spPr>
          <a:xfrm>
            <a:off x="502920" y="5029200"/>
            <a:ext cx="11183112" cy="1051560"/>
          </a:xfrm>
          <a:prstGeom prst="roundRect">
            <a:avLst>
              <a:gd name="adj" fmla="val 6957"/>
            </a:avLst>
          </a:prstGeom>
          <a:solidFill>
            <a:srgbClr val="EAF7F1"/>
          </a:solidFill>
          <a:ln/>
        </p:spPr>
      </p:sp>
      <p:sp>
        <p:nvSpPr>
          <p:cNvPr id="7" name="Text 4"/>
          <p:cNvSpPr/>
          <p:nvPr/>
        </p:nvSpPr>
        <p:spPr>
          <a:xfrm>
            <a:off x="731520" y="5193792"/>
            <a:ext cx="10725912" cy="731520"/>
          </a:xfrm>
          <a:prstGeom prst="rect">
            <a:avLst/>
          </a:prstGeom>
          <a:noFill/>
          <a:ln/>
        </p:spPr>
        <p:txBody>
          <a:bodyPr wrap="square" rtlCol="0" anchor="t"/>
          <a:lstStyle/>
          <a:p>
            <a:pPr indent="0" marL="0">
              <a:buNone/>
            </a:pPr>
            <a:r>
              <a:rPr lang="en-US" sz="1300" b="1" dirty="0">
                <a:solidFill>
                  <a:srgbClr val="1E9E6A"/>
                </a:solidFill>
                <a:latin typeface="Courier New" pitchFamily="34" charset="0"/>
                <a:ea typeface="Courier New" pitchFamily="34" charset="-122"/>
                <a:cs typeface="Courier New" pitchFamily="34" charset="-120"/>
              </a:rPr>
              <a:t>Command:  </a:t>
            </a:r>
            <a:pPr indent="0" marL="0">
              <a:buNone/>
            </a:pPr>
            <a:r>
              <a:rPr lang="en-US" sz="1300" dirty="0">
                <a:solidFill>
                  <a:srgbClr val="16213E"/>
                </a:solidFill>
                <a:latin typeface="Courier New" pitchFamily="34" charset="0"/>
                <a:ea typeface="Courier New" pitchFamily="34" charset="-122"/>
                <a:cs typeface="Courier New" pitchFamily="34" charset="-120"/>
              </a:rPr>
              <a:t>sudo nmap -sS 10.10.10.5</a:t>
            </a:r>
            <a:pPr indent="0" marL="0">
              <a:buNone/>
            </a:pPr>
            <a:r>
              <a:rPr lang="en-US" sz="1300" i="1" dirty="0">
                <a:solidFill>
                  <a:srgbClr val="5C6B84"/>
                </a:solidFill>
                <a:latin typeface="Calibri" pitchFamily="34" charset="0"/>
                <a:ea typeface="Calibri" pitchFamily="34" charset="-122"/>
                <a:cs typeface="Calibri" pitchFamily="34" charset="-120"/>
              </a:rPr>
              <a:t>     (SYN scans require raw-socket privileges — hence sudo)</a:t>
            </a:r>
            <a:endParaRPr lang="en-US" sz="1300" dirty="0"/>
          </a:p>
        </p:txBody>
      </p:sp>
      <p:sp>
        <p:nvSpPr>
          <p:cNvPr id="8" name="Text 5"/>
          <p:cNvSpPr/>
          <p:nvPr/>
        </p:nvSpPr>
        <p:spPr>
          <a:xfrm>
            <a:off x="11365992" y="6446520"/>
            <a:ext cx="457200" cy="274320"/>
          </a:xfrm>
          <a:prstGeom prst="rect">
            <a:avLst/>
          </a:prstGeom>
          <a:noFill/>
          <a:ln/>
        </p:spPr>
        <p:txBody>
          <a:bodyPr wrap="square" rtlCol="0" anchor="ctr"/>
          <a:lstStyle/>
          <a:p>
            <a:pPr algn="r" indent="0" marL="0">
              <a:buNone/>
            </a:pPr>
            <a:r>
              <a:rPr lang="en-US" sz="1000" dirty="0">
                <a:solidFill>
                  <a:srgbClr val="8892A6"/>
                </a:solidFill>
                <a:latin typeface="Courier New" pitchFamily="34" charset="0"/>
                <a:ea typeface="Courier New" pitchFamily="34" charset="-122"/>
                <a:cs typeface="Courier New"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rtlCol="0" anchor="ctr"/>
          <a:lstStyle/>
          <a:p>
            <a:pPr algn="l" indent="0" marL="0">
              <a:buNone/>
            </a:pPr>
            <a:r>
              <a:rPr lang="en-US" sz="1200" b="1" spc="200" kern="0" dirty="0">
                <a:solidFill>
                  <a:srgbClr val="1E9E6A"/>
                </a:solidFill>
                <a:latin typeface="Calibri" pitchFamily="34" charset="0"/>
                <a:ea typeface="Calibri" pitchFamily="34" charset="-122"/>
                <a:cs typeface="Calibri" pitchFamily="34" charset="-120"/>
              </a:rPr>
              <a:t>NMAP DEEP DIVE</a:t>
            </a:r>
            <a:endParaRPr lang="en-US" sz="1200" dirty="0"/>
          </a:p>
        </p:txBody>
      </p:sp>
      <p:sp>
        <p:nvSpPr>
          <p:cNvPr id="3" name="Text 1"/>
          <p:cNvSpPr/>
          <p:nvPr/>
        </p:nvSpPr>
        <p:spPr>
          <a:xfrm>
            <a:off x="502920" y="658368"/>
            <a:ext cx="10515600" cy="548640"/>
          </a:xfrm>
          <a:prstGeom prst="rect">
            <a:avLst/>
          </a:prstGeom>
          <a:noFill/>
          <a:ln/>
        </p:spPr>
        <p:txBody>
          <a:bodyPr wrap="square" rtlCol="0" anchor="ctr"/>
          <a:lstStyle/>
          <a:p>
            <a:pPr algn="l" indent="0" marL="0">
              <a:buNone/>
            </a:pPr>
            <a:r>
              <a:rPr lang="en-US" sz="3200" b="1" dirty="0">
                <a:solidFill>
                  <a:srgbClr val="16213E"/>
                </a:solidFill>
                <a:latin typeface="Calibri" pitchFamily="34" charset="0"/>
                <a:ea typeface="Calibri" pitchFamily="34" charset="-122"/>
                <a:cs typeface="Calibri" pitchFamily="34" charset="-120"/>
              </a:rPr>
              <a:t>Nmap Scan Types — UDP &amp; Host Discovery</a:t>
            </a:r>
            <a:endParaRPr lang="en-US" sz="3200" dirty="0"/>
          </a:p>
        </p:txBody>
      </p:sp>
      <p:sp>
        <p:nvSpPr>
          <p:cNvPr id="4" name="Text 2"/>
          <p:cNvSpPr/>
          <p:nvPr/>
        </p:nvSpPr>
        <p:spPr>
          <a:xfrm>
            <a:off x="502920" y="1161288"/>
            <a:ext cx="10515600" cy="365760"/>
          </a:xfrm>
          <a:prstGeom prst="rect">
            <a:avLst/>
          </a:prstGeom>
          <a:noFill/>
          <a:ln/>
        </p:spPr>
        <p:txBody>
          <a:bodyPr wrap="square" rtlCol="0" anchor="ctr"/>
          <a:lstStyle/>
          <a:p>
            <a:pPr algn="l" indent="0" marL="0">
              <a:buNone/>
            </a:pPr>
            <a:r>
              <a:rPr lang="en-US" sz="1400" dirty="0">
                <a:solidFill>
                  <a:srgbClr val="5C6B84"/>
                </a:solidFill>
                <a:latin typeface="Calibri" pitchFamily="34" charset="0"/>
                <a:ea typeface="Calibri" pitchFamily="34" charset="-122"/>
                <a:cs typeface="Calibri" pitchFamily="34" charset="-120"/>
              </a:rPr>
              <a:t>Don't forget UDP — DNS, SNMP, and NTP misconfigs live here</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828800"/>
          <a:ext cx="11183112" cy="914400"/>
        </p:xfrm>
        <a:graphic>
          <a:graphicData uri="http://schemas.openxmlformats.org/drawingml/2006/table">
            <a:tbl>
              <a:tblPr/>
              <a:tblGrid>
                <a:gridCol w="1554480"/>
                <a:gridCol w="1828800"/>
                <a:gridCol w="4663440"/>
                <a:gridCol w="3776472"/>
              </a:tblGrid>
              <a:tr h="457200">
                <a:tc>
                  <a:txBody>
                    <a:bodyPr/>
                    <a:lstStyle/>
                    <a:p>
                      <a:pPr algn="l" indent="0" marL="0">
                        <a:buNone/>
                      </a:pPr>
                      <a:r>
                        <a:rPr lang="en-US" sz="1250" b="1" dirty="0">
                          <a:solidFill>
                            <a:srgbClr val="FFFFFF"/>
                          </a:solidFill>
                        </a:rPr>
                        <a:t>Flag</a:t>
                      </a:r>
                      <a:endParaRPr lang="en-US" sz="1250" dirty="0"/>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C2541"/>
                    </a:solidFill>
                  </a:tcPr>
                </a:tc>
                <a:tc>
                  <a:txBody>
                    <a:bodyPr/>
                    <a:lstStyle/>
                    <a:p>
                      <a:pPr algn="l" indent="0" marL="0">
                        <a:buNone/>
                      </a:pPr>
                      <a:r>
                        <a:rPr lang="en-US" sz="1250" b="1" dirty="0">
                          <a:solidFill>
                            <a:srgbClr val="FFFFFF"/>
                          </a:solidFill>
                        </a:rPr>
                        <a:t>Name</a:t>
                      </a:r>
                      <a:endParaRPr lang="en-US" sz="1250" dirty="0"/>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C2541"/>
                    </a:solidFill>
                  </a:tcPr>
                </a:tc>
                <a:tc>
                  <a:txBody>
                    <a:bodyPr/>
                    <a:lstStyle/>
                    <a:p>
                      <a:pPr algn="l" indent="0" marL="0">
                        <a:buNone/>
                      </a:pPr>
                      <a:r>
                        <a:rPr lang="en-US" sz="1250" b="1" dirty="0">
                          <a:solidFill>
                            <a:srgbClr val="FFFFFF"/>
                          </a:solidFill>
                        </a:rPr>
                        <a:t>How it works</a:t>
                      </a:r>
                      <a:endParaRPr lang="en-US" sz="1250" dirty="0"/>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C2541"/>
                    </a:solidFill>
                  </a:tcPr>
                </a:tc>
                <a:tc>
                  <a:txBody>
                    <a:bodyPr/>
                    <a:lstStyle/>
                    <a:p>
                      <a:pPr algn="l" indent="0" marL="0">
                        <a:buNone/>
                      </a:pPr>
                      <a:r>
                        <a:rPr lang="en-US" sz="1250" b="1" dirty="0">
                          <a:solidFill>
                            <a:srgbClr val="FFFFFF"/>
                          </a:solidFill>
                        </a:rPr>
                        <a:t>Notes</a:t>
                      </a:r>
                      <a:endParaRPr lang="en-US" sz="1250" dirty="0"/>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C2541"/>
                    </a:solidFill>
                  </a:tcPr>
                </a:tc>
              </a:tr>
              <a:tr h="457200">
                <a:tc>
                  <a:txBody>
                    <a:bodyPr/>
                    <a:lstStyle/>
                    <a:p>
                      <a:pPr algn="l" indent="0" marL="0">
                        <a:buNone/>
                      </a:pPr>
                      <a:r>
                        <a:rPr lang="en-US" sz="1200" dirty="0">
                          <a:solidFill>
                            <a:srgbClr val="16213E"/>
                          </a:solidFill>
                          <a:latin typeface="Courier New" pitchFamily="34" charset="0"/>
                          <a:ea typeface="Courier New" pitchFamily="34" charset="-122"/>
                          <a:cs typeface="Courier New" pitchFamily="34" charset="-120"/>
                        </a:rPr>
                        <a:t>-sU</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UDP scan</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Sends UDP packets; open ports often stay silent (no response)</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Slow — always pair with a smaller port range</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6213E"/>
                          </a:solidFill>
                          <a:latin typeface="Courier New" pitchFamily="34" charset="0"/>
                          <a:ea typeface="Courier New" pitchFamily="34" charset="-122"/>
                          <a:cs typeface="Courier New" pitchFamily="34" charset="-120"/>
                        </a:rPr>
                        <a:t>-sn</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Ping scan</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Host discovery only — skips port scanning entirely</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Great first pass across a large subnet</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r>
              <a:tr h="457200">
                <a:tc>
                  <a:txBody>
                    <a:bodyPr/>
                    <a:lstStyle/>
                    <a:p>
                      <a:pPr algn="l" indent="0" marL="0">
                        <a:buNone/>
                      </a:pPr>
                      <a:r>
                        <a:rPr lang="en-US" sz="1200" dirty="0">
                          <a:solidFill>
                            <a:srgbClr val="16213E"/>
                          </a:solidFill>
                          <a:latin typeface="Courier New" pitchFamily="34" charset="0"/>
                          <a:ea typeface="Courier New" pitchFamily="34" charset="-122"/>
                          <a:cs typeface="Courier New" pitchFamily="34" charset="-120"/>
                        </a:rPr>
                        <a:t>-Pn</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Skip discovery</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Treats all hosts as online, skips the ping check</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Use when ICMP is blocked by a firewall</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6213E"/>
                          </a:solidFill>
                          <a:latin typeface="Courier New" pitchFamily="34" charset="0"/>
                          <a:ea typeface="Courier New" pitchFamily="34" charset="-122"/>
                          <a:cs typeface="Courier New" pitchFamily="34" charset="-120"/>
                        </a:rPr>
                        <a:t>-sO</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Protocol scan</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Probes which IP protocols (TCP/UDP/ICMP/GRE…) respond</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Rarely used, but shows up in interviews</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r>
            </a:tbl>
          </a:graphicData>
        </a:graphic>
      </p:graphicFrame>
      <p:sp>
        <p:nvSpPr>
          <p:cNvPr id="6" name="Shape 3"/>
          <p:cNvSpPr/>
          <p:nvPr/>
        </p:nvSpPr>
        <p:spPr>
          <a:xfrm>
            <a:off x="502920" y="5029200"/>
            <a:ext cx="11183112" cy="1051560"/>
          </a:xfrm>
          <a:prstGeom prst="roundRect">
            <a:avLst>
              <a:gd name="adj" fmla="val 6957"/>
            </a:avLst>
          </a:prstGeom>
          <a:solidFill>
            <a:srgbClr val="EAF7F1"/>
          </a:solidFill>
          <a:ln/>
        </p:spPr>
      </p:sp>
      <p:sp>
        <p:nvSpPr>
          <p:cNvPr id="7" name="Text 4"/>
          <p:cNvSpPr/>
          <p:nvPr/>
        </p:nvSpPr>
        <p:spPr>
          <a:xfrm>
            <a:off x="731520" y="5193792"/>
            <a:ext cx="10725912" cy="731520"/>
          </a:xfrm>
          <a:prstGeom prst="rect">
            <a:avLst/>
          </a:prstGeom>
          <a:noFill/>
          <a:ln/>
        </p:spPr>
        <p:txBody>
          <a:bodyPr wrap="square" rtlCol="0" anchor="t"/>
          <a:lstStyle/>
          <a:p>
            <a:pPr indent="0" marL="0">
              <a:buNone/>
            </a:pPr>
            <a:r>
              <a:rPr lang="en-US" sz="1300" b="1" dirty="0">
                <a:solidFill>
                  <a:srgbClr val="1E9E6A"/>
                </a:solidFill>
                <a:latin typeface="Courier New" pitchFamily="34" charset="0"/>
                <a:ea typeface="Courier New" pitchFamily="34" charset="-122"/>
                <a:cs typeface="Courier New" pitchFamily="34" charset="-120"/>
              </a:rPr>
              <a:t>Command:  </a:t>
            </a:r>
            <a:pPr indent="0" marL="0">
              <a:buNone/>
            </a:pPr>
            <a:r>
              <a:rPr lang="en-US" sz="1300" dirty="0">
                <a:solidFill>
                  <a:srgbClr val="16213E"/>
                </a:solidFill>
                <a:latin typeface="Courier New" pitchFamily="34" charset="0"/>
                <a:ea typeface="Courier New" pitchFamily="34" charset="-122"/>
                <a:cs typeface="Courier New" pitchFamily="34" charset="-120"/>
              </a:rPr>
              <a:t>sudo nmap -sU -p 53,161,123 10.10.10.5</a:t>
            </a:r>
            <a:pPr indent="0" marL="0">
              <a:buNone/>
            </a:pPr>
            <a:r>
              <a:rPr lang="en-US" sz="1300" i="1" dirty="0">
                <a:solidFill>
                  <a:srgbClr val="5C6B84"/>
                </a:solidFill>
                <a:latin typeface="Calibri" pitchFamily="34" charset="0"/>
                <a:ea typeface="Calibri" pitchFamily="34" charset="-122"/>
                <a:cs typeface="Calibri" pitchFamily="34" charset="-120"/>
              </a:rPr>
              <a:t>     (targeted UDP scan of DNS, SNMP, NTP)</a:t>
            </a:r>
            <a:endParaRPr lang="en-US" sz="1300" dirty="0"/>
          </a:p>
        </p:txBody>
      </p:sp>
      <p:sp>
        <p:nvSpPr>
          <p:cNvPr id="8" name="Text 5"/>
          <p:cNvSpPr/>
          <p:nvPr/>
        </p:nvSpPr>
        <p:spPr>
          <a:xfrm>
            <a:off x="11365992" y="6446520"/>
            <a:ext cx="457200" cy="274320"/>
          </a:xfrm>
          <a:prstGeom prst="rect">
            <a:avLst/>
          </a:prstGeom>
          <a:noFill/>
          <a:ln/>
        </p:spPr>
        <p:txBody>
          <a:bodyPr wrap="square" rtlCol="0" anchor="ctr"/>
          <a:lstStyle/>
          <a:p>
            <a:pPr algn="r" indent="0" marL="0">
              <a:buNone/>
            </a:pPr>
            <a:r>
              <a:rPr lang="en-US" sz="1000" dirty="0">
                <a:solidFill>
                  <a:srgbClr val="8892A6"/>
                </a:solidFill>
                <a:latin typeface="Courier New" pitchFamily="34" charset="0"/>
                <a:ea typeface="Courier New" pitchFamily="34" charset="-122"/>
                <a:cs typeface="Courier New"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32B"/>
        </a:solidFill>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rtlCol="0" anchor="ctr"/>
          <a:lstStyle/>
          <a:p>
            <a:pPr algn="l" indent="0" marL="0">
              <a:buNone/>
            </a:pPr>
            <a:r>
              <a:rPr lang="en-US" sz="1200" b="1" spc="200" kern="0" dirty="0">
                <a:solidFill>
                  <a:srgbClr val="2FD48C"/>
                </a:solidFill>
                <a:latin typeface="Calibri" pitchFamily="34" charset="0"/>
                <a:ea typeface="Calibri" pitchFamily="34" charset="-122"/>
                <a:cs typeface="Calibri" pitchFamily="34" charset="-120"/>
              </a:rPr>
              <a:t>NMAP DEEP DIVE</a:t>
            </a:r>
            <a:endParaRPr lang="en-US" sz="1200" dirty="0"/>
          </a:p>
        </p:txBody>
      </p:sp>
      <p:sp>
        <p:nvSpPr>
          <p:cNvPr id="3" name="Text 1"/>
          <p:cNvSpPr/>
          <p:nvPr/>
        </p:nvSpPr>
        <p:spPr>
          <a:xfrm>
            <a:off x="502920" y="658368"/>
            <a:ext cx="10515600" cy="54864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Anatomy of an Nmap Command</a:t>
            </a:r>
            <a:endParaRPr lang="en-US" sz="3200" dirty="0"/>
          </a:p>
        </p:txBody>
      </p:sp>
      <p:sp>
        <p:nvSpPr>
          <p:cNvPr id="4" name="Text 2"/>
          <p:cNvSpPr/>
          <p:nvPr/>
        </p:nvSpPr>
        <p:spPr>
          <a:xfrm>
            <a:off x="502920" y="1161288"/>
            <a:ext cx="10515600" cy="365760"/>
          </a:xfrm>
          <a:prstGeom prst="rect">
            <a:avLst/>
          </a:prstGeom>
          <a:noFill/>
          <a:ln/>
        </p:spPr>
        <p:txBody>
          <a:bodyPr wrap="square" rtlCol="0" anchor="ctr"/>
          <a:lstStyle/>
          <a:p>
            <a:pPr algn="l" indent="0" marL="0">
              <a:buNone/>
            </a:pPr>
            <a:r>
              <a:rPr lang="en-US" sz="1400" dirty="0">
                <a:solidFill>
                  <a:srgbClr val="AEB8C4"/>
                </a:solidFill>
                <a:latin typeface="Calibri" pitchFamily="34" charset="0"/>
                <a:ea typeface="Calibri" pitchFamily="34" charset="-122"/>
                <a:cs typeface="Calibri" pitchFamily="34" charset="-120"/>
              </a:rPr>
              <a:t>One line, many decisions — let's break it apart</a:t>
            </a:r>
            <a:endParaRPr lang="en-US" sz="1400" dirty="0"/>
          </a:p>
        </p:txBody>
      </p:sp>
      <p:sp>
        <p:nvSpPr>
          <p:cNvPr id="5" name="Text 3"/>
          <p:cNvSpPr/>
          <p:nvPr/>
        </p:nvSpPr>
        <p:spPr>
          <a:xfrm>
            <a:off x="502920" y="2468880"/>
            <a:ext cx="1005840" cy="502920"/>
          </a:xfrm>
          <a:prstGeom prst="rect">
            <a:avLst/>
          </a:prstGeom>
          <a:noFill/>
          <a:ln/>
        </p:spPr>
        <p:txBody>
          <a:bodyPr wrap="square" rtlCol="0" anchor="ctr"/>
          <a:lstStyle/>
          <a:p>
            <a:pPr algn="ctr" indent="0" marL="0">
              <a:buNone/>
            </a:pPr>
            <a:r>
              <a:rPr lang="en-US" sz="1700" b="1" dirty="0">
                <a:solidFill>
                  <a:srgbClr val="2FD48C"/>
                </a:solidFill>
                <a:latin typeface="Courier New" pitchFamily="34" charset="0"/>
                <a:ea typeface="Courier New" pitchFamily="34" charset="-122"/>
                <a:cs typeface="Courier New" pitchFamily="34" charset="-120"/>
              </a:rPr>
              <a:t>nmap</a:t>
            </a:r>
            <a:endParaRPr lang="en-US" sz="1700" dirty="0"/>
          </a:p>
        </p:txBody>
      </p:sp>
      <p:sp>
        <p:nvSpPr>
          <p:cNvPr id="6" name="Shape 4"/>
          <p:cNvSpPr/>
          <p:nvPr/>
        </p:nvSpPr>
        <p:spPr>
          <a:xfrm>
            <a:off x="1005840" y="2971800"/>
            <a:ext cx="0" cy="320040"/>
          </a:xfrm>
          <a:prstGeom prst="line">
            <a:avLst/>
          </a:prstGeom>
          <a:noFill/>
          <a:ln w="15875">
            <a:solidFill>
              <a:srgbClr val="3A4468"/>
            </a:solidFill>
            <a:prstDash val="solid"/>
          </a:ln>
        </p:spPr>
      </p:sp>
      <p:sp>
        <p:nvSpPr>
          <p:cNvPr id="7" name="Text 5"/>
          <p:cNvSpPr/>
          <p:nvPr/>
        </p:nvSpPr>
        <p:spPr>
          <a:xfrm>
            <a:off x="182880" y="3310128"/>
            <a:ext cx="1645920" cy="685800"/>
          </a:xfrm>
          <a:prstGeom prst="rect">
            <a:avLst/>
          </a:prstGeom>
          <a:noFill/>
          <a:ln/>
        </p:spPr>
        <p:txBody>
          <a:bodyPr wrap="square" rtlCol="0" anchor="t"/>
          <a:lstStyle/>
          <a:p>
            <a:pPr algn="ctr" indent="0" marL="0">
              <a:lnSpc>
                <a:spcPct val="105000"/>
              </a:lnSpc>
              <a:buNone/>
            </a:pPr>
            <a:r>
              <a:rPr lang="en-US" sz="1000" dirty="0">
                <a:solidFill>
                  <a:srgbClr val="AEB8C4"/>
                </a:solidFill>
                <a:latin typeface="Calibri" pitchFamily="34" charset="0"/>
                <a:ea typeface="Calibri" pitchFamily="34" charset="-122"/>
                <a:cs typeface="Calibri" pitchFamily="34" charset="-120"/>
              </a:rPr>
              <a:t>The tool</a:t>
            </a:r>
            <a:endParaRPr lang="en-US" sz="1000" dirty="0"/>
          </a:p>
        </p:txBody>
      </p:sp>
      <p:sp>
        <p:nvSpPr>
          <p:cNvPr id="8" name="Text 6"/>
          <p:cNvSpPr/>
          <p:nvPr/>
        </p:nvSpPr>
        <p:spPr>
          <a:xfrm>
            <a:off x="2194560" y="2468880"/>
            <a:ext cx="640080" cy="502920"/>
          </a:xfrm>
          <a:prstGeom prst="rect">
            <a:avLst/>
          </a:prstGeom>
          <a:noFill/>
          <a:ln/>
        </p:spPr>
        <p:txBody>
          <a:bodyPr wrap="square" rtlCol="0" anchor="ctr"/>
          <a:lstStyle/>
          <a:p>
            <a:pPr algn="ctr" indent="0" marL="0">
              <a:buNone/>
            </a:pPr>
            <a:r>
              <a:rPr lang="en-US" sz="1700" b="1" dirty="0">
                <a:solidFill>
                  <a:srgbClr val="2FD48C"/>
                </a:solidFill>
                <a:latin typeface="Courier New" pitchFamily="34" charset="0"/>
                <a:ea typeface="Courier New" pitchFamily="34" charset="-122"/>
                <a:cs typeface="Courier New" pitchFamily="34" charset="-120"/>
              </a:rPr>
              <a:t>-sS</a:t>
            </a:r>
            <a:endParaRPr lang="en-US" sz="1700" dirty="0"/>
          </a:p>
        </p:txBody>
      </p:sp>
      <p:sp>
        <p:nvSpPr>
          <p:cNvPr id="9" name="Shape 7"/>
          <p:cNvSpPr/>
          <p:nvPr/>
        </p:nvSpPr>
        <p:spPr>
          <a:xfrm>
            <a:off x="2514600" y="2971800"/>
            <a:ext cx="0" cy="320040"/>
          </a:xfrm>
          <a:prstGeom prst="line">
            <a:avLst/>
          </a:prstGeom>
          <a:noFill/>
          <a:ln w="15875">
            <a:solidFill>
              <a:srgbClr val="3A4468"/>
            </a:solidFill>
            <a:prstDash val="solid"/>
          </a:ln>
        </p:spPr>
      </p:sp>
      <p:sp>
        <p:nvSpPr>
          <p:cNvPr id="10" name="Text 8"/>
          <p:cNvSpPr/>
          <p:nvPr/>
        </p:nvSpPr>
        <p:spPr>
          <a:xfrm>
            <a:off x="1874520" y="3310128"/>
            <a:ext cx="1280160" cy="685800"/>
          </a:xfrm>
          <a:prstGeom prst="rect">
            <a:avLst/>
          </a:prstGeom>
          <a:noFill/>
          <a:ln/>
        </p:spPr>
        <p:txBody>
          <a:bodyPr wrap="square" rtlCol="0" anchor="t"/>
          <a:lstStyle/>
          <a:p>
            <a:pPr algn="ctr" indent="0" marL="0">
              <a:lnSpc>
                <a:spcPct val="105000"/>
              </a:lnSpc>
              <a:buNone/>
            </a:pPr>
            <a:r>
              <a:rPr lang="en-US" sz="1000" dirty="0">
                <a:solidFill>
                  <a:srgbClr val="AEB8C4"/>
                </a:solidFill>
                <a:latin typeface="Calibri" pitchFamily="34" charset="0"/>
                <a:ea typeface="Calibri" pitchFamily="34" charset="-122"/>
                <a:cs typeface="Calibri" pitchFamily="34" charset="-120"/>
              </a:rPr>
              <a:t>Scan type</a:t>
            </a:r>
            <a:endParaRPr lang="en-US" sz="1000" dirty="0"/>
          </a:p>
        </p:txBody>
      </p:sp>
      <p:sp>
        <p:nvSpPr>
          <p:cNvPr id="11" name="Text 9"/>
          <p:cNvSpPr/>
          <p:nvPr/>
        </p:nvSpPr>
        <p:spPr>
          <a:xfrm>
            <a:off x="3246120" y="2468880"/>
            <a:ext cx="640080" cy="502920"/>
          </a:xfrm>
          <a:prstGeom prst="rect">
            <a:avLst/>
          </a:prstGeom>
          <a:noFill/>
          <a:ln/>
        </p:spPr>
        <p:txBody>
          <a:bodyPr wrap="square" rtlCol="0" anchor="ctr"/>
          <a:lstStyle/>
          <a:p>
            <a:pPr algn="ctr" indent="0" marL="0">
              <a:buNone/>
            </a:pPr>
            <a:r>
              <a:rPr lang="en-US" sz="1700" b="1" dirty="0">
                <a:solidFill>
                  <a:srgbClr val="2FD48C"/>
                </a:solidFill>
                <a:latin typeface="Courier New" pitchFamily="34" charset="0"/>
                <a:ea typeface="Courier New" pitchFamily="34" charset="-122"/>
                <a:cs typeface="Courier New" pitchFamily="34" charset="-120"/>
              </a:rPr>
              <a:t>-sV</a:t>
            </a:r>
            <a:endParaRPr lang="en-US" sz="1700" dirty="0"/>
          </a:p>
        </p:txBody>
      </p:sp>
      <p:sp>
        <p:nvSpPr>
          <p:cNvPr id="12" name="Shape 10"/>
          <p:cNvSpPr/>
          <p:nvPr/>
        </p:nvSpPr>
        <p:spPr>
          <a:xfrm>
            <a:off x="3566160" y="2971800"/>
            <a:ext cx="0" cy="320040"/>
          </a:xfrm>
          <a:prstGeom prst="line">
            <a:avLst/>
          </a:prstGeom>
          <a:noFill/>
          <a:ln w="15875">
            <a:solidFill>
              <a:srgbClr val="3A4468"/>
            </a:solidFill>
            <a:prstDash val="solid"/>
          </a:ln>
        </p:spPr>
      </p:sp>
      <p:sp>
        <p:nvSpPr>
          <p:cNvPr id="13" name="Text 11"/>
          <p:cNvSpPr/>
          <p:nvPr/>
        </p:nvSpPr>
        <p:spPr>
          <a:xfrm>
            <a:off x="2926080" y="3310128"/>
            <a:ext cx="1280160" cy="685800"/>
          </a:xfrm>
          <a:prstGeom prst="rect">
            <a:avLst/>
          </a:prstGeom>
          <a:noFill/>
          <a:ln/>
        </p:spPr>
        <p:txBody>
          <a:bodyPr wrap="square" rtlCol="0" anchor="t"/>
          <a:lstStyle/>
          <a:p>
            <a:pPr algn="ctr" indent="0" marL="0">
              <a:lnSpc>
                <a:spcPct val="105000"/>
              </a:lnSpc>
              <a:buNone/>
            </a:pPr>
            <a:r>
              <a:rPr lang="en-US" sz="1000" dirty="0">
                <a:solidFill>
                  <a:srgbClr val="AEB8C4"/>
                </a:solidFill>
                <a:latin typeface="Calibri" pitchFamily="34" charset="0"/>
                <a:ea typeface="Calibri" pitchFamily="34" charset="-122"/>
                <a:cs typeface="Calibri" pitchFamily="34" charset="-120"/>
              </a:rPr>
              <a:t>Version detection</a:t>
            </a:r>
            <a:endParaRPr lang="en-US" sz="1000" dirty="0"/>
          </a:p>
        </p:txBody>
      </p:sp>
      <p:sp>
        <p:nvSpPr>
          <p:cNvPr id="14" name="Text 12"/>
          <p:cNvSpPr/>
          <p:nvPr/>
        </p:nvSpPr>
        <p:spPr>
          <a:xfrm>
            <a:off x="4297680" y="2468880"/>
            <a:ext cx="502920" cy="502920"/>
          </a:xfrm>
          <a:prstGeom prst="rect">
            <a:avLst/>
          </a:prstGeom>
          <a:noFill/>
          <a:ln/>
        </p:spPr>
        <p:txBody>
          <a:bodyPr wrap="square" rtlCol="0" anchor="ctr"/>
          <a:lstStyle/>
          <a:p>
            <a:pPr algn="ctr" indent="0" marL="0">
              <a:buNone/>
            </a:pPr>
            <a:r>
              <a:rPr lang="en-US" sz="1700" b="1" dirty="0">
                <a:solidFill>
                  <a:srgbClr val="2FD48C"/>
                </a:solidFill>
                <a:latin typeface="Courier New" pitchFamily="34" charset="0"/>
                <a:ea typeface="Courier New" pitchFamily="34" charset="-122"/>
                <a:cs typeface="Courier New" pitchFamily="34" charset="-120"/>
              </a:rPr>
              <a:t>-O</a:t>
            </a:r>
            <a:endParaRPr lang="en-US" sz="1700" dirty="0"/>
          </a:p>
        </p:txBody>
      </p:sp>
      <p:sp>
        <p:nvSpPr>
          <p:cNvPr id="15" name="Shape 13"/>
          <p:cNvSpPr/>
          <p:nvPr/>
        </p:nvSpPr>
        <p:spPr>
          <a:xfrm>
            <a:off x="4549140" y="2971800"/>
            <a:ext cx="0" cy="320040"/>
          </a:xfrm>
          <a:prstGeom prst="line">
            <a:avLst/>
          </a:prstGeom>
          <a:noFill/>
          <a:ln w="15875">
            <a:solidFill>
              <a:srgbClr val="3A4468"/>
            </a:solidFill>
            <a:prstDash val="solid"/>
          </a:ln>
        </p:spPr>
      </p:sp>
      <p:sp>
        <p:nvSpPr>
          <p:cNvPr id="16" name="Text 14"/>
          <p:cNvSpPr/>
          <p:nvPr/>
        </p:nvSpPr>
        <p:spPr>
          <a:xfrm>
            <a:off x="3977640" y="3310128"/>
            <a:ext cx="1143000" cy="685800"/>
          </a:xfrm>
          <a:prstGeom prst="rect">
            <a:avLst/>
          </a:prstGeom>
          <a:noFill/>
          <a:ln/>
        </p:spPr>
        <p:txBody>
          <a:bodyPr wrap="square" rtlCol="0" anchor="t"/>
          <a:lstStyle/>
          <a:p>
            <a:pPr algn="ctr" indent="0" marL="0">
              <a:lnSpc>
                <a:spcPct val="105000"/>
              </a:lnSpc>
              <a:buNone/>
            </a:pPr>
            <a:r>
              <a:rPr lang="en-US" sz="1000" dirty="0">
                <a:solidFill>
                  <a:srgbClr val="AEB8C4"/>
                </a:solidFill>
                <a:latin typeface="Calibri" pitchFamily="34" charset="0"/>
                <a:ea typeface="Calibri" pitchFamily="34" charset="-122"/>
                <a:cs typeface="Calibri" pitchFamily="34" charset="-120"/>
              </a:rPr>
              <a:t>OS fingerprinting</a:t>
            </a:r>
            <a:endParaRPr lang="en-US" sz="1000" dirty="0"/>
          </a:p>
        </p:txBody>
      </p:sp>
      <p:sp>
        <p:nvSpPr>
          <p:cNvPr id="17" name="Text 15"/>
          <p:cNvSpPr/>
          <p:nvPr/>
        </p:nvSpPr>
        <p:spPr>
          <a:xfrm>
            <a:off x="5212080" y="2468880"/>
            <a:ext cx="594360" cy="502920"/>
          </a:xfrm>
          <a:prstGeom prst="rect">
            <a:avLst/>
          </a:prstGeom>
          <a:noFill/>
          <a:ln/>
        </p:spPr>
        <p:txBody>
          <a:bodyPr wrap="square" rtlCol="0" anchor="ctr"/>
          <a:lstStyle/>
          <a:p>
            <a:pPr algn="ctr" indent="0" marL="0">
              <a:buNone/>
            </a:pPr>
            <a:r>
              <a:rPr lang="en-US" sz="1700" b="1" dirty="0">
                <a:solidFill>
                  <a:srgbClr val="2FD48C"/>
                </a:solidFill>
                <a:latin typeface="Courier New" pitchFamily="34" charset="0"/>
                <a:ea typeface="Courier New" pitchFamily="34" charset="-122"/>
                <a:cs typeface="Courier New" pitchFamily="34" charset="-120"/>
              </a:rPr>
              <a:t>-p-</a:t>
            </a:r>
            <a:endParaRPr lang="en-US" sz="1700" dirty="0"/>
          </a:p>
        </p:txBody>
      </p:sp>
      <p:sp>
        <p:nvSpPr>
          <p:cNvPr id="18" name="Shape 16"/>
          <p:cNvSpPr/>
          <p:nvPr/>
        </p:nvSpPr>
        <p:spPr>
          <a:xfrm>
            <a:off x="5509260" y="2971800"/>
            <a:ext cx="0" cy="320040"/>
          </a:xfrm>
          <a:prstGeom prst="line">
            <a:avLst/>
          </a:prstGeom>
          <a:noFill/>
          <a:ln w="15875">
            <a:solidFill>
              <a:srgbClr val="3A4468"/>
            </a:solidFill>
            <a:prstDash val="solid"/>
          </a:ln>
        </p:spPr>
      </p:sp>
      <p:sp>
        <p:nvSpPr>
          <p:cNvPr id="19" name="Text 17"/>
          <p:cNvSpPr/>
          <p:nvPr/>
        </p:nvSpPr>
        <p:spPr>
          <a:xfrm>
            <a:off x="4892040" y="3310128"/>
            <a:ext cx="1234440" cy="685800"/>
          </a:xfrm>
          <a:prstGeom prst="rect">
            <a:avLst/>
          </a:prstGeom>
          <a:noFill/>
          <a:ln/>
        </p:spPr>
        <p:txBody>
          <a:bodyPr wrap="square" rtlCol="0" anchor="t"/>
          <a:lstStyle/>
          <a:p>
            <a:pPr algn="ctr" indent="0" marL="0">
              <a:lnSpc>
                <a:spcPct val="105000"/>
              </a:lnSpc>
              <a:buNone/>
            </a:pPr>
            <a:r>
              <a:rPr lang="en-US" sz="1000" dirty="0">
                <a:solidFill>
                  <a:srgbClr val="AEB8C4"/>
                </a:solidFill>
                <a:latin typeface="Calibri" pitchFamily="34" charset="0"/>
                <a:ea typeface="Calibri" pitchFamily="34" charset="-122"/>
                <a:cs typeface="Calibri" pitchFamily="34" charset="-120"/>
              </a:rPr>
              <a:t>All 65535 ports</a:t>
            </a:r>
            <a:endParaRPr lang="en-US" sz="1000" dirty="0"/>
          </a:p>
        </p:txBody>
      </p:sp>
      <p:sp>
        <p:nvSpPr>
          <p:cNvPr id="20" name="Text 18"/>
          <p:cNvSpPr/>
          <p:nvPr/>
        </p:nvSpPr>
        <p:spPr>
          <a:xfrm>
            <a:off x="6172200" y="2468880"/>
            <a:ext cx="594360" cy="502920"/>
          </a:xfrm>
          <a:prstGeom prst="rect">
            <a:avLst/>
          </a:prstGeom>
          <a:noFill/>
          <a:ln/>
        </p:spPr>
        <p:txBody>
          <a:bodyPr wrap="square" rtlCol="0" anchor="ctr"/>
          <a:lstStyle/>
          <a:p>
            <a:pPr algn="ctr" indent="0" marL="0">
              <a:buNone/>
            </a:pPr>
            <a:r>
              <a:rPr lang="en-US" sz="1700" b="1" dirty="0">
                <a:solidFill>
                  <a:srgbClr val="2FD48C"/>
                </a:solidFill>
                <a:latin typeface="Courier New" pitchFamily="34" charset="0"/>
                <a:ea typeface="Courier New" pitchFamily="34" charset="-122"/>
                <a:cs typeface="Courier New" pitchFamily="34" charset="-120"/>
              </a:rPr>
              <a:t>-T4</a:t>
            </a:r>
            <a:endParaRPr lang="en-US" sz="1700" dirty="0"/>
          </a:p>
        </p:txBody>
      </p:sp>
      <p:sp>
        <p:nvSpPr>
          <p:cNvPr id="21" name="Shape 19"/>
          <p:cNvSpPr/>
          <p:nvPr/>
        </p:nvSpPr>
        <p:spPr>
          <a:xfrm>
            <a:off x="6469380" y="2971800"/>
            <a:ext cx="0" cy="320040"/>
          </a:xfrm>
          <a:prstGeom prst="line">
            <a:avLst/>
          </a:prstGeom>
          <a:noFill/>
          <a:ln w="15875">
            <a:solidFill>
              <a:srgbClr val="3A4468"/>
            </a:solidFill>
            <a:prstDash val="solid"/>
          </a:ln>
        </p:spPr>
      </p:sp>
      <p:sp>
        <p:nvSpPr>
          <p:cNvPr id="22" name="Text 20"/>
          <p:cNvSpPr/>
          <p:nvPr/>
        </p:nvSpPr>
        <p:spPr>
          <a:xfrm>
            <a:off x="5852160" y="3310128"/>
            <a:ext cx="1234440" cy="685800"/>
          </a:xfrm>
          <a:prstGeom prst="rect">
            <a:avLst/>
          </a:prstGeom>
          <a:noFill/>
          <a:ln/>
        </p:spPr>
        <p:txBody>
          <a:bodyPr wrap="square" rtlCol="0" anchor="t"/>
          <a:lstStyle/>
          <a:p>
            <a:pPr algn="ctr" indent="0" marL="0">
              <a:lnSpc>
                <a:spcPct val="105000"/>
              </a:lnSpc>
              <a:buNone/>
            </a:pPr>
            <a:r>
              <a:rPr lang="en-US" sz="1000" dirty="0">
                <a:solidFill>
                  <a:srgbClr val="AEB8C4"/>
                </a:solidFill>
                <a:latin typeface="Calibri" pitchFamily="34" charset="0"/>
                <a:ea typeface="Calibri" pitchFamily="34" charset="-122"/>
                <a:cs typeface="Calibri" pitchFamily="34" charset="-120"/>
              </a:rPr>
              <a:t>Timing template</a:t>
            </a:r>
            <a:endParaRPr lang="en-US" sz="1000" dirty="0"/>
          </a:p>
        </p:txBody>
      </p:sp>
      <p:sp>
        <p:nvSpPr>
          <p:cNvPr id="23" name="Text 21"/>
          <p:cNvSpPr/>
          <p:nvPr/>
        </p:nvSpPr>
        <p:spPr>
          <a:xfrm>
            <a:off x="7132320" y="2468880"/>
            <a:ext cx="640080" cy="502920"/>
          </a:xfrm>
          <a:prstGeom prst="rect">
            <a:avLst/>
          </a:prstGeom>
          <a:noFill/>
          <a:ln/>
        </p:spPr>
        <p:txBody>
          <a:bodyPr wrap="square" rtlCol="0" anchor="ctr"/>
          <a:lstStyle/>
          <a:p>
            <a:pPr algn="ctr" indent="0" marL="0">
              <a:buNone/>
            </a:pPr>
            <a:r>
              <a:rPr lang="en-US" sz="1700" b="1" dirty="0">
                <a:solidFill>
                  <a:srgbClr val="2FD48C"/>
                </a:solidFill>
                <a:latin typeface="Courier New" pitchFamily="34" charset="0"/>
                <a:ea typeface="Courier New" pitchFamily="34" charset="-122"/>
                <a:cs typeface="Courier New" pitchFamily="34" charset="-120"/>
              </a:rPr>
              <a:t>-oA</a:t>
            </a:r>
            <a:endParaRPr lang="en-US" sz="1700" dirty="0"/>
          </a:p>
        </p:txBody>
      </p:sp>
      <p:sp>
        <p:nvSpPr>
          <p:cNvPr id="24" name="Shape 22"/>
          <p:cNvSpPr/>
          <p:nvPr/>
        </p:nvSpPr>
        <p:spPr>
          <a:xfrm>
            <a:off x="7452360" y="2971800"/>
            <a:ext cx="0" cy="320040"/>
          </a:xfrm>
          <a:prstGeom prst="line">
            <a:avLst/>
          </a:prstGeom>
          <a:noFill/>
          <a:ln w="15875">
            <a:solidFill>
              <a:srgbClr val="3A4468"/>
            </a:solidFill>
            <a:prstDash val="solid"/>
          </a:ln>
        </p:spPr>
      </p:sp>
      <p:sp>
        <p:nvSpPr>
          <p:cNvPr id="25" name="Text 23"/>
          <p:cNvSpPr/>
          <p:nvPr/>
        </p:nvSpPr>
        <p:spPr>
          <a:xfrm>
            <a:off x="6812280" y="3310128"/>
            <a:ext cx="1280160" cy="685800"/>
          </a:xfrm>
          <a:prstGeom prst="rect">
            <a:avLst/>
          </a:prstGeom>
          <a:noFill/>
          <a:ln/>
        </p:spPr>
        <p:txBody>
          <a:bodyPr wrap="square" rtlCol="0" anchor="t"/>
          <a:lstStyle/>
          <a:p>
            <a:pPr algn="ctr" indent="0" marL="0">
              <a:lnSpc>
                <a:spcPct val="105000"/>
              </a:lnSpc>
              <a:buNone/>
            </a:pPr>
            <a:r>
              <a:rPr lang="en-US" sz="1000" dirty="0">
                <a:solidFill>
                  <a:srgbClr val="AEB8C4"/>
                </a:solidFill>
                <a:latin typeface="Calibri" pitchFamily="34" charset="0"/>
                <a:ea typeface="Calibri" pitchFamily="34" charset="-122"/>
                <a:cs typeface="Calibri" pitchFamily="34" charset="-120"/>
              </a:rPr>
              <a:t>Output, all formats</a:t>
            </a:r>
            <a:endParaRPr lang="en-US" sz="1000" dirty="0"/>
          </a:p>
        </p:txBody>
      </p:sp>
      <p:sp>
        <p:nvSpPr>
          <p:cNvPr id="26" name="Text 24"/>
          <p:cNvSpPr/>
          <p:nvPr/>
        </p:nvSpPr>
        <p:spPr>
          <a:xfrm>
            <a:off x="8183880" y="2468880"/>
            <a:ext cx="1005840" cy="502920"/>
          </a:xfrm>
          <a:prstGeom prst="rect">
            <a:avLst/>
          </a:prstGeom>
          <a:noFill/>
          <a:ln/>
        </p:spPr>
        <p:txBody>
          <a:bodyPr wrap="square" rtlCol="0" anchor="ctr"/>
          <a:lstStyle/>
          <a:p>
            <a:pPr algn="ctr" indent="0" marL="0">
              <a:buNone/>
            </a:pPr>
            <a:r>
              <a:rPr lang="en-US" sz="1700" b="1" dirty="0">
                <a:solidFill>
                  <a:srgbClr val="8892A6"/>
                </a:solidFill>
                <a:latin typeface="Courier New" pitchFamily="34" charset="0"/>
                <a:ea typeface="Courier New" pitchFamily="34" charset="-122"/>
                <a:cs typeface="Courier New" pitchFamily="34" charset="-120"/>
              </a:rPr>
              <a:t>results</a:t>
            </a:r>
            <a:endParaRPr lang="en-US" sz="1700" dirty="0"/>
          </a:p>
        </p:txBody>
      </p:sp>
      <p:sp>
        <p:nvSpPr>
          <p:cNvPr id="27" name="Text 25"/>
          <p:cNvSpPr/>
          <p:nvPr/>
        </p:nvSpPr>
        <p:spPr>
          <a:xfrm>
            <a:off x="9555480" y="2468880"/>
            <a:ext cx="1691640" cy="502920"/>
          </a:xfrm>
          <a:prstGeom prst="rect">
            <a:avLst/>
          </a:prstGeom>
          <a:noFill/>
          <a:ln/>
        </p:spPr>
        <p:txBody>
          <a:bodyPr wrap="square" rtlCol="0" anchor="ctr"/>
          <a:lstStyle/>
          <a:p>
            <a:pPr algn="ctr" indent="0" marL="0">
              <a:buNone/>
            </a:pPr>
            <a:r>
              <a:rPr lang="en-US" sz="1700" b="1" dirty="0">
                <a:solidFill>
                  <a:srgbClr val="2FD48C"/>
                </a:solidFill>
                <a:latin typeface="Courier New" pitchFamily="34" charset="0"/>
                <a:ea typeface="Courier New" pitchFamily="34" charset="-122"/>
                <a:cs typeface="Courier New" pitchFamily="34" charset="-120"/>
              </a:rPr>
              <a:t>10.10.10.5</a:t>
            </a:r>
            <a:endParaRPr lang="en-US" sz="1700" dirty="0"/>
          </a:p>
        </p:txBody>
      </p:sp>
      <p:sp>
        <p:nvSpPr>
          <p:cNvPr id="28" name="Shape 26"/>
          <p:cNvSpPr/>
          <p:nvPr/>
        </p:nvSpPr>
        <p:spPr>
          <a:xfrm>
            <a:off x="10401300" y="2971800"/>
            <a:ext cx="0" cy="320040"/>
          </a:xfrm>
          <a:prstGeom prst="line">
            <a:avLst/>
          </a:prstGeom>
          <a:noFill/>
          <a:ln w="15875">
            <a:solidFill>
              <a:srgbClr val="3A4468"/>
            </a:solidFill>
            <a:prstDash val="solid"/>
          </a:ln>
        </p:spPr>
      </p:sp>
      <p:sp>
        <p:nvSpPr>
          <p:cNvPr id="29" name="Text 27"/>
          <p:cNvSpPr/>
          <p:nvPr/>
        </p:nvSpPr>
        <p:spPr>
          <a:xfrm>
            <a:off x="9235440" y="3310128"/>
            <a:ext cx="2331720" cy="685800"/>
          </a:xfrm>
          <a:prstGeom prst="rect">
            <a:avLst/>
          </a:prstGeom>
          <a:noFill/>
          <a:ln/>
        </p:spPr>
        <p:txBody>
          <a:bodyPr wrap="square" rtlCol="0" anchor="t"/>
          <a:lstStyle/>
          <a:p>
            <a:pPr algn="ctr" indent="0" marL="0">
              <a:lnSpc>
                <a:spcPct val="105000"/>
              </a:lnSpc>
              <a:buNone/>
            </a:pPr>
            <a:r>
              <a:rPr lang="en-US" sz="1000" dirty="0">
                <a:solidFill>
                  <a:srgbClr val="AEB8C4"/>
                </a:solidFill>
                <a:latin typeface="Calibri" pitchFamily="34" charset="0"/>
                <a:ea typeface="Calibri" pitchFamily="34" charset="-122"/>
                <a:cs typeface="Calibri" pitchFamily="34" charset="-120"/>
              </a:rPr>
              <a:t>Target</a:t>
            </a:r>
            <a:endParaRPr lang="en-US" sz="1000" dirty="0"/>
          </a:p>
        </p:txBody>
      </p:sp>
      <p:sp>
        <p:nvSpPr>
          <p:cNvPr id="30" name="Shape 28"/>
          <p:cNvSpPr/>
          <p:nvPr/>
        </p:nvSpPr>
        <p:spPr>
          <a:xfrm>
            <a:off x="502920" y="4892040"/>
            <a:ext cx="11183112" cy="1417320"/>
          </a:xfrm>
          <a:prstGeom prst="roundRect">
            <a:avLst>
              <a:gd name="adj" fmla="val 5161"/>
            </a:avLst>
          </a:prstGeom>
          <a:solidFill>
            <a:srgbClr val="1C2541"/>
          </a:solidFill>
          <a:ln/>
        </p:spPr>
      </p:sp>
      <p:sp>
        <p:nvSpPr>
          <p:cNvPr id="31" name="Text 29"/>
          <p:cNvSpPr/>
          <p:nvPr/>
        </p:nvSpPr>
        <p:spPr>
          <a:xfrm>
            <a:off x="777240" y="5029200"/>
            <a:ext cx="10634472" cy="1143000"/>
          </a:xfrm>
          <a:prstGeom prst="rect">
            <a:avLst/>
          </a:prstGeom>
          <a:noFill/>
          <a:ln/>
        </p:spPr>
        <p:txBody>
          <a:bodyPr wrap="square" rtlCol="0" anchor="t"/>
          <a:lstStyle/>
          <a:p>
            <a:pPr indent="0" marL="0">
              <a:lnSpc>
                <a:spcPct val="130000"/>
              </a:lnSpc>
              <a:buNone/>
            </a:pPr>
            <a:r>
              <a:rPr lang="en-US" sz="1350" i="1" dirty="0">
                <a:solidFill>
                  <a:srgbClr val="D6DCE8"/>
                </a:solidFill>
                <a:latin typeface="Calibri" pitchFamily="34" charset="0"/>
                <a:ea typeface="Calibri" pitchFamily="34" charset="-122"/>
                <a:cs typeface="Calibri" pitchFamily="34" charset="-120"/>
              </a:rPr>
              <a:t>Read it out loud: “Run a SYN scan with version detection and OS fingerprinting against every port on 10.10.10.5, using an aggressive timing template, and save the results in all three output formats under the name results.”</a:t>
            </a:r>
            <a:endParaRPr lang="en-US" sz="1350" dirty="0"/>
          </a:p>
        </p:txBody>
      </p:sp>
      <p:sp>
        <p:nvSpPr>
          <p:cNvPr id="32" name="Text 30"/>
          <p:cNvSpPr/>
          <p:nvPr/>
        </p:nvSpPr>
        <p:spPr>
          <a:xfrm>
            <a:off x="11365992" y="6446520"/>
            <a:ext cx="457200" cy="274320"/>
          </a:xfrm>
          <a:prstGeom prst="rect">
            <a:avLst/>
          </a:prstGeom>
          <a:noFill/>
          <a:ln/>
        </p:spPr>
        <p:txBody>
          <a:bodyPr wrap="square" rtlCol="0" anchor="ctr"/>
          <a:lstStyle/>
          <a:p>
            <a:pPr algn="r" indent="0" marL="0">
              <a:buNone/>
            </a:pPr>
            <a:r>
              <a:rPr lang="en-US" sz="1000" dirty="0">
                <a:solidFill>
                  <a:srgbClr val="AEB8C4"/>
                </a:solidFill>
                <a:latin typeface="Courier New" pitchFamily="34" charset="0"/>
                <a:ea typeface="Courier New" pitchFamily="34" charset="-122"/>
                <a:cs typeface="Courier New"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rtlCol="0" anchor="ctr"/>
          <a:lstStyle/>
          <a:p>
            <a:pPr algn="l" indent="0" marL="0">
              <a:buNone/>
            </a:pPr>
            <a:r>
              <a:rPr lang="en-US" sz="1200" b="1" spc="200" kern="0" dirty="0">
                <a:solidFill>
                  <a:srgbClr val="1E9E6A"/>
                </a:solidFill>
                <a:latin typeface="Calibri" pitchFamily="34" charset="0"/>
                <a:ea typeface="Calibri" pitchFamily="34" charset="-122"/>
                <a:cs typeface="Calibri" pitchFamily="34" charset="-120"/>
              </a:rPr>
              <a:t>NMAP DEEP DIVE</a:t>
            </a:r>
            <a:endParaRPr lang="en-US" sz="1200" dirty="0"/>
          </a:p>
        </p:txBody>
      </p:sp>
      <p:sp>
        <p:nvSpPr>
          <p:cNvPr id="3" name="Text 1"/>
          <p:cNvSpPr/>
          <p:nvPr/>
        </p:nvSpPr>
        <p:spPr>
          <a:xfrm>
            <a:off x="502920" y="658368"/>
            <a:ext cx="10515600" cy="548640"/>
          </a:xfrm>
          <a:prstGeom prst="rect">
            <a:avLst/>
          </a:prstGeom>
          <a:noFill/>
          <a:ln/>
        </p:spPr>
        <p:txBody>
          <a:bodyPr wrap="square" rtlCol="0" anchor="ctr"/>
          <a:lstStyle/>
          <a:p>
            <a:pPr algn="l" indent="0" marL="0">
              <a:buNone/>
            </a:pPr>
            <a:r>
              <a:rPr lang="en-US" sz="3200" b="1" dirty="0">
                <a:solidFill>
                  <a:srgbClr val="16213E"/>
                </a:solidFill>
                <a:latin typeface="Calibri" pitchFamily="34" charset="0"/>
                <a:ea typeface="Calibri" pitchFamily="34" charset="-122"/>
                <a:cs typeface="Calibri" pitchFamily="34" charset="-120"/>
              </a:rPr>
              <a:t>Nmap Flag Cheat-Sheet</a:t>
            </a:r>
            <a:endParaRPr lang="en-US" sz="3200" dirty="0"/>
          </a:p>
        </p:txBody>
      </p:sp>
      <p:sp>
        <p:nvSpPr>
          <p:cNvPr id="4" name="Text 2"/>
          <p:cNvSpPr/>
          <p:nvPr/>
        </p:nvSpPr>
        <p:spPr>
          <a:xfrm>
            <a:off x="502920" y="1161288"/>
            <a:ext cx="10515600" cy="365760"/>
          </a:xfrm>
          <a:prstGeom prst="rect">
            <a:avLst/>
          </a:prstGeom>
          <a:noFill/>
          <a:ln/>
        </p:spPr>
        <p:txBody>
          <a:bodyPr wrap="square" rtlCol="0" anchor="ctr"/>
          <a:lstStyle/>
          <a:p>
            <a:pPr algn="l" indent="0" marL="0">
              <a:buNone/>
            </a:pPr>
            <a:r>
              <a:rPr lang="en-US" sz="1400" dirty="0">
                <a:solidFill>
                  <a:srgbClr val="5C6B84"/>
                </a:solidFill>
                <a:latin typeface="Calibri" pitchFamily="34" charset="0"/>
                <a:ea typeface="Calibri" pitchFamily="34" charset="-122"/>
                <a:cs typeface="Calibri" pitchFamily="34" charset="-120"/>
              </a:rPr>
              <a:t>Group these by purpose in your head, not alphabetically</a:t>
            </a:r>
            <a:endParaRPr lang="en-US" sz="1400" dirty="0"/>
          </a:p>
        </p:txBody>
      </p:sp>
      <p:sp>
        <p:nvSpPr>
          <p:cNvPr id="5" name="Shape 3"/>
          <p:cNvSpPr/>
          <p:nvPr/>
        </p:nvSpPr>
        <p:spPr>
          <a:xfrm>
            <a:off x="502920" y="1737360"/>
            <a:ext cx="3544824" cy="1965960"/>
          </a:xfrm>
          <a:prstGeom prst="roundRect">
            <a:avLst>
              <a:gd name="adj" fmla="val 3721"/>
            </a:avLst>
          </a:prstGeom>
          <a:solidFill>
            <a:srgbClr val="F2F5F7"/>
          </a:solidFill>
          <a:ln/>
          <a:effectLst>
            <a:outerShdw sx="100000" sy="100000" kx="0" ky="0" algn="bl" rotWithShape="0" blurRad="76200" dist="25400" dir="5400000">
              <a:srgbClr val="000000">
                <a:alpha val="12000"/>
              </a:srgbClr>
            </a:outerShdw>
          </a:effectLst>
        </p:spPr>
      </p:sp>
      <p:sp>
        <p:nvSpPr>
          <p:cNvPr id="6" name="Shape 4"/>
          <p:cNvSpPr/>
          <p:nvPr/>
        </p:nvSpPr>
        <p:spPr>
          <a:xfrm>
            <a:off x="704088" y="1920240"/>
            <a:ext cx="384048" cy="384048"/>
          </a:xfrm>
          <a:prstGeom prst="ellipse">
            <a:avLst/>
          </a:prstGeom>
          <a:solidFill>
            <a:srgbClr val="4FB6E8"/>
          </a:solidFill>
          <a:ln/>
        </p:spPr>
      </p:sp>
      <p:sp>
        <p:nvSpPr>
          <p:cNvPr id="7" name="Text 5"/>
          <p:cNvSpPr/>
          <p:nvPr/>
        </p:nvSpPr>
        <p:spPr>
          <a:xfrm>
            <a:off x="704088" y="1920240"/>
            <a:ext cx="384048" cy="384048"/>
          </a:xfrm>
          <a:prstGeom prst="rect">
            <a:avLst/>
          </a:prstGeom>
          <a:noFill/>
          <a:ln/>
        </p:spPr>
        <p:txBody>
          <a:bodyPr wrap="square" rtlCol="0" anchor="ctr"/>
          <a:lstStyle/>
          <a:p>
            <a:pPr algn="ctr" indent="0" marL="0">
              <a:buNone/>
            </a:pPr>
            <a:r>
              <a:rPr lang="en-US" sz="1600" b="1" dirty="0">
                <a:solidFill>
                  <a:srgbClr val="0B132B"/>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704088" y="2423160"/>
            <a:ext cx="3142488" cy="365760"/>
          </a:xfrm>
          <a:prstGeom prst="rect">
            <a:avLst/>
          </a:prstGeom>
          <a:noFill/>
          <a:ln/>
        </p:spPr>
        <p:txBody>
          <a:bodyPr wrap="square" rtlCol="0" anchor="ctr"/>
          <a:lstStyle/>
          <a:p>
            <a:pPr indent="0" marL="0">
              <a:buNone/>
            </a:pPr>
            <a:r>
              <a:rPr lang="en-US" sz="1500" b="1" dirty="0">
                <a:solidFill>
                  <a:srgbClr val="16213E"/>
                </a:solidFill>
                <a:latin typeface="Calibri" pitchFamily="34" charset="0"/>
                <a:ea typeface="Calibri" pitchFamily="34" charset="-122"/>
                <a:cs typeface="Calibri" pitchFamily="34" charset="-120"/>
              </a:rPr>
              <a:t>Scan Type</a:t>
            </a:r>
            <a:endParaRPr lang="en-US" sz="1500" dirty="0"/>
          </a:p>
        </p:txBody>
      </p:sp>
      <p:sp>
        <p:nvSpPr>
          <p:cNvPr id="9" name="Text 7"/>
          <p:cNvSpPr/>
          <p:nvPr/>
        </p:nvSpPr>
        <p:spPr>
          <a:xfrm>
            <a:off x="704088" y="2788920"/>
            <a:ext cx="3142488" cy="777240"/>
          </a:xfrm>
          <a:prstGeom prst="rect">
            <a:avLst/>
          </a:prstGeom>
          <a:noFill/>
          <a:ln/>
        </p:spPr>
        <p:txBody>
          <a:bodyPr wrap="square" rtlCol="0" anchor="t"/>
          <a:lstStyle/>
          <a:p>
            <a:pPr indent="0" marL="0">
              <a:lnSpc>
                <a:spcPct val="115000"/>
              </a:lnSpc>
              <a:buNone/>
            </a:pPr>
            <a:r>
              <a:rPr lang="en-US" sz="1150" dirty="0">
                <a:solidFill>
                  <a:srgbClr val="5C6B84"/>
                </a:solidFill>
                <a:latin typeface="Calibri" pitchFamily="34" charset="0"/>
                <a:ea typeface="Calibri" pitchFamily="34" charset="-122"/>
                <a:cs typeface="Calibri" pitchFamily="34" charset="-120"/>
              </a:rPr>
              <a:t>-sS / -sT / -sU</a:t>
            </a:r>
            <a:endParaRPr lang="en-US" sz="1150" dirty="0"/>
          </a:p>
          <a:p>
            <a:pPr indent="0" marL="0">
              <a:lnSpc>
                <a:spcPct val="115000"/>
              </a:lnSpc>
              <a:buNone/>
            </a:pPr>
            <a:r>
              <a:rPr lang="en-US" sz="1150" dirty="0">
                <a:solidFill>
                  <a:srgbClr val="5C6B84"/>
                </a:solidFill>
                <a:latin typeface="Calibri" pitchFamily="34" charset="0"/>
                <a:ea typeface="Calibri" pitchFamily="34" charset="-122"/>
                <a:cs typeface="Calibri" pitchFamily="34" charset="-120"/>
              </a:rPr>
              <a:t>-sA / -sF / -sN / -sX</a:t>
            </a:r>
            <a:endParaRPr lang="en-US" sz="1150" dirty="0"/>
          </a:p>
          <a:p>
            <a:pPr indent="0" marL="0">
              <a:lnSpc>
                <a:spcPct val="115000"/>
              </a:lnSpc>
              <a:buNone/>
            </a:pPr>
            <a:r>
              <a:rPr lang="en-US" sz="1150" dirty="0">
                <a:solidFill>
                  <a:srgbClr val="5C6B84"/>
                </a:solidFill>
                <a:latin typeface="Calibri" pitchFamily="34" charset="0"/>
                <a:ea typeface="Calibri" pitchFamily="34" charset="-122"/>
                <a:cs typeface="Calibri" pitchFamily="34" charset="-120"/>
              </a:rPr>
              <a:t>-sn (host discovery)</a:t>
            </a:r>
            <a:endParaRPr lang="en-US" sz="1150" dirty="0"/>
          </a:p>
        </p:txBody>
      </p:sp>
      <p:sp>
        <p:nvSpPr>
          <p:cNvPr id="10" name="Shape 8"/>
          <p:cNvSpPr/>
          <p:nvPr/>
        </p:nvSpPr>
        <p:spPr>
          <a:xfrm>
            <a:off x="4322064" y="1737360"/>
            <a:ext cx="3544824" cy="1965960"/>
          </a:xfrm>
          <a:prstGeom prst="roundRect">
            <a:avLst>
              <a:gd name="adj" fmla="val 3721"/>
            </a:avLst>
          </a:prstGeom>
          <a:solidFill>
            <a:srgbClr val="F2F5F7"/>
          </a:solidFill>
          <a:ln/>
          <a:effectLst>
            <a:outerShdw sx="100000" sy="100000" kx="0" ky="0" algn="bl" rotWithShape="0" blurRad="76200" dist="25400" dir="5400000">
              <a:srgbClr val="000000">
                <a:alpha val="12000"/>
              </a:srgbClr>
            </a:outerShdw>
          </a:effectLst>
        </p:spPr>
      </p:sp>
      <p:sp>
        <p:nvSpPr>
          <p:cNvPr id="11" name="Shape 9"/>
          <p:cNvSpPr/>
          <p:nvPr/>
        </p:nvSpPr>
        <p:spPr>
          <a:xfrm>
            <a:off x="4523232" y="1920240"/>
            <a:ext cx="384048" cy="384048"/>
          </a:xfrm>
          <a:prstGeom prst="ellipse">
            <a:avLst/>
          </a:prstGeom>
          <a:solidFill>
            <a:srgbClr val="4FB6E8"/>
          </a:solidFill>
          <a:ln/>
        </p:spPr>
      </p:sp>
      <p:sp>
        <p:nvSpPr>
          <p:cNvPr id="12" name="Text 10"/>
          <p:cNvSpPr/>
          <p:nvPr/>
        </p:nvSpPr>
        <p:spPr>
          <a:xfrm>
            <a:off x="4523232" y="1920240"/>
            <a:ext cx="384048" cy="384048"/>
          </a:xfrm>
          <a:prstGeom prst="rect">
            <a:avLst/>
          </a:prstGeom>
          <a:noFill/>
          <a:ln/>
        </p:spPr>
        <p:txBody>
          <a:bodyPr wrap="square" rtlCol="0" anchor="ctr"/>
          <a:lstStyle/>
          <a:p>
            <a:pPr algn="ctr" indent="0" marL="0">
              <a:buNone/>
            </a:pPr>
            <a:r>
              <a:rPr lang="en-US" sz="1600" b="1" dirty="0">
                <a:solidFill>
                  <a:srgbClr val="0B132B"/>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4523232" y="2423160"/>
            <a:ext cx="3142488" cy="365760"/>
          </a:xfrm>
          <a:prstGeom prst="rect">
            <a:avLst/>
          </a:prstGeom>
          <a:noFill/>
          <a:ln/>
        </p:spPr>
        <p:txBody>
          <a:bodyPr wrap="square" rtlCol="0" anchor="ctr"/>
          <a:lstStyle/>
          <a:p>
            <a:pPr indent="0" marL="0">
              <a:buNone/>
            </a:pPr>
            <a:r>
              <a:rPr lang="en-US" sz="1500" b="1" dirty="0">
                <a:solidFill>
                  <a:srgbClr val="16213E"/>
                </a:solidFill>
                <a:latin typeface="Calibri" pitchFamily="34" charset="0"/>
                <a:ea typeface="Calibri" pitchFamily="34" charset="-122"/>
                <a:cs typeface="Calibri" pitchFamily="34" charset="-120"/>
              </a:rPr>
              <a:t>Port Specification</a:t>
            </a:r>
            <a:endParaRPr lang="en-US" sz="1500" dirty="0"/>
          </a:p>
        </p:txBody>
      </p:sp>
      <p:sp>
        <p:nvSpPr>
          <p:cNvPr id="14" name="Text 12"/>
          <p:cNvSpPr/>
          <p:nvPr/>
        </p:nvSpPr>
        <p:spPr>
          <a:xfrm>
            <a:off x="4523232" y="2788920"/>
            <a:ext cx="3142488" cy="777240"/>
          </a:xfrm>
          <a:prstGeom prst="rect">
            <a:avLst/>
          </a:prstGeom>
          <a:noFill/>
          <a:ln/>
        </p:spPr>
        <p:txBody>
          <a:bodyPr wrap="square" rtlCol="0" anchor="t"/>
          <a:lstStyle/>
          <a:p>
            <a:pPr indent="0" marL="0">
              <a:lnSpc>
                <a:spcPct val="115000"/>
              </a:lnSpc>
              <a:buNone/>
            </a:pPr>
            <a:r>
              <a:rPr lang="en-US" sz="1150" dirty="0">
                <a:solidFill>
                  <a:srgbClr val="5C6B84"/>
                </a:solidFill>
                <a:latin typeface="Calibri" pitchFamily="34" charset="0"/>
                <a:ea typeface="Calibri" pitchFamily="34" charset="-122"/>
                <a:cs typeface="Calibri" pitchFamily="34" charset="-120"/>
              </a:rPr>
              <a:t>-p 22,80,443</a:t>
            </a:r>
            <a:endParaRPr lang="en-US" sz="1150" dirty="0"/>
          </a:p>
          <a:p>
            <a:pPr indent="0" marL="0">
              <a:lnSpc>
                <a:spcPct val="115000"/>
              </a:lnSpc>
              <a:buNone/>
            </a:pPr>
            <a:r>
              <a:rPr lang="en-US" sz="1150" dirty="0">
                <a:solidFill>
                  <a:srgbClr val="5C6B84"/>
                </a:solidFill>
                <a:latin typeface="Calibri" pitchFamily="34" charset="0"/>
                <a:ea typeface="Calibri" pitchFamily="34" charset="-122"/>
                <a:cs typeface="Calibri" pitchFamily="34" charset="-120"/>
              </a:rPr>
              <a:t>-p-  (all 65535 ports)</a:t>
            </a:r>
            <a:endParaRPr lang="en-US" sz="1150" dirty="0"/>
          </a:p>
          <a:p>
            <a:pPr indent="0" marL="0">
              <a:lnSpc>
                <a:spcPct val="115000"/>
              </a:lnSpc>
              <a:buNone/>
            </a:pPr>
            <a:r>
              <a:rPr lang="en-US" sz="1150" dirty="0">
                <a:solidFill>
                  <a:srgbClr val="5C6B84"/>
                </a:solidFill>
                <a:latin typeface="Calibri" pitchFamily="34" charset="0"/>
                <a:ea typeface="Calibri" pitchFamily="34" charset="-122"/>
                <a:cs typeface="Calibri" pitchFamily="34" charset="-120"/>
              </a:rPr>
              <a:t>-F  (fast, top 100 ports)</a:t>
            </a:r>
            <a:endParaRPr lang="en-US" sz="1150" dirty="0"/>
          </a:p>
        </p:txBody>
      </p:sp>
      <p:sp>
        <p:nvSpPr>
          <p:cNvPr id="15" name="Shape 13"/>
          <p:cNvSpPr/>
          <p:nvPr/>
        </p:nvSpPr>
        <p:spPr>
          <a:xfrm>
            <a:off x="8141208" y="1737360"/>
            <a:ext cx="3544824" cy="1965960"/>
          </a:xfrm>
          <a:prstGeom prst="roundRect">
            <a:avLst>
              <a:gd name="adj" fmla="val 3721"/>
            </a:avLst>
          </a:prstGeom>
          <a:solidFill>
            <a:srgbClr val="F2F5F7"/>
          </a:solidFill>
          <a:ln/>
          <a:effectLst>
            <a:outerShdw sx="100000" sy="100000" kx="0" ky="0" algn="bl" rotWithShape="0" blurRad="76200" dist="25400" dir="5400000">
              <a:srgbClr val="000000">
                <a:alpha val="12000"/>
              </a:srgbClr>
            </a:outerShdw>
          </a:effectLst>
        </p:spPr>
      </p:sp>
      <p:sp>
        <p:nvSpPr>
          <p:cNvPr id="16" name="Shape 14"/>
          <p:cNvSpPr/>
          <p:nvPr/>
        </p:nvSpPr>
        <p:spPr>
          <a:xfrm>
            <a:off x="8342376" y="1920240"/>
            <a:ext cx="384048" cy="384048"/>
          </a:xfrm>
          <a:prstGeom prst="ellipse">
            <a:avLst/>
          </a:prstGeom>
          <a:solidFill>
            <a:srgbClr val="4FB6E8"/>
          </a:solidFill>
          <a:ln/>
        </p:spPr>
      </p:sp>
      <p:sp>
        <p:nvSpPr>
          <p:cNvPr id="17" name="Text 15"/>
          <p:cNvSpPr/>
          <p:nvPr/>
        </p:nvSpPr>
        <p:spPr>
          <a:xfrm>
            <a:off x="8342376" y="1920240"/>
            <a:ext cx="384048" cy="384048"/>
          </a:xfrm>
          <a:prstGeom prst="rect">
            <a:avLst/>
          </a:prstGeom>
          <a:noFill/>
          <a:ln/>
        </p:spPr>
        <p:txBody>
          <a:bodyPr wrap="square" rtlCol="0" anchor="ctr"/>
          <a:lstStyle/>
          <a:p>
            <a:pPr algn="ctr" indent="0" marL="0">
              <a:buNone/>
            </a:pPr>
            <a:r>
              <a:rPr lang="en-US" sz="1600" b="1" dirty="0">
                <a:solidFill>
                  <a:srgbClr val="0B132B"/>
                </a:solidFill>
                <a:latin typeface="Calibri" pitchFamily="34" charset="0"/>
                <a:ea typeface="Calibri" pitchFamily="34" charset="-122"/>
                <a:cs typeface="Calibri" pitchFamily="34" charset="-120"/>
              </a:rPr>
              <a:t>3</a:t>
            </a:r>
            <a:endParaRPr lang="en-US" sz="1600" dirty="0"/>
          </a:p>
        </p:txBody>
      </p:sp>
      <p:sp>
        <p:nvSpPr>
          <p:cNvPr id="18" name="Text 16"/>
          <p:cNvSpPr/>
          <p:nvPr/>
        </p:nvSpPr>
        <p:spPr>
          <a:xfrm>
            <a:off x="8342376" y="2423160"/>
            <a:ext cx="3142488" cy="365760"/>
          </a:xfrm>
          <a:prstGeom prst="rect">
            <a:avLst/>
          </a:prstGeom>
          <a:noFill/>
          <a:ln/>
        </p:spPr>
        <p:txBody>
          <a:bodyPr wrap="square" rtlCol="0" anchor="ctr"/>
          <a:lstStyle/>
          <a:p>
            <a:pPr indent="0" marL="0">
              <a:buNone/>
            </a:pPr>
            <a:r>
              <a:rPr lang="en-US" sz="1500" b="1" dirty="0">
                <a:solidFill>
                  <a:srgbClr val="16213E"/>
                </a:solidFill>
                <a:latin typeface="Calibri" pitchFamily="34" charset="0"/>
                <a:ea typeface="Calibri" pitchFamily="34" charset="-122"/>
                <a:cs typeface="Calibri" pitchFamily="34" charset="-120"/>
              </a:rPr>
              <a:t>Detection</a:t>
            </a:r>
            <a:endParaRPr lang="en-US" sz="1500" dirty="0"/>
          </a:p>
        </p:txBody>
      </p:sp>
      <p:sp>
        <p:nvSpPr>
          <p:cNvPr id="19" name="Text 17"/>
          <p:cNvSpPr/>
          <p:nvPr/>
        </p:nvSpPr>
        <p:spPr>
          <a:xfrm>
            <a:off x="8342376" y="2788920"/>
            <a:ext cx="3142488" cy="777240"/>
          </a:xfrm>
          <a:prstGeom prst="rect">
            <a:avLst/>
          </a:prstGeom>
          <a:noFill/>
          <a:ln/>
        </p:spPr>
        <p:txBody>
          <a:bodyPr wrap="square" rtlCol="0" anchor="t"/>
          <a:lstStyle/>
          <a:p>
            <a:pPr indent="0" marL="0">
              <a:lnSpc>
                <a:spcPct val="115000"/>
              </a:lnSpc>
              <a:buNone/>
            </a:pPr>
            <a:r>
              <a:rPr lang="en-US" sz="1150" dirty="0">
                <a:solidFill>
                  <a:srgbClr val="5C6B84"/>
                </a:solidFill>
                <a:latin typeface="Calibri" pitchFamily="34" charset="0"/>
                <a:ea typeface="Calibri" pitchFamily="34" charset="-122"/>
                <a:cs typeface="Calibri" pitchFamily="34" charset="-120"/>
              </a:rPr>
              <a:t>-sV  (service/version)</a:t>
            </a:r>
            <a:endParaRPr lang="en-US" sz="1150" dirty="0"/>
          </a:p>
          <a:p>
            <a:pPr indent="0" marL="0">
              <a:lnSpc>
                <a:spcPct val="115000"/>
              </a:lnSpc>
              <a:buNone/>
            </a:pPr>
            <a:r>
              <a:rPr lang="en-US" sz="1150" dirty="0">
                <a:solidFill>
                  <a:srgbClr val="5C6B84"/>
                </a:solidFill>
                <a:latin typeface="Calibri" pitchFamily="34" charset="0"/>
                <a:ea typeface="Calibri" pitchFamily="34" charset="-122"/>
                <a:cs typeface="Calibri" pitchFamily="34" charset="-120"/>
              </a:rPr>
              <a:t>-O   (OS fingerprint)</a:t>
            </a:r>
            <a:endParaRPr lang="en-US" sz="1150" dirty="0"/>
          </a:p>
          <a:p>
            <a:pPr indent="0" marL="0">
              <a:lnSpc>
                <a:spcPct val="115000"/>
              </a:lnSpc>
              <a:buNone/>
            </a:pPr>
            <a:r>
              <a:rPr lang="en-US" sz="1150" dirty="0">
                <a:solidFill>
                  <a:srgbClr val="5C6B84"/>
                </a:solidFill>
                <a:latin typeface="Calibri" pitchFamily="34" charset="0"/>
                <a:ea typeface="Calibri" pitchFamily="34" charset="-122"/>
                <a:cs typeface="Calibri" pitchFamily="34" charset="-120"/>
              </a:rPr>
              <a:t>-A   (aggressive: -sV -O -sC --traceroute)</a:t>
            </a:r>
            <a:endParaRPr lang="en-US" sz="1150" dirty="0"/>
          </a:p>
        </p:txBody>
      </p:sp>
      <p:sp>
        <p:nvSpPr>
          <p:cNvPr id="20" name="Shape 18"/>
          <p:cNvSpPr/>
          <p:nvPr/>
        </p:nvSpPr>
        <p:spPr>
          <a:xfrm>
            <a:off x="502920" y="3977640"/>
            <a:ext cx="3544824" cy="1965960"/>
          </a:xfrm>
          <a:prstGeom prst="roundRect">
            <a:avLst>
              <a:gd name="adj" fmla="val 3721"/>
            </a:avLst>
          </a:prstGeom>
          <a:solidFill>
            <a:srgbClr val="F2F5F7"/>
          </a:solidFill>
          <a:ln/>
          <a:effectLst>
            <a:outerShdw sx="100000" sy="100000" kx="0" ky="0" algn="bl" rotWithShape="0" blurRad="76200" dist="25400" dir="5400000">
              <a:srgbClr val="000000">
                <a:alpha val="12000"/>
              </a:srgbClr>
            </a:outerShdw>
          </a:effectLst>
        </p:spPr>
      </p:sp>
      <p:sp>
        <p:nvSpPr>
          <p:cNvPr id="21" name="Shape 19"/>
          <p:cNvSpPr/>
          <p:nvPr/>
        </p:nvSpPr>
        <p:spPr>
          <a:xfrm>
            <a:off x="704088" y="4160520"/>
            <a:ext cx="384048" cy="384048"/>
          </a:xfrm>
          <a:prstGeom prst="ellipse">
            <a:avLst/>
          </a:prstGeom>
          <a:solidFill>
            <a:srgbClr val="4FB6E8"/>
          </a:solidFill>
          <a:ln/>
        </p:spPr>
      </p:sp>
      <p:sp>
        <p:nvSpPr>
          <p:cNvPr id="22" name="Text 20"/>
          <p:cNvSpPr/>
          <p:nvPr/>
        </p:nvSpPr>
        <p:spPr>
          <a:xfrm>
            <a:off x="704088" y="4160520"/>
            <a:ext cx="384048" cy="384048"/>
          </a:xfrm>
          <a:prstGeom prst="rect">
            <a:avLst/>
          </a:prstGeom>
          <a:noFill/>
          <a:ln/>
        </p:spPr>
        <p:txBody>
          <a:bodyPr wrap="square" rtlCol="0" anchor="ctr"/>
          <a:lstStyle/>
          <a:p>
            <a:pPr algn="ctr" indent="0" marL="0">
              <a:buNone/>
            </a:pPr>
            <a:r>
              <a:rPr lang="en-US" sz="1600" b="1" dirty="0">
                <a:solidFill>
                  <a:srgbClr val="0B132B"/>
                </a:solidFill>
                <a:latin typeface="Calibri" pitchFamily="34" charset="0"/>
                <a:ea typeface="Calibri" pitchFamily="34" charset="-122"/>
                <a:cs typeface="Calibri" pitchFamily="34" charset="-120"/>
              </a:rPr>
              <a:t>4</a:t>
            </a:r>
            <a:endParaRPr lang="en-US" sz="1600" dirty="0"/>
          </a:p>
        </p:txBody>
      </p:sp>
      <p:sp>
        <p:nvSpPr>
          <p:cNvPr id="23" name="Text 21"/>
          <p:cNvSpPr/>
          <p:nvPr/>
        </p:nvSpPr>
        <p:spPr>
          <a:xfrm>
            <a:off x="704088" y="4663440"/>
            <a:ext cx="3142488" cy="365760"/>
          </a:xfrm>
          <a:prstGeom prst="rect">
            <a:avLst/>
          </a:prstGeom>
          <a:noFill/>
          <a:ln/>
        </p:spPr>
        <p:txBody>
          <a:bodyPr wrap="square" rtlCol="0" anchor="ctr"/>
          <a:lstStyle/>
          <a:p>
            <a:pPr indent="0" marL="0">
              <a:buNone/>
            </a:pPr>
            <a:r>
              <a:rPr lang="en-US" sz="1500" b="1" dirty="0">
                <a:solidFill>
                  <a:srgbClr val="16213E"/>
                </a:solidFill>
                <a:latin typeface="Calibri" pitchFamily="34" charset="0"/>
                <a:ea typeface="Calibri" pitchFamily="34" charset="-122"/>
                <a:cs typeface="Calibri" pitchFamily="34" charset="-120"/>
              </a:rPr>
              <a:t>Timing</a:t>
            </a:r>
            <a:endParaRPr lang="en-US" sz="1500" dirty="0"/>
          </a:p>
        </p:txBody>
      </p:sp>
      <p:sp>
        <p:nvSpPr>
          <p:cNvPr id="24" name="Text 22"/>
          <p:cNvSpPr/>
          <p:nvPr/>
        </p:nvSpPr>
        <p:spPr>
          <a:xfrm>
            <a:off x="704088" y="5029200"/>
            <a:ext cx="3142488" cy="777240"/>
          </a:xfrm>
          <a:prstGeom prst="rect">
            <a:avLst/>
          </a:prstGeom>
          <a:noFill/>
          <a:ln/>
        </p:spPr>
        <p:txBody>
          <a:bodyPr wrap="square" rtlCol="0" anchor="t"/>
          <a:lstStyle/>
          <a:p>
            <a:pPr indent="0" marL="0">
              <a:lnSpc>
                <a:spcPct val="115000"/>
              </a:lnSpc>
              <a:buNone/>
            </a:pPr>
            <a:r>
              <a:rPr lang="en-US" sz="1150" dirty="0">
                <a:solidFill>
                  <a:srgbClr val="5C6B84"/>
                </a:solidFill>
                <a:latin typeface="Calibri" pitchFamily="34" charset="0"/>
                <a:ea typeface="Calibri" pitchFamily="34" charset="-122"/>
                <a:cs typeface="Calibri" pitchFamily="34" charset="-120"/>
              </a:rPr>
              <a:t>-T0 → -T5  (paranoid → insane)</a:t>
            </a:r>
            <a:endParaRPr lang="en-US" sz="1150" dirty="0"/>
          </a:p>
          <a:p>
            <a:pPr indent="0" marL="0">
              <a:lnSpc>
                <a:spcPct val="115000"/>
              </a:lnSpc>
              <a:buNone/>
            </a:pPr>
            <a:r>
              <a:rPr lang="en-US" sz="1150" dirty="0">
                <a:solidFill>
                  <a:srgbClr val="5C6B84"/>
                </a:solidFill>
                <a:latin typeface="Calibri" pitchFamily="34" charset="0"/>
                <a:ea typeface="Calibri" pitchFamily="34" charset="-122"/>
                <a:cs typeface="Calibri" pitchFamily="34" charset="-120"/>
              </a:rPr>
              <a:t>--min-rate / --max-rate</a:t>
            </a:r>
            <a:endParaRPr lang="en-US" sz="1150" dirty="0"/>
          </a:p>
          <a:p>
            <a:pPr indent="0" marL="0">
              <a:lnSpc>
                <a:spcPct val="115000"/>
              </a:lnSpc>
              <a:buNone/>
            </a:pPr>
            <a:r>
              <a:rPr lang="en-US" sz="1150" dirty="0">
                <a:solidFill>
                  <a:srgbClr val="5C6B84"/>
                </a:solidFill>
                <a:latin typeface="Calibri" pitchFamily="34" charset="0"/>
                <a:ea typeface="Calibri" pitchFamily="34" charset="-122"/>
                <a:cs typeface="Calibri" pitchFamily="34" charset="-120"/>
              </a:rPr>
              <a:t>--host-timeout</a:t>
            </a:r>
            <a:endParaRPr lang="en-US" sz="1150" dirty="0"/>
          </a:p>
        </p:txBody>
      </p:sp>
      <p:sp>
        <p:nvSpPr>
          <p:cNvPr id="25" name="Shape 23"/>
          <p:cNvSpPr/>
          <p:nvPr/>
        </p:nvSpPr>
        <p:spPr>
          <a:xfrm>
            <a:off x="4322064" y="3977640"/>
            <a:ext cx="3544824" cy="1965960"/>
          </a:xfrm>
          <a:prstGeom prst="roundRect">
            <a:avLst>
              <a:gd name="adj" fmla="val 3721"/>
            </a:avLst>
          </a:prstGeom>
          <a:solidFill>
            <a:srgbClr val="F2F5F7"/>
          </a:solidFill>
          <a:ln/>
          <a:effectLst>
            <a:outerShdw sx="100000" sy="100000" kx="0" ky="0" algn="bl" rotWithShape="0" blurRad="76200" dist="25400" dir="5400000">
              <a:srgbClr val="000000">
                <a:alpha val="12000"/>
              </a:srgbClr>
            </a:outerShdw>
          </a:effectLst>
        </p:spPr>
      </p:sp>
      <p:sp>
        <p:nvSpPr>
          <p:cNvPr id="26" name="Shape 24"/>
          <p:cNvSpPr/>
          <p:nvPr/>
        </p:nvSpPr>
        <p:spPr>
          <a:xfrm>
            <a:off x="4523232" y="4160520"/>
            <a:ext cx="384048" cy="384048"/>
          </a:xfrm>
          <a:prstGeom prst="ellipse">
            <a:avLst/>
          </a:prstGeom>
          <a:solidFill>
            <a:srgbClr val="4FB6E8"/>
          </a:solidFill>
          <a:ln/>
        </p:spPr>
      </p:sp>
      <p:sp>
        <p:nvSpPr>
          <p:cNvPr id="27" name="Text 25"/>
          <p:cNvSpPr/>
          <p:nvPr/>
        </p:nvSpPr>
        <p:spPr>
          <a:xfrm>
            <a:off x="4523232" y="4160520"/>
            <a:ext cx="384048" cy="384048"/>
          </a:xfrm>
          <a:prstGeom prst="rect">
            <a:avLst/>
          </a:prstGeom>
          <a:noFill/>
          <a:ln/>
        </p:spPr>
        <p:txBody>
          <a:bodyPr wrap="square" rtlCol="0" anchor="ctr"/>
          <a:lstStyle/>
          <a:p>
            <a:pPr algn="ctr" indent="0" marL="0">
              <a:buNone/>
            </a:pPr>
            <a:r>
              <a:rPr lang="en-US" sz="1600" b="1" dirty="0">
                <a:solidFill>
                  <a:srgbClr val="0B132B"/>
                </a:solidFill>
                <a:latin typeface="Calibri" pitchFamily="34" charset="0"/>
                <a:ea typeface="Calibri" pitchFamily="34" charset="-122"/>
                <a:cs typeface="Calibri" pitchFamily="34" charset="-120"/>
              </a:rPr>
              <a:t>5</a:t>
            </a:r>
            <a:endParaRPr lang="en-US" sz="1600" dirty="0"/>
          </a:p>
        </p:txBody>
      </p:sp>
      <p:sp>
        <p:nvSpPr>
          <p:cNvPr id="28" name="Text 26"/>
          <p:cNvSpPr/>
          <p:nvPr/>
        </p:nvSpPr>
        <p:spPr>
          <a:xfrm>
            <a:off x="4523232" y="4663440"/>
            <a:ext cx="3142488" cy="365760"/>
          </a:xfrm>
          <a:prstGeom prst="rect">
            <a:avLst/>
          </a:prstGeom>
          <a:noFill/>
          <a:ln/>
        </p:spPr>
        <p:txBody>
          <a:bodyPr wrap="square" rtlCol="0" anchor="ctr"/>
          <a:lstStyle/>
          <a:p>
            <a:pPr indent="0" marL="0">
              <a:buNone/>
            </a:pPr>
            <a:r>
              <a:rPr lang="en-US" sz="1500" b="1" dirty="0">
                <a:solidFill>
                  <a:srgbClr val="16213E"/>
                </a:solidFill>
                <a:latin typeface="Calibri" pitchFamily="34" charset="0"/>
                <a:ea typeface="Calibri" pitchFamily="34" charset="-122"/>
                <a:cs typeface="Calibri" pitchFamily="34" charset="-120"/>
              </a:rPr>
              <a:t>Output</a:t>
            </a:r>
            <a:endParaRPr lang="en-US" sz="1500" dirty="0"/>
          </a:p>
        </p:txBody>
      </p:sp>
      <p:sp>
        <p:nvSpPr>
          <p:cNvPr id="29" name="Text 27"/>
          <p:cNvSpPr/>
          <p:nvPr/>
        </p:nvSpPr>
        <p:spPr>
          <a:xfrm>
            <a:off x="4523232" y="5029200"/>
            <a:ext cx="3142488" cy="777240"/>
          </a:xfrm>
          <a:prstGeom prst="rect">
            <a:avLst/>
          </a:prstGeom>
          <a:noFill/>
          <a:ln/>
        </p:spPr>
        <p:txBody>
          <a:bodyPr wrap="square" rtlCol="0" anchor="t"/>
          <a:lstStyle/>
          <a:p>
            <a:pPr indent="0" marL="0">
              <a:lnSpc>
                <a:spcPct val="115000"/>
              </a:lnSpc>
              <a:buNone/>
            </a:pPr>
            <a:r>
              <a:rPr lang="en-US" sz="1150" dirty="0">
                <a:solidFill>
                  <a:srgbClr val="5C6B84"/>
                </a:solidFill>
                <a:latin typeface="Calibri" pitchFamily="34" charset="0"/>
                <a:ea typeface="Calibri" pitchFamily="34" charset="-122"/>
                <a:cs typeface="Calibri" pitchFamily="34" charset="-120"/>
              </a:rPr>
              <a:t>-oN  normal text</a:t>
            </a:r>
            <a:endParaRPr lang="en-US" sz="1150" dirty="0"/>
          </a:p>
          <a:p>
            <a:pPr indent="0" marL="0">
              <a:lnSpc>
                <a:spcPct val="115000"/>
              </a:lnSpc>
              <a:buNone/>
            </a:pPr>
            <a:r>
              <a:rPr lang="en-US" sz="1150" dirty="0">
                <a:solidFill>
                  <a:srgbClr val="5C6B84"/>
                </a:solidFill>
                <a:latin typeface="Calibri" pitchFamily="34" charset="0"/>
                <a:ea typeface="Calibri" pitchFamily="34" charset="-122"/>
                <a:cs typeface="Calibri" pitchFamily="34" charset="-120"/>
              </a:rPr>
              <a:t>-oX  XML</a:t>
            </a:r>
            <a:endParaRPr lang="en-US" sz="1150" dirty="0"/>
          </a:p>
          <a:p>
            <a:pPr indent="0" marL="0">
              <a:lnSpc>
                <a:spcPct val="115000"/>
              </a:lnSpc>
              <a:buNone/>
            </a:pPr>
            <a:r>
              <a:rPr lang="en-US" sz="1150" dirty="0">
                <a:solidFill>
                  <a:srgbClr val="5C6B84"/>
                </a:solidFill>
                <a:latin typeface="Calibri" pitchFamily="34" charset="0"/>
                <a:ea typeface="Calibri" pitchFamily="34" charset="-122"/>
                <a:cs typeface="Calibri" pitchFamily="34" charset="-120"/>
              </a:rPr>
              <a:t>-oG  grepable</a:t>
            </a:r>
            <a:endParaRPr lang="en-US" sz="1150" dirty="0"/>
          </a:p>
          <a:p>
            <a:pPr indent="0" marL="0">
              <a:lnSpc>
                <a:spcPct val="115000"/>
              </a:lnSpc>
              <a:buNone/>
            </a:pPr>
            <a:r>
              <a:rPr lang="en-US" sz="1150" dirty="0">
                <a:solidFill>
                  <a:srgbClr val="5C6B84"/>
                </a:solidFill>
                <a:latin typeface="Calibri" pitchFamily="34" charset="0"/>
                <a:ea typeface="Calibri" pitchFamily="34" charset="-122"/>
                <a:cs typeface="Calibri" pitchFamily="34" charset="-120"/>
              </a:rPr>
              <a:t>-oA  all three at once</a:t>
            </a:r>
            <a:endParaRPr lang="en-US" sz="1150" dirty="0"/>
          </a:p>
        </p:txBody>
      </p:sp>
      <p:sp>
        <p:nvSpPr>
          <p:cNvPr id="30" name="Shape 28"/>
          <p:cNvSpPr/>
          <p:nvPr/>
        </p:nvSpPr>
        <p:spPr>
          <a:xfrm>
            <a:off x="8141208" y="3977640"/>
            <a:ext cx="3544824" cy="1965960"/>
          </a:xfrm>
          <a:prstGeom prst="roundRect">
            <a:avLst>
              <a:gd name="adj" fmla="val 3721"/>
            </a:avLst>
          </a:prstGeom>
          <a:solidFill>
            <a:srgbClr val="F2F5F7"/>
          </a:solidFill>
          <a:ln/>
          <a:effectLst>
            <a:outerShdw sx="100000" sy="100000" kx="0" ky="0" algn="bl" rotWithShape="0" blurRad="76200" dist="25400" dir="5400000">
              <a:srgbClr val="000000">
                <a:alpha val="12000"/>
              </a:srgbClr>
            </a:outerShdw>
          </a:effectLst>
        </p:spPr>
      </p:sp>
      <p:sp>
        <p:nvSpPr>
          <p:cNvPr id="31" name="Shape 29"/>
          <p:cNvSpPr/>
          <p:nvPr/>
        </p:nvSpPr>
        <p:spPr>
          <a:xfrm>
            <a:off x="8342376" y="4160520"/>
            <a:ext cx="384048" cy="384048"/>
          </a:xfrm>
          <a:prstGeom prst="ellipse">
            <a:avLst/>
          </a:prstGeom>
          <a:solidFill>
            <a:srgbClr val="4FB6E8"/>
          </a:solidFill>
          <a:ln/>
        </p:spPr>
      </p:sp>
      <p:sp>
        <p:nvSpPr>
          <p:cNvPr id="32" name="Text 30"/>
          <p:cNvSpPr/>
          <p:nvPr/>
        </p:nvSpPr>
        <p:spPr>
          <a:xfrm>
            <a:off x="8342376" y="4160520"/>
            <a:ext cx="384048" cy="384048"/>
          </a:xfrm>
          <a:prstGeom prst="rect">
            <a:avLst/>
          </a:prstGeom>
          <a:noFill/>
          <a:ln/>
        </p:spPr>
        <p:txBody>
          <a:bodyPr wrap="square" rtlCol="0" anchor="ctr"/>
          <a:lstStyle/>
          <a:p>
            <a:pPr algn="ctr" indent="0" marL="0">
              <a:buNone/>
            </a:pPr>
            <a:r>
              <a:rPr lang="en-US" sz="1600" b="1" dirty="0">
                <a:solidFill>
                  <a:srgbClr val="0B132B"/>
                </a:solidFill>
                <a:latin typeface="Calibri" pitchFamily="34" charset="0"/>
                <a:ea typeface="Calibri" pitchFamily="34" charset="-122"/>
                <a:cs typeface="Calibri" pitchFamily="34" charset="-120"/>
              </a:rPr>
              <a:t>6</a:t>
            </a:r>
            <a:endParaRPr lang="en-US" sz="1600" dirty="0"/>
          </a:p>
        </p:txBody>
      </p:sp>
      <p:sp>
        <p:nvSpPr>
          <p:cNvPr id="33" name="Text 31"/>
          <p:cNvSpPr/>
          <p:nvPr/>
        </p:nvSpPr>
        <p:spPr>
          <a:xfrm>
            <a:off x="8342376" y="4663440"/>
            <a:ext cx="3142488" cy="365760"/>
          </a:xfrm>
          <a:prstGeom prst="rect">
            <a:avLst/>
          </a:prstGeom>
          <a:noFill/>
          <a:ln/>
        </p:spPr>
        <p:txBody>
          <a:bodyPr wrap="square" rtlCol="0" anchor="ctr"/>
          <a:lstStyle/>
          <a:p>
            <a:pPr indent="0" marL="0">
              <a:buNone/>
            </a:pPr>
            <a:r>
              <a:rPr lang="en-US" sz="1500" b="1" dirty="0">
                <a:solidFill>
                  <a:srgbClr val="16213E"/>
                </a:solidFill>
                <a:latin typeface="Calibri" pitchFamily="34" charset="0"/>
                <a:ea typeface="Calibri" pitchFamily="34" charset="-122"/>
                <a:cs typeface="Calibri" pitchFamily="34" charset="-120"/>
              </a:rPr>
              <a:t>Useful Extras</a:t>
            </a:r>
            <a:endParaRPr lang="en-US" sz="1500" dirty="0"/>
          </a:p>
        </p:txBody>
      </p:sp>
      <p:sp>
        <p:nvSpPr>
          <p:cNvPr id="34" name="Text 32"/>
          <p:cNvSpPr/>
          <p:nvPr/>
        </p:nvSpPr>
        <p:spPr>
          <a:xfrm>
            <a:off x="8342376" y="5029200"/>
            <a:ext cx="3142488" cy="777240"/>
          </a:xfrm>
          <a:prstGeom prst="rect">
            <a:avLst/>
          </a:prstGeom>
          <a:noFill/>
          <a:ln/>
        </p:spPr>
        <p:txBody>
          <a:bodyPr wrap="square" rtlCol="0" anchor="t"/>
          <a:lstStyle/>
          <a:p>
            <a:pPr indent="0" marL="0">
              <a:lnSpc>
                <a:spcPct val="115000"/>
              </a:lnSpc>
              <a:buNone/>
            </a:pPr>
            <a:r>
              <a:rPr lang="en-US" sz="1150" dirty="0">
                <a:solidFill>
                  <a:srgbClr val="5C6B84"/>
                </a:solidFill>
                <a:latin typeface="Calibri" pitchFamily="34" charset="0"/>
                <a:ea typeface="Calibri" pitchFamily="34" charset="-122"/>
                <a:cs typeface="Calibri" pitchFamily="34" charset="-120"/>
              </a:rPr>
              <a:t>-v / -vv  verbosity</a:t>
            </a:r>
            <a:endParaRPr lang="en-US" sz="1150" dirty="0"/>
          </a:p>
          <a:p>
            <a:pPr indent="0" marL="0">
              <a:lnSpc>
                <a:spcPct val="115000"/>
              </a:lnSpc>
              <a:buNone/>
            </a:pPr>
            <a:r>
              <a:rPr lang="en-US" sz="1150" dirty="0">
                <a:solidFill>
                  <a:srgbClr val="5C6B84"/>
                </a:solidFill>
                <a:latin typeface="Calibri" pitchFamily="34" charset="0"/>
                <a:ea typeface="Calibri" pitchFamily="34" charset="-122"/>
                <a:cs typeface="Calibri" pitchFamily="34" charset="-120"/>
              </a:rPr>
              <a:t>--open  show open ports only</a:t>
            </a:r>
            <a:endParaRPr lang="en-US" sz="1150" dirty="0"/>
          </a:p>
          <a:p>
            <a:pPr indent="0" marL="0">
              <a:lnSpc>
                <a:spcPct val="115000"/>
              </a:lnSpc>
              <a:buNone/>
            </a:pPr>
            <a:r>
              <a:rPr lang="en-US" sz="1150" dirty="0">
                <a:solidFill>
                  <a:srgbClr val="5C6B84"/>
                </a:solidFill>
                <a:latin typeface="Calibri" pitchFamily="34" charset="0"/>
                <a:ea typeface="Calibri" pitchFamily="34" charset="-122"/>
                <a:cs typeface="Calibri" pitchFamily="34" charset="-120"/>
              </a:rPr>
              <a:t>-Pn  skip host discovery</a:t>
            </a:r>
            <a:endParaRPr lang="en-US" sz="1150" dirty="0"/>
          </a:p>
        </p:txBody>
      </p:sp>
      <p:sp>
        <p:nvSpPr>
          <p:cNvPr id="35" name="Text 33"/>
          <p:cNvSpPr/>
          <p:nvPr/>
        </p:nvSpPr>
        <p:spPr>
          <a:xfrm>
            <a:off x="11365992" y="6446520"/>
            <a:ext cx="457200" cy="274320"/>
          </a:xfrm>
          <a:prstGeom prst="rect">
            <a:avLst/>
          </a:prstGeom>
          <a:noFill/>
          <a:ln/>
        </p:spPr>
        <p:txBody>
          <a:bodyPr wrap="square" rtlCol="0" anchor="ctr"/>
          <a:lstStyle/>
          <a:p>
            <a:pPr algn="r" indent="0" marL="0">
              <a:buNone/>
            </a:pPr>
            <a:r>
              <a:rPr lang="en-US" sz="1000" dirty="0">
                <a:solidFill>
                  <a:srgbClr val="8892A6"/>
                </a:solidFill>
                <a:latin typeface="Courier New" pitchFamily="34" charset="0"/>
                <a:ea typeface="Courier New" pitchFamily="34" charset="-122"/>
                <a:cs typeface="Courier New"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rtlCol="0" anchor="ctr"/>
          <a:lstStyle/>
          <a:p>
            <a:pPr algn="l" indent="0" marL="0">
              <a:buNone/>
            </a:pPr>
            <a:r>
              <a:rPr lang="en-US" sz="1200" b="1" spc="200" kern="0" dirty="0">
                <a:solidFill>
                  <a:srgbClr val="1E9E6A"/>
                </a:solidFill>
                <a:latin typeface="Calibri" pitchFamily="34" charset="0"/>
                <a:ea typeface="Calibri" pitchFamily="34" charset="-122"/>
                <a:cs typeface="Calibri" pitchFamily="34" charset="-120"/>
              </a:rPr>
              <a:t>NMAP DEEP DIVE</a:t>
            </a:r>
            <a:endParaRPr lang="en-US" sz="1200" dirty="0"/>
          </a:p>
        </p:txBody>
      </p:sp>
      <p:sp>
        <p:nvSpPr>
          <p:cNvPr id="3" name="Text 1"/>
          <p:cNvSpPr/>
          <p:nvPr/>
        </p:nvSpPr>
        <p:spPr>
          <a:xfrm>
            <a:off x="502920" y="658368"/>
            <a:ext cx="10515600" cy="548640"/>
          </a:xfrm>
          <a:prstGeom prst="rect">
            <a:avLst/>
          </a:prstGeom>
          <a:noFill/>
          <a:ln/>
        </p:spPr>
        <p:txBody>
          <a:bodyPr wrap="square" rtlCol="0" anchor="ctr"/>
          <a:lstStyle/>
          <a:p>
            <a:pPr algn="l" indent="0" marL="0">
              <a:buNone/>
            </a:pPr>
            <a:r>
              <a:rPr lang="en-US" sz="3200" b="1" dirty="0">
                <a:solidFill>
                  <a:srgbClr val="16213E"/>
                </a:solidFill>
                <a:latin typeface="Calibri" pitchFamily="34" charset="0"/>
                <a:ea typeface="Calibri" pitchFamily="34" charset="-122"/>
                <a:cs typeface="Calibri" pitchFamily="34" charset="-120"/>
              </a:rPr>
              <a:t>Timing Templates: Speed vs. Stealth</a:t>
            </a:r>
            <a:endParaRPr lang="en-US" sz="3200" dirty="0"/>
          </a:p>
        </p:txBody>
      </p:sp>
      <p:sp>
        <p:nvSpPr>
          <p:cNvPr id="4" name="Text 2"/>
          <p:cNvSpPr/>
          <p:nvPr/>
        </p:nvSpPr>
        <p:spPr>
          <a:xfrm>
            <a:off x="502920" y="1161288"/>
            <a:ext cx="10515600" cy="365760"/>
          </a:xfrm>
          <a:prstGeom prst="rect">
            <a:avLst/>
          </a:prstGeom>
          <a:noFill/>
          <a:ln/>
        </p:spPr>
        <p:txBody>
          <a:bodyPr wrap="square" rtlCol="0" anchor="ctr"/>
          <a:lstStyle/>
          <a:p>
            <a:pPr algn="l" indent="0" marL="0">
              <a:buNone/>
            </a:pPr>
            <a:r>
              <a:rPr lang="en-US" sz="1400" dirty="0">
                <a:solidFill>
                  <a:srgbClr val="5C6B84"/>
                </a:solidFill>
                <a:latin typeface="Calibri" pitchFamily="34" charset="0"/>
                <a:ea typeface="Calibri" pitchFamily="34" charset="-122"/>
                <a:cs typeface="Calibri" pitchFamily="34" charset="-120"/>
              </a:rPr>
              <a:t>-T0 through -T5 — pick based on your goal, not habit</a:t>
            </a:r>
            <a:endParaRPr lang="en-US" sz="1400" dirty="0"/>
          </a:p>
        </p:txBody>
      </p:sp>
      <p:sp>
        <p:nvSpPr>
          <p:cNvPr id="5" name="Shape 3"/>
          <p:cNvSpPr/>
          <p:nvPr/>
        </p:nvSpPr>
        <p:spPr>
          <a:xfrm>
            <a:off x="502920" y="2103120"/>
            <a:ext cx="1808988" cy="822960"/>
          </a:xfrm>
          <a:prstGeom prst="rect">
            <a:avLst/>
          </a:prstGeom>
          <a:solidFill>
            <a:srgbClr val="9AA5B8"/>
          </a:solidFill>
          <a:ln/>
        </p:spPr>
      </p:sp>
      <p:sp>
        <p:nvSpPr>
          <p:cNvPr id="6" name="Text 4"/>
          <p:cNvSpPr/>
          <p:nvPr/>
        </p:nvSpPr>
        <p:spPr>
          <a:xfrm>
            <a:off x="502920" y="2103120"/>
            <a:ext cx="1808988" cy="822960"/>
          </a:xfrm>
          <a:prstGeom prst="rect">
            <a:avLst/>
          </a:prstGeom>
          <a:noFill/>
          <a:ln/>
        </p:spPr>
        <p:txBody>
          <a:bodyPr wrap="square"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T0</a:t>
            </a:r>
            <a:endParaRPr lang="en-US" sz="2000" dirty="0"/>
          </a:p>
        </p:txBody>
      </p:sp>
      <p:sp>
        <p:nvSpPr>
          <p:cNvPr id="7" name="Shape 5"/>
          <p:cNvSpPr/>
          <p:nvPr/>
        </p:nvSpPr>
        <p:spPr>
          <a:xfrm>
            <a:off x="2366772" y="2103120"/>
            <a:ext cx="1808988" cy="822960"/>
          </a:xfrm>
          <a:prstGeom prst="rect">
            <a:avLst/>
          </a:prstGeom>
          <a:solidFill>
            <a:srgbClr val="9AA5B8"/>
          </a:solidFill>
          <a:ln/>
        </p:spPr>
      </p:sp>
      <p:sp>
        <p:nvSpPr>
          <p:cNvPr id="8" name="Text 6"/>
          <p:cNvSpPr/>
          <p:nvPr/>
        </p:nvSpPr>
        <p:spPr>
          <a:xfrm>
            <a:off x="2366772" y="2103120"/>
            <a:ext cx="1808988" cy="822960"/>
          </a:xfrm>
          <a:prstGeom prst="rect">
            <a:avLst/>
          </a:prstGeom>
          <a:noFill/>
          <a:ln/>
        </p:spPr>
        <p:txBody>
          <a:bodyPr wrap="square"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T1</a:t>
            </a:r>
            <a:endParaRPr lang="en-US" sz="2000" dirty="0"/>
          </a:p>
        </p:txBody>
      </p:sp>
      <p:sp>
        <p:nvSpPr>
          <p:cNvPr id="9" name="Shape 7"/>
          <p:cNvSpPr/>
          <p:nvPr/>
        </p:nvSpPr>
        <p:spPr>
          <a:xfrm>
            <a:off x="4230624" y="2103120"/>
            <a:ext cx="1808988" cy="822960"/>
          </a:xfrm>
          <a:prstGeom prst="rect">
            <a:avLst/>
          </a:prstGeom>
          <a:solidFill>
            <a:srgbClr val="4FB6E8"/>
          </a:solidFill>
          <a:ln/>
        </p:spPr>
      </p:sp>
      <p:sp>
        <p:nvSpPr>
          <p:cNvPr id="10" name="Text 8"/>
          <p:cNvSpPr/>
          <p:nvPr/>
        </p:nvSpPr>
        <p:spPr>
          <a:xfrm>
            <a:off x="4230624" y="2103120"/>
            <a:ext cx="1808988" cy="822960"/>
          </a:xfrm>
          <a:prstGeom prst="rect">
            <a:avLst/>
          </a:prstGeom>
          <a:noFill/>
          <a:ln/>
        </p:spPr>
        <p:txBody>
          <a:bodyPr wrap="square"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T2</a:t>
            </a:r>
            <a:endParaRPr lang="en-US" sz="2000" dirty="0"/>
          </a:p>
        </p:txBody>
      </p:sp>
      <p:sp>
        <p:nvSpPr>
          <p:cNvPr id="11" name="Shape 9"/>
          <p:cNvSpPr/>
          <p:nvPr/>
        </p:nvSpPr>
        <p:spPr>
          <a:xfrm>
            <a:off x="6094476" y="2103120"/>
            <a:ext cx="1808988" cy="822960"/>
          </a:xfrm>
          <a:prstGeom prst="rect">
            <a:avLst/>
          </a:prstGeom>
          <a:solidFill>
            <a:srgbClr val="4FB6E8"/>
          </a:solidFill>
          <a:ln/>
        </p:spPr>
      </p:sp>
      <p:sp>
        <p:nvSpPr>
          <p:cNvPr id="12" name="Text 10"/>
          <p:cNvSpPr/>
          <p:nvPr/>
        </p:nvSpPr>
        <p:spPr>
          <a:xfrm>
            <a:off x="6094476" y="2103120"/>
            <a:ext cx="1808988" cy="822960"/>
          </a:xfrm>
          <a:prstGeom prst="rect">
            <a:avLst/>
          </a:prstGeom>
          <a:noFill/>
          <a:ln/>
        </p:spPr>
        <p:txBody>
          <a:bodyPr wrap="square"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T3</a:t>
            </a:r>
            <a:endParaRPr lang="en-US" sz="2000" dirty="0"/>
          </a:p>
        </p:txBody>
      </p:sp>
      <p:sp>
        <p:nvSpPr>
          <p:cNvPr id="13" name="Shape 11"/>
          <p:cNvSpPr/>
          <p:nvPr/>
        </p:nvSpPr>
        <p:spPr>
          <a:xfrm>
            <a:off x="7958328" y="2103120"/>
            <a:ext cx="1808988" cy="822960"/>
          </a:xfrm>
          <a:prstGeom prst="rect">
            <a:avLst/>
          </a:prstGeom>
          <a:solidFill>
            <a:srgbClr val="1E9E6A"/>
          </a:solidFill>
          <a:ln/>
        </p:spPr>
      </p:sp>
      <p:sp>
        <p:nvSpPr>
          <p:cNvPr id="14" name="Text 12"/>
          <p:cNvSpPr/>
          <p:nvPr/>
        </p:nvSpPr>
        <p:spPr>
          <a:xfrm>
            <a:off x="7958328" y="2103120"/>
            <a:ext cx="1808988" cy="822960"/>
          </a:xfrm>
          <a:prstGeom prst="rect">
            <a:avLst/>
          </a:prstGeom>
          <a:noFill/>
          <a:ln/>
        </p:spPr>
        <p:txBody>
          <a:bodyPr wrap="square"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T4</a:t>
            </a:r>
            <a:endParaRPr lang="en-US" sz="2000" dirty="0"/>
          </a:p>
        </p:txBody>
      </p:sp>
      <p:sp>
        <p:nvSpPr>
          <p:cNvPr id="15" name="Shape 13"/>
          <p:cNvSpPr/>
          <p:nvPr/>
        </p:nvSpPr>
        <p:spPr>
          <a:xfrm>
            <a:off x="9822180" y="2103120"/>
            <a:ext cx="1808988" cy="822960"/>
          </a:xfrm>
          <a:prstGeom prst="rect">
            <a:avLst/>
          </a:prstGeom>
          <a:solidFill>
            <a:srgbClr val="1E9E6A"/>
          </a:solidFill>
          <a:ln/>
        </p:spPr>
      </p:sp>
      <p:sp>
        <p:nvSpPr>
          <p:cNvPr id="16" name="Text 14"/>
          <p:cNvSpPr/>
          <p:nvPr/>
        </p:nvSpPr>
        <p:spPr>
          <a:xfrm>
            <a:off x="9822180" y="2103120"/>
            <a:ext cx="1808988" cy="822960"/>
          </a:xfrm>
          <a:prstGeom prst="rect">
            <a:avLst/>
          </a:prstGeom>
          <a:noFill/>
          <a:ln/>
        </p:spPr>
        <p:txBody>
          <a:bodyPr wrap="square"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T5</a:t>
            </a:r>
            <a:endParaRPr lang="en-US" sz="2000" dirty="0"/>
          </a:p>
        </p:txBody>
      </p:sp>
      <p:sp>
        <p:nvSpPr>
          <p:cNvPr id="17" name="Text 15"/>
          <p:cNvSpPr/>
          <p:nvPr/>
        </p:nvSpPr>
        <p:spPr>
          <a:xfrm>
            <a:off x="502920" y="2971800"/>
            <a:ext cx="2743200" cy="274320"/>
          </a:xfrm>
          <a:prstGeom prst="rect">
            <a:avLst/>
          </a:prstGeom>
          <a:noFill/>
          <a:ln/>
        </p:spPr>
        <p:txBody>
          <a:bodyPr wrap="square" rtlCol="0" anchor="ctr"/>
          <a:lstStyle/>
          <a:p>
            <a:pPr indent="0" marL="0">
              <a:buNone/>
            </a:pPr>
            <a:r>
              <a:rPr lang="en-US" sz="1050" b="1" dirty="0">
                <a:solidFill>
                  <a:srgbClr val="5C6B84"/>
                </a:solidFill>
                <a:latin typeface="Calibri" pitchFamily="34" charset="0"/>
                <a:ea typeface="Calibri" pitchFamily="34" charset="-122"/>
                <a:cs typeface="Calibri" pitchFamily="34" charset="-120"/>
              </a:rPr>
              <a:t>STEALTHIER  ←</a:t>
            </a:r>
            <a:endParaRPr lang="en-US" sz="1050" dirty="0"/>
          </a:p>
        </p:txBody>
      </p:sp>
      <p:sp>
        <p:nvSpPr>
          <p:cNvPr id="18" name="Text 16"/>
          <p:cNvSpPr/>
          <p:nvPr/>
        </p:nvSpPr>
        <p:spPr>
          <a:xfrm>
            <a:off x="8942832" y="2971800"/>
            <a:ext cx="2743200" cy="274320"/>
          </a:xfrm>
          <a:prstGeom prst="rect">
            <a:avLst/>
          </a:prstGeom>
          <a:noFill/>
          <a:ln/>
        </p:spPr>
        <p:txBody>
          <a:bodyPr wrap="square" rtlCol="0" anchor="ctr"/>
          <a:lstStyle/>
          <a:p>
            <a:pPr algn="r" indent="0" marL="0">
              <a:buNone/>
            </a:pPr>
            <a:r>
              <a:rPr lang="en-US" sz="1050" b="1" dirty="0">
                <a:solidFill>
                  <a:srgbClr val="5C6B84"/>
                </a:solidFill>
                <a:latin typeface="Calibri" pitchFamily="34" charset="0"/>
                <a:ea typeface="Calibri" pitchFamily="34" charset="-122"/>
                <a:cs typeface="Calibri" pitchFamily="34" charset="-120"/>
              </a:rPr>
              <a:t>→  FASTER</a:t>
            </a:r>
            <a:endParaRPr lang="en-US" sz="1050" dirty="0"/>
          </a:p>
        </p:txBody>
      </p:sp>
      <p:sp>
        <p:nvSpPr>
          <p:cNvPr id="19" name="Text 17"/>
          <p:cNvSpPr/>
          <p:nvPr/>
        </p:nvSpPr>
        <p:spPr>
          <a:xfrm>
            <a:off x="502920" y="3337560"/>
            <a:ext cx="11183112" cy="384048"/>
          </a:xfrm>
          <a:prstGeom prst="rect">
            <a:avLst/>
          </a:prstGeom>
          <a:noFill/>
          <a:ln/>
        </p:spPr>
        <p:txBody>
          <a:bodyPr wrap="square" rtlCol="0" anchor="ctr"/>
          <a:lstStyle/>
          <a:p>
            <a:pPr indent="0" marL="0">
              <a:buNone/>
            </a:pPr>
            <a:r>
              <a:rPr lang="en-US" sz="1250" b="1" dirty="0">
                <a:solidFill>
                  <a:srgbClr val="16213E"/>
                </a:solidFill>
                <a:latin typeface="Courier New" pitchFamily="34" charset="0"/>
                <a:ea typeface="Courier New" pitchFamily="34" charset="-122"/>
                <a:cs typeface="Courier New" pitchFamily="34" charset="-120"/>
              </a:rPr>
              <a:t>-T0  Paranoid:  </a:t>
            </a:r>
            <a:pPr indent="0" marL="0">
              <a:buNone/>
            </a:pPr>
            <a:r>
              <a:rPr lang="en-US" sz="1250" dirty="0">
                <a:solidFill>
                  <a:srgbClr val="5C6B84"/>
                </a:solidFill>
              </a:rPr>
              <a:t>IDS evasion, extremely slow (5+ min/probe)</a:t>
            </a:r>
            <a:endParaRPr lang="en-US" sz="1250" dirty="0"/>
          </a:p>
        </p:txBody>
      </p:sp>
      <p:sp>
        <p:nvSpPr>
          <p:cNvPr id="20" name="Text 18"/>
          <p:cNvSpPr/>
          <p:nvPr/>
        </p:nvSpPr>
        <p:spPr>
          <a:xfrm>
            <a:off x="502920" y="3739896"/>
            <a:ext cx="11183112" cy="384048"/>
          </a:xfrm>
          <a:prstGeom prst="rect">
            <a:avLst/>
          </a:prstGeom>
          <a:noFill/>
          <a:ln/>
        </p:spPr>
        <p:txBody>
          <a:bodyPr wrap="square" rtlCol="0" anchor="ctr"/>
          <a:lstStyle/>
          <a:p>
            <a:pPr indent="0" marL="0">
              <a:buNone/>
            </a:pPr>
            <a:r>
              <a:rPr lang="en-US" sz="1250" b="1" dirty="0">
                <a:solidFill>
                  <a:srgbClr val="16213E"/>
                </a:solidFill>
                <a:latin typeface="Courier New" pitchFamily="34" charset="0"/>
                <a:ea typeface="Courier New" pitchFamily="34" charset="-122"/>
                <a:cs typeface="Courier New" pitchFamily="34" charset="-120"/>
              </a:rPr>
              <a:t>-T1  Sneaky:  </a:t>
            </a:r>
            <a:pPr indent="0" marL="0">
              <a:buNone/>
            </a:pPr>
            <a:r>
              <a:rPr lang="en-US" sz="1250" dirty="0">
                <a:solidFill>
                  <a:srgbClr val="5C6B84"/>
                </a:solidFill>
              </a:rPr>
              <a:t>IDS evasion, very slow</a:t>
            </a:r>
            <a:endParaRPr lang="en-US" sz="1250" dirty="0"/>
          </a:p>
        </p:txBody>
      </p:sp>
      <p:sp>
        <p:nvSpPr>
          <p:cNvPr id="21" name="Text 19"/>
          <p:cNvSpPr/>
          <p:nvPr/>
        </p:nvSpPr>
        <p:spPr>
          <a:xfrm>
            <a:off x="502920" y="4142232"/>
            <a:ext cx="11183112" cy="384048"/>
          </a:xfrm>
          <a:prstGeom prst="rect">
            <a:avLst/>
          </a:prstGeom>
          <a:noFill/>
          <a:ln/>
        </p:spPr>
        <p:txBody>
          <a:bodyPr wrap="square" rtlCol="0" anchor="ctr"/>
          <a:lstStyle/>
          <a:p>
            <a:pPr indent="0" marL="0">
              <a:buNone/>
            </a:pPr>
            <a:r>
              <a:rPr lang="en-US" sz="1250" b="1" dirty="0">
                <a:solidFill>
                  <a:srgbClr val="16213E"/>
                </a:solidFill>
                <a:latin typeface="Courier New" pitchFamily="34" charset="0"/>
                <a:ea typeface="Courier New" pitchFamily="34" charset="-122"/>
                <a:cs typeface="Courier New" pitchFamily="34" charset="-120"/>
              </a:rPr>
              <a:t>-T2  Polite:  </a:t>
            </a:r>
            <a:pPr indent="0" marL="0">
              <a:buNone/>
            </a:pPr>
            <a:r>
              <a:rPr lang="en-US" sz="1250" dirty="0">
                <a:solidFill>
                  <a:srgbClr val="5C6B84"/>
                </a:solidFill>
              </a:rPr>
              <a:t>Slower, less bandwidth/target load</a:t>
            </a:r>
            <a:endParaRPr lang="en-US" sz="1250" dirty="0"/>
          </a:p>
        </p:txBody>
      </p:sp>
      <p:sp>
        <p:nvSpPr>
          <p:cNvPr id="22" name="Text 20"/>
          <p:cNvSpPr/>
          <p:nvPr/>
        </p:nvSpPr>
        <p:spPr>
          <a:xfrm>
            <a:off x="502920" y="4544568"/>
            <a:ext cx="11183112" cy="384048"/>
          </a:xfrm>
          <a:prstGeom prst="rect">
            <a:avLst/>
          </a:prstGeom>
          <a:noFill/>
          <a:ln/>
        </p:spPr>
        <p:txBody>
          <a:bodyPr wrap="square" rtlCol="0" anchor="ctr"/>
          <a:lstStyle/>
          <a:p>
            <a:pPr indent="0" marL="0">
              <a:buNone/>
            </a:pPr>
            <a:r>
              <a:rPr lang="en-US" sz="1250" b="1" dirty="0">
                <a:solidFill>
                  <a:srgbClr val="16213E"/>
                </a:solidFill>
                <a:latin typeface="Courier New" pitchFamily="34" charset="0"/>
                <a:ea typeface="Courier New" pitchFamily="34" charset="-122"/>
                <a:cs typeface="Courier New" pitchFamily="34" charset="-120"/>
              </a:rPr>
              <a:t>-T3  Normal:  </a:t>
            </a:r>
            <a:pPr indent="0" marL="0">
              <a:buNone/>
            </a:pPr>
            <a:r>
              <a:rPr lang="en-US" sz="1250" dirty="0">
                <a:solidFill>
                  <a:srgbClr val="5C6B84"/>
                </a:solidFill>
              </a:rPr>
              <a:t>Default — balanced</a:t>
            </a:r>
            <a:endParaRPr lang="en-US" sz="1250" dirty="0"/>
          </a:p>
        </p:txBody>
      </p:sp>
      <p:sp>
        <p:nvSpPr>
          <p:cNvPr id="23" name="Text 21"/>
          <p:cNvSpPr/>
          <p:nvPr/>
        </p:nvSpPr>
        <p:spPr>
          <a:xfrm>
            <a:off x="502920" y="4946904"/>
            <a:ext cx="11183112" cy="384048"/>
          </a:xfrm>
          <a:prstGeom prst="rect">
            <a:avLst/>
          </a:prstGeom>
          <a:noFill/>
          <a:ln/>
        </p:spPr>
        <p:txBody>
          <a:bodyPr wrap="square" rtlCol="0" anchor="ctr"/>
          <a:lstStyle/>
          <a:p>
            <a:pPr indent="0" marL="0">
              <a:buNone/>
            </a:pPr>
            <a:r>
              <a:rPr lang="en-US" sz="1250" b="1" dirty="0">
                <a:solidFill>
                  <a:srgbClr val="16213E"/>
                </a:solidFill>
                <a:latin typeface="Courier New" pitchFamily="34" charset="0"/>
                <a:ea typeface="Courier New" pitchFamily="34" charset="-122"/>
                <a:cs typeface="Courier New" pitchFamily="34" charset="-120"/>
              </a:rPr>
              <a:t>-T4  Aggressive:  </a:t>
            </a:r>
            <a:pPr indent="0" marL="0">
              <a:buNone/>
            </a:pPr>
            <a:r>
              <a:rPr lang="en-US" sz="1250" dirty="0">
                <a:solidFill>
                  <a:srgbClr val="5C6B84"/>
                </a:solidFill>
              </a:rPr>
              <a:t>Common for CTFs/labs with a stable network</a:t>
            </a:r>
            <a:endParaRPr lang="en-US" sz="1250" dirty="0"/>
          </a:p>
        </p:txBody>
      </p:sp>
      <p:sp>
        <p:nvSpPr>
          <p:cNvPr id="24" name="Text 22"/>
          <p:cNvSpPr/>
          <p:nvPr/>
        </p:nvSpPr>
        <p:spPr>
          <a:xfrm>
            <a:off x="502920" y="5349240"/>
            <a:ext cx="11183112" cy="384048"/>
          </a:xfrm>
          <a:prstGeom prst="rect">
            <a:avLst/>
          </a:prstGeom>
          <a:noFill/>
          <a:ln/>
        </p:spPr>
        <p:txBody>
          <a:bodyPr wrap="square" rtlCol="0" anchor="ctr"/>
          <a:lstStyle/>
          <a:p>
            <a:pPr indent="0" marL="0">
              <a:buNone/>
            </a:pPr>
            <a:r>
              <a:rPr lang="en-US" sz="1250" b="1" dirty="0">
                <a:solidFill>
                  <a:srgbClr val="16213E"/>
                </a:solidFill>
                <a:latin typeface="Courier New" pitchFamily="34" charset="0"/>
                <a:ea typeface="Courier New" pitchFamily="34" charset="-122"/>
                <a:cs typeface="Courier New" pitchFamily="34" charset="-120"/>
              </a:rPr>
              <a:t>-T5  Insane:  </a:t>
            </a:r>
            <a:pPr indent="0" marL="0">
              <a:buNone/>
            </a:pPr>
            <a:r>
              <a:rPr lang="en-US" sz="1250" dirty="0">
                <a:solidFill>
                  <a:srgbClr val="5C6B84"/>
                </a:solidFill>
              </a:rPr>
              <a:t>Fastest, sacrifices accuracy — risky on WAN links</a:t>
            </a:r>
            <a:endParaRPr lang="en-US" sz="1250" dirty="0"/>
          </a:p>
        </p:txBody>
      </p:sp>
      <p:sp>
        <p:nvSpPr>
          <p:cNvPr id="25" name="Text 23"/>
          <p:cNvSpPr/>
          <p:nvPr/>
        </p:nvSpPr>
        <p:spPr>
          <a:xfrm>
            <a:off x="11365992" y="6446520"/>
            <a:ext cx="457200" cy="274320"/>
          </a:xfrm>
          <a:prstGeom prst="rect">
            <a:avLst/>
          </a:prstGeom>
          <a:noFill/>
          <a:ln/>
        </p:spPr>
        <p:txBody>
          <a:bodyPr wrap="square" rtlCol="0" anchor="ctr"/>
          <a:lstStyle/>
          <a:p>
            <a:pPr algn="r" indent="0" marL="0">
              <a:buNone/>
            </a:pPr>
            <a:r>
              <a:rPr lang="en-US" sz="1000" dirty="0">
                <a:solidFill>
                  <a:srgbClr val="8892A6"/>
                </a:solidFill>
                <a:latin typeface="Courier New" pitchFamily="34" charset="0"/>
                <a:ea typeface="Courier New" pitchFamily="34" charset="-122"/>
                <a:cs typeface="Courier New"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32B"/>
        </a:solidFill>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rtlCol="0" anchor="ctr"/>
          <a:lstStyle/>
          <a:p>
            <a:pPr algn="l" indent="0" marL="0">
              <a:buNone/>
            </a:pPr>
            <a:r>
              <a:rPr lang="en-US" sz="1200" b="1" spc="200" kern="0" dirty="0">
                <a:solidFill>
                  <a:srgbClr val="2FD48C"/>
                </a:solidFill>
                <a:latin typeface="Calibri" pitchFamily="34" charset="0"/>
                <a:ea typeface="Calibri" pitchFamily="34" charset="-122"/>
                <a:cs typeface="Calibri" pitchFamily="34" charset="-120"/>
              </a:rPr>
              <a:t>LIVE DEMO</a:t>
            </a:r>
            <a:endParaRPr lang="en-US" sz="1200" dirty="0"/>
          </a:p>
        </p:txBody>
      </p:sp>
      <p:sp>
        <p:nvSpPr>
          <p:cNvPr id="3" name="Text 1"/>
          <p:cNvSpPr/>
          <p:nvPr/>
        </p:nvSpPr>
        <p:spPr>
          <a:xfrm>
            <a:off x="502920" y="658368"/>
            <a:ext cx="10515600" cy="54864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Live Demo — Running &amp; Reading a Scan</a:t>
            </a:r>
            <a:endParaRPr lang="en-US" sz="3200" dirty="0"/>
          </a:p>
        </p:txBody>
      </p:sp>
      <p:sp>
        <p:nvSpPr>
          <p:cNvPr id="4" name="Text 2"/>
          <p:cNvSpPr/>
          <p:nvPr/>
        </p:nvSpPr>
        <p:spPr>
          <a:xfrm>
            <a:off x="502920" y="1161288"/>
            <a:ext cx="10515600" cy="365760"/>
          </a:xfrm>
          <a:prstGeom prst="rect">
            <a:avLst/>
          </a:prstGeom>
          <a:noFill/>
          <a:ln/>
        </p:spPr>
        <p:txBody>
          <a:bodyPr wrap="square" rtlCol="0" anchor="ctr"/>
          <a:lstStyle/>
          <a:p>
            <a:pPr algn="l" indent="0" marL="0">
              <a:buNone/>
            </a:pPr>
            <a:r>
              <a:rPr lang="en-US" sz="1400" dirty="0">
                <a:solidFill>
                  <a:srgbClr val="AEB8C4"/>
                </a:solidFill>
                <a:latin typeface="Calibri" pitchFamily="34" charset="0"/>
                <a:ea typeface="Calibri" pitchFamily="34" charset="-122"/>
                <a:cs typeface="Calibri" pitchFamily="34" charset="-120"/>
              </a:rPr>
              <a:t>Follow along: run this exact command on the lab target</a:t>
            </a:r>
            <a:endParaRPr lang="en-US" sz="1400" dirty="0"/>
          </a:p>
        </p:txBody>
      </p:sp>
      <p:sp>
        <p:nvSpPr>
          <p:cNvPr id="5" name="Shape 3"/>
          <p:cNvSpPr/>
          <p:nvPr/>
        </p:nvSpPr>
        <p:spPr>
          <a:xfrm>
            <a:off x="502920" y="1691640"/>
            <a:ext cx="6949440" cy="4480560"/>
          </a:xfrm>
          <a:prstGeom prst="roundRect">
            <a:avLst>
              <a:gd name="adj" fmla="val 1633"/>
            </a:avLst>
          </a:prstGeom>
          <a:solidFill>
            <a:srgbClr val="05070F"/>
          </a:solidFill>
          <a:ln w="12700">
            <a:solidFill>
              <a:srgbClr val="2A3350"/>
            </a:solidFill>
            <a:prstDash val="solid"/>
          </a:ln>
          <a:effectLst>
            <a:outerShdw sx="100000" sy="100000" kx="0" ky="0" algn="bl" rotWithShape="0" blurRad="101600" dist="38100" dir="5400000">
              <a:srgbClr val="000000">
                <a:alpha val="40000"/>
              </a:srgbClr>
            </a:outerShdw>
          </a:effectLst>
        </p:spPr>
      </p:sp>
      <p:sp>
        <p:nvSpPr>
          <p:cNvPr id="6" name="Shape 4"/>
          <p:cNvSpPr/>
          <p:nvPr/>
        </p:nvSpPr>
        <p:spPr>
          <a:xfrm>
            <a:off x="502920" y="1691640"/>
            <a:ext cx="6949440" cy="320040"/>
          </a:xfrm>
          <a:prstGeom prst="roundRect">
            <a:avLst>
              <a:gd name="adj" fmla="val 22857"/>
            </a:avLst>
          </a:prstGeom>
          <a:solidFill>
            <a:srgbClr val="12172B"/>
          </a:solidFill>
          <a:ln/>
        </p:spPr>
      </p:sp>
      <p:sp>
        <p:nvSpPr>
          <p:cNvPr id="7" name="Shape 5"/>
          <p:cNvSpPr/>
          <p:nvPr/>
        </p:nvSpPr>
        <p:spPr>
          <a:xfrm>
            <a:off x="502920" y="1847088"/>
            <a:ext cx="6949440" cy="164592"/>
          </a:xfrm>
          <a:prstGeom prst="rect">
            <a:avLst/>
          </a:prstGeom>
          <a:solidFill>
            <a:srgbClr val="12172B"/>
          </a:solidFill>
          <a:ln/>
        </p:spPr>
      </p:sp>
      <p:sp>
        <p:nvSpPr>
          <p:cNvPr id="8" name="Shape 6"/>
          <p:cNvSpPr/>
          <p:nvPr/>
        </p:nvSpPr>
        <p:spPr>
          <a:xfrm>
            <a:off x="640080" y="1796796"/>
            <a:ext cx="109728" cy="109728"/>
          </a:xfrm>
          <a:prstGeom prst="ellipse">
            <a:avLst/>
          </a:prstGeom>
          <a:solidFill>
            <a:srgbClr val="E85D5D"/>
          </a:solidFill>
          <a:ln/>
        </p:spPr>
      </p:sp>
      <p:sp>
        <p:nvSpPr>
          <p:cNvPr id="9" name="Shape 7"/>
          <p:cNvSpPr/>
          <p:nvPr/>
        </p:nvSpPr>
        <p:spPr>
          <a:xfrm>
            <a:off x="841248" y="1796796"/>
            <a:ext cx="109728" cy="109728"/>
          </a:xfrm>
          <a:prstGeom prst="ellipse">
            <a:avLst/>
          </a:prstGeom>
          <a:solidFill>
            <a:srgbClr val="E8C24F"/>
          </a:solidFill>
          <a:ln/>
        </p:spPr>
      </p:sp>
      <p:sp>
        <p:nvSpPr>
          <p:cNvPr id="10" name="Shape 8"/>
          <p:cNvSpPr/>
          <p:nvPr/>
        </p:nvSpPr>
        <p:spPr>
          <a:xfrm>
            <a:off x="1042416" y="1796796"/>
            <a:ext cx="109728" cy="109728"/>
          </a:xfrm>
          <a:prstGeom prst="ellipse">
            <a:avLst/>
          </a:prstGeom>
          <a:solidFill>
            <a:srgbClr val="2FD48C"/>
          </a:solidFill>
          <a:ln/>
        </p:spPr>
      </p:sp>
      <p:sp>
        <p:nvSpPr>
          <p:cNvPr id="11" name="Text 9"/>
          <p:cNvSpPr/>
          <p:nvPr/>
        </p:nvSpPr>
        <p:spPr>
          <a:xfrm>
            <a:off x="502920" y="1709928"/>
            <a:ext cx="6949440" cy="274320"/>
          </a:xfrm>
          <a:prstGeom prst="rect">
            <a:avLst/>
          </a:prstGeom>
          <a:noFill/>
          <a:ln/>
        </p:spPr>
        <p:txBody>
          <a:bodyPr wrap="square" rtlCol="0" anchor="ctr"/>
          <a:lstStyle/>
          <a:p>
            <a:pPr algn="ctr" indent="0" marL="0">
              <a:buNone/>
            </a:pPr>
            <a:r>
              <a:rPr lang="en-US" sz="1000" dirty="0">
                <a:solidFill>
                  <a:srgbClr val="8892A6"/>
                </a:solidFill>
                <a:latin typeface="Courier New" pitchFamily="34" charset="0"/>
                <a:ea typeface="Courier New" pitchFamily="34" charset="-122"/>
                <a:cs typeface="Courier New" pitchFamily="34" charset="-120"/>
              </a:rPr>
              <a:t>terminal</a:t>
            </a:r>
            <a:endParaRPr lang="en-US" sz="1000" dirty="0"/>
          </a:p>
        </p:txBody>
      </p:sp>
      <p:sp>
        <p:nvSpPr>
          <p:cNvPr id="12" name="Text 10"/>
          <p:cNvSpPr/>
          <p:nvPr/>
        </p:nvSpPr>
        <p:spPr>
          <a:xfrm>
            <a:off x="758952" y="2148840"/>
            <a:ext cx="6437376" cy="3840480"/>
          </a:xfrm>
          <a:prstGeom prst="rect">
            <a:avLst/>
          </a:prstGeom>
          <a:noFill/>
          <a:ln/>
        </p:spPr>
        <p:txBody>
          <a:bodyPr wrap="square" rtlCol="0" anchor="t"/>
          <a:lstStyle/>
          <a:p>
            <a:pPr indent="0" marL="0">
              <a:lnSpc>
                <a:spcPct val="128000"/>
              </a:lnSpc>
              <a:buNone/>
            </a:pPr>
            <a:r>
              <a:rPr lang="en-US" sz="1220" dirty="0">
                <a:solidFill>
                  <a:srgbClr val="2FD48C"/>
                </a:solidFill>
                <a:latin typeface="Courier New" pitchFamily="34" charset="0"/>
                <a:ea typeface="Courier New" pitchFamily="34" charset="-122"/>
                <a:cs typeface="Courier New" pitchFamily="34" charset="-120"/>
              </a:rPr>
              <a:t>$ sudo nmap -sS -sV -T4 -p- 10.10.10.5</a:t>
            </a:r>
            <a:endParaRPr lang="en-US" sz="1220" dirty="0"/>
          </a:p>
          <a:p>
            <a:pPr indent="0" marL="0">
              <a:lnSpc>
                <a:spcPct val="128000"/>
              </a:lnSpc>
              <a:buNone/>
            </a:pPr>
            <a:endParaRPr lang="en-US" sz="1220" dirty="0"/>
          </a:p>
          <a:p>
            <a:pPr indent="0" marL="0">
              <a:lnSpc>
                <a:spcPct val="128000"/>
              </a:lnSpc>
              <a:buNone/>
            </a:pPr>
            <a:r>
              <a:rPr lang="en-US" sz="1220" dirty="0">
                <a:solidFill>
                  <a:srgbClr val="8892A6"/>
                </a:solidFill>
                <a:latin typeface="Courier New" pitchFamily="34" charset="0"/>
                <a:ea typeface="Courier New" pitchFamily="34" charset="-122"/>
                <a:cs typeface="Courier New" pitchFamily="34" charset="-120"/>
              </a:rPr>
              <a:t>Starting Nmap 7.94 ...</a:t>
            </a:r>
            <a:endParaRPr lang="en-US" sz="1220" dirty="0"/>
          </a:p>
          <a:p>
            <a:pPr indent="0" marL="0">
              <a:lnSpc>
                <a:spcPct val="128000"/>
              </a:lnSpc>
              <a:buNone/>
            </a:pPr>
            <a:r>
              <a:rPr lang="en-US" sz="1220" dirty="0">
                <a:solidFill>
                  <a:srgbClr val="C8D3E0"/>
                </a:solidFill>
                <a:latin typeface="Courier New" pitchFamily="34" charset="0"/>
                <a:ea typeface="Courier New" pitchFamily="34" charset="-122"/>
                <a:cs typeface="Courier New" pitchFamily="34" charset="-120"/>
              </a:rPr>
              <a:t>Nmap scan report for 10.10.10.5</a:t>
            </a:r>
            <a:endParaRPr lang="en-US" sz="1220" dirty="0"/>
          </a:p>
          <a:p>
            <a:pPr indent="0" marL="0">
              <a:lnSpc>
                <a:spcPct val="128000"/>
              </a:lnSpc>
              <a:buNone/>
            </a:pPr>
            <a:r>
              <a:rPr lang="en-US" sz="1220" dirty="0">
                <a:solidFill>
                  <a:srgbClr val="C8D3E0"/>
                </a:solidFill>
                <a:latin typeface="Courier New" pitchFamily="34" charset="0"/>
                <a:ea typeface="Courier New" pitchFamily="34" charset="-122"/>
                <a:cs typeface="Courier New" pitchFamily="34" charset="-120"/>
              </a:rPr>
              <a:t>Host is up (0.0021s latency).</a:t>
            </a:r>
            <a:endParaRPr lang="en-US" sz="1220" dirty="0"/>
          </a:p>
          <a:p>
            <a:pPr indent="0" marL="0">
              <a:lnSpc>
                <a:spcPct val="128000"/>
              </a:lnSpc>
              <a:buNone/>
            </a:pPr>
            <a:endParaRPr lang="en-US" sz="1220" dirty="0"/>
          </a:p>
          <a:p>
            <a:pPr indent="0" marL="0">
              <a:lnSpc>
                <a:spcPct val="128000"/>
              </a:lnSpc>
              <a:buNone/>
            </a:pPr>
            <a:r>
              <a:rPr lang="en-US" sz="1220" dirty="0">
                <a:solidFill>
                  <a:srgbClr val="8892A6"/>
                </a:solidFill>
                <a:latin typeface="Courier New" pitchFamily="34" charset="0"/>
                <a:ea typeface="Courier New" pitchFamily="34" charset="-122"/>
                <a:cs typeface="Courier New" pitchFamily="34" charset="-120"/>
              </a:rPr>
              <a:t>PORT     STATE SERVICE  VERSION</a:t>
            </a:r>
            <a:endParaRPr lang="en-US" sz="1220" dirty="0"/>
          </a:p>
          <a:p>
            <a:pPr indent="0" marL="0">
              <a:lnSpc>
                <a:spcPct val="128000"/>
              </a:lnSpc>
              <a:buNone/>
            </a:pPr>
            <a:r>
              <a:rPr lang="en-US" sz="1220" dirty="0">
                <a:solidFill>
                  <a:srgbClr val="C8D3E0"/>
                </a:solidFill>
                <a:latin typeface="Courier New" pitchFamily="34" charset="0"/>
                <a:ea typeface="Courier New" pitchFamily="34" charset="-122"/>
                <a:cs typeface="Courier New" pitchFamily="34" charset="-120"/>
              </a:rPr>
              <a:t>21/tcp   open  ftp      ProFTPD 1.3.5</a:t>
            </a:r>
            <a:endParaRPr lang="en-US" sz="1220" dirty="0"/>
          </a:p>
          <a:p>
            <a:pPr indent="0" marL="0">
              <a:lnSpc>
                <a:spcPct val="128000"/>
              </a:lnSpc>
              <a:buNone/>
            </a:pPr>
            <a:r>
              <a:rPr lang="en-US" sz="1220" dirty="0">
                <a:solidFill>
                  <a:srgbClr val="C8D3E0"/>
                </a:solidFill>
                <a:latin typeface="Courier New" pitchFamily="34" charset="0"/>
                <a:ea typeface="Courier New" pitchFamily="34" charset="-122"/>
                <a:cs typeface="Courier New" pitchFamily="34" charset="-120"/>
              </a:rPr>
              <a:t>22/tcp   open  ssh      OpenSSH 8.2p1 Ubuntu</a:t>
            </a:r>
            <a:endParaRPr lang="en-US" sz="1220" dirty="0"/>
          </a:p>
          <a:p>
            <a:pPr indent="0" marL="0">
              <a:lnSpc>
                <a:spcPct val="128000"/>
              </a:lnSpc>
              <a:buNone/>
            </a:pPr>
            <a:r>
              <a:rPr lang="en-US" sz="1220" dirty="0">
                <a:solidFill>
                  <a:srgbClr val="C8D3E0"/>
                </a:solidFill>
                <a:latin typeface="Courier New" pitchFamily="34" charset="0"/>
                <a:ea typeface="Courier New" pitchFamily="34" charset="-122"/>
                <a:cs typeface="Courier New" pitchFamily="34" charset="-120"/>
              </a:rPr>
              <a:t>80/tcp   open  http     Apache httpd 2.4.41</a:t>
            </a:r>
            <a:endParaRPr lang="en-US" sz="1220" dirty="0"/>
          </a:p>
          <a:p>
            <a:pPr indent="0" marL="0">
              <a:lnSpc>
                <a:spcPct val="128000"/>
              </a:lnSpc>
              <a:buNone/>
            </a:pPr>
            <a:r>
              <a:rPr lang="en-US" sz="1220" dirty="0">
                <a:solidFill>
                  <a:srgbClr val="C8D3E0"/>
                </a:solidFill>
                <a:latin typeface="Courier New" pitchFamily="34" charset="0"/>
                <a:ea typeface="Courier New" pitchFamily="34" charset="-122"/>
                <a:cs typeface="Courier New" pitchFamily="34" charset="-120"/>
              </a:rPr>
              <a:t>139/tcp  open  netbios  Samba smbd 4.6.2</a:t>
            </a:r>
            <a:endParaRPr lang="en-US" sz="1220" dirty="0"/>
          </a:p>
          <a:p>
            <a:pPr indent="0" marL="0">
              <a:lnSpc>
                <a:spcPct val="128000"/>
              </a:lnSpc>
              <a:buNone/>
            </a:pPr>
            <a:r>
              <a:rPr lang="en-US" sz="1220" dirty="0">
                <a:solidFill>
                  <a:srgbClr val="C8D3E0"/>
                </a:solidFill>
                <a:latin typeface="Courier New" pitchFamily="34" charset="0"/>
                <a:ea typeface="Courier New" pitchFamily="34" charset="-122"/>
                <a:cs typeface="Courier New" pitchFamily="34" charset="-120"/>
              </a:rPr>
              <a:t>445/tcp  open  microsoft-ds Samba 4.6.2</a:t>
            </a:r>
            <a:endParaRPr lang="en-US" sz="1220" dirty="0"/>
          </a:p>
          <a:p>
            <a:pPr indent="0" marL="0">
              <a:lnSpc>
                <a:spcPct val="128000"/>
              </a:lnSpc>
              <a:buNone/>
            </a:pPr>
            <a:r>
              <a:rPr lang="en-US" sz="1220" dirty="0">
                <a:solidFill>
                  <a:srgbClr val="C8D3E0"/>
                </a:solidFill>
                <a:latin typeface="Courier New" pitchFamily="34" charset="0"/>
                <a:ea typeface="Courier New" pitchFamily="34" charset="-122"/>
                <a:cs typeface="Courier New" pitchFamily="34" charset="-120"/>
              </a:rPr>
              <a:t>3306/tcp open  mysql    MySQL 8.0.28</a:t>
            </a:r>
            <a:endParaRPr lang="en-US" sz="1220" dirty="0"/>
          </a:p>
          <a:p>
            <a:pPr indent="0" marL="0">
              <a:lnSpc>
                <a:spcPct val="128000"/>
              </a:lnSpc>
              <a:buNone/>
            </a:pPr>
            <a:endParaRPr lang="en-US" sz="1220" dirty="0"/>
          </a:p>
          <a:p>
            <a:pPr indent="0" marL="0">
              <a:lnSpc>
                <a:spcPct val="128000"/>
              </a:lnSpc>
              <a:buNone/>
            </a:pPr>
            <a:r>
              <a:rPr lang="en-US" sz="1220" dirty="0">
                <a:solidFill>
                  <a:srgbClr val="8892A6"/>
                </a:solidFill>
                <a:latin typeface="Courier New" pitchFamily="34" charset="0"/>
                <a:ea typeface="Courier New" pitchFamily="34" charset="-122"/>
                <a:cs typeface="Courier New" pitchFamily="34" charset="-120"/>
              </a:rPr>
              <a:t>Nmap done: 1 IP address (1 host up) scanned</a:t>
            </a:r>
            <a:endParaRPr lang="en-US" sz="1220" dirty="0"/>
          </a:p>
        </p:txBody>
      </p:sp>
      <p:sp>
        <p:nvSpPr>
          <p:cNvPr id="13" name="Shape 11"/>
          <p:cNvSpPr/>
          <p:nvPr/>
        </p:nvSpPr>
        <p:spPr>
          <a:xfrm>
            <a:off x="7360920" y="1691640"/>
            <a:ext cx="4325112" cy="987552"/>
          </a:xfrm>
          <a:prstGeom prst="roundRect">
            <a:avLst>
              <a:gd name="adj" fmla="val 7407"/>
            </a:avLst>
          </a:prstGeom>
          <a:solidFill>
            <a:srgbClr val="1C2541"/>
          </a:solidFill>
          <a:ln/>
        </p:spPr>
      </p:sp>
      <p:sp>
        <p:nvSpPr>
          <p:cNvPr id="14" name="Text 12"/>
          <p:cNvSpPr/>
          <p:nvPr/>
        </p:nvSpPr>
        <p:spPr>
          <a:xfrm>
            <a:off x="7543800" y="1783080"/>
            <a:ext cx="3959352" cy="292608"/>
          </a:xfrm>
          <a:prstGeom prst="rect">
            <a:avLst/>
          </a:prstGeom>
          <a:noFill/>
          <a:ln/>
        </p:spPr>
        <p:txBody>
          <a:bodyPr wrap="square" rtlCol="0" anchor="ctr"/>
          <a:lstStyle/>
          <a:p>
            <a:pPr indent="0" marL="0">
              <a:buNone/>
            </a:pPr>
            <a:r>
              <a:rPr lang="en-US" sz="1200" b="1" dirty="0">
                <a:solidFill>
                  <a:srgbClr val="2FD48C"/>
                </a:solidFill>
                <a:latin typeface="Calibri" pitchFamily="34" charset="0"/>
                <a:ea typeface="Calibri" pitchFamily="34" charset="-122"/>
                <a:cs typeface="Calibri" pitchFamily="34" charset="-120"/>
              </a:rPr>
              <a:t>PORT / STATE / SERVICE</a:t>
            </a:r>
            <a:endParaRPr lang="en-US" sz="1200" dirty="0"/>
          </a:p>
        </p:txBody>
      </p:sp>
      <p:sp>
        <p:nvSpPr>
          <p:cNvPr id="15" name="Text 13"/>
          <p:cNvSpPr/>
          <p:nvPr/>
        </p:nvSpPr>
        <p:spPr>
          <a:xfrm>
            <a:off x="7543800" y="2075688"/>
            <a:ext cx="3959352" cy="548640"/>
          </a:xfrm>
          <a:prstGeom prst="rect">
            <a:avLst/>
          </a:prstGeom>
          <a:noFill/>
          <a:ln/>
        </p:spPr>
        <p:txBody>
          <a:bodyPr wrap="square" rtlCol="0" anchor="t"/>
          <a:lstStyle/>
          <a:p>
            <a:pPr indent="0" marL="0">
              <a:lnSpc>
                <a:spcPct val="115000"/>
              </a:lnSpc>
              <a:buNone/>
            </a:pPr>
            <a:r>
              <a:rPr lang="en-US" sz="1050" dirty="0">
                <a:solidFill>
                  <a:srgbClr val="AEB8C4"/>
                </a:solidFill>
                <a:latin typeface="Calibri" pitchFamily="34" charset="0"/>
                <a:ea typeface="Calibri" pitchFamily="34" charset="-122"/>
                <a:cs typeface="Calibri" pitchFamily="34" charset="-120"/>
              </a:rPr>
              <a:t>the three columns that matter most at a glance</a:t>
            </a:r>
            <a:endParaRPr lang="en-US" sz="1050" dirty="0"/>
          </a:p>
        </p:txBody>
      </p:sp>
      <p:sp>
        <p:nvSpPr>
          <p:cNvPr id="16" name="Shape 14"/>
          <p:cNvSpPr/>
          <p:nvPr/>
        </p:nvSpPr>
        <p:spPr>
          <a:xfrm>
            <a:off x="7360920" y="2807208"/>
            <a:ext cx="4325112" cy="987552"/>
          </a:xfrm>
          <a:prstGeom prst="roundRect">
            <a:avLst>
              <a:gd name="adj" fmla="val 7407"/>
            </a:avLst>
          </a:prstGeom>
          <a:solidFill>
            <a:srgbClr val="1C2541"/>
          </a:solidFill>
          <a:ln/>
        </p:spPr>
      </p:sp>
      <p:sp>
        <p:nvSpPr>
          <p:cNvPr id="17" name="Text 15"/>
          <p:cNvSpPr/>
          <p:nvPr/>
        </p:nvSpPr>
        <p:spPr>
          <a:xfrm>
            <a:off x="7543800" y="2898648"/>
            <a:ext cx="3959352" cy="292608"/>
          </a:xfrm>
          <a:prstGeom prst="rect">
            <a:avLst/>
          </a:prstGeom>
          <a:noFill/>
          <a:ln/>
        </p:spPr>
        <p:txBody>
          <a:bodyPr wrap="square" rtlCol="0" anchor="ctr"/>
          <a:lstStyle/>
          <a:p>
            <a:pPr indent="0" marL="0">
              <a:buNone/>
            </a:pPr>
            <a:r>
              <a:rPr lang="en-US" sz="1200" b="1" dirty="0">
                <a:solidFill>
                  <a:srgbClr val="2FD48C"/>
                </a:solidFill>
                <a:latin typeface="Calibri" pitchFamily="34" charset="0"/>
                <a:ea typeface="Calibri" pitchFamily="34" charset="-122"/>
                <a:cs typeface="Calibri" pitchFamily="34" charset="-120"/>
              </a:rPr>
              <a:t>VERSION column</a:t>
            </a:r>
            <a:endParaRPr lang="en-US" sz="1200" dirty="0"/>
          </a:p>
        </p:txBody>
      </p:sp>
      <p:sp>
        <p:nvSpPr>
          <p:cNvPr id="18" name="Text 16"/>
          <p:cNvSpPr/>
          <p:nvPr/>
        </p:nvSpPr>
        <p:spPr>
          <a:xfrm>
            <a:off x="7543800" y="3191256"/>
            <a:ext cx="3959352" cy="548640"/>
          </a:xfrm>
          <a:prstGeom prst="rect">
            <a:avLst/>
          </a:prstGeom>
          <a:noFill/>
          <a:ln/>
        </p:spPr>
        <p:txBody>
          <a:bodyPr wrap="square" rtlCol="0" anchor="t"/>
          <a:lstStyle/>
          <a:p>
            <a:pPr indent="0" marL="0">
              <a:lnSpc>
                <a:spcPct val="115000"/>
              </a:lnSpc>
              <a:buNone/>
            </a:pPr>
            <a:r>
              <a:rPr lang="en-US" sz="1050" dirty="0">
                <a:solidFill>
                  <a:srgbClr val="AEB8C4"/>
                </a:solidFill>
                <a:latin typeface="Calibri" pitchFamily="34" charset="0"/>
                <a:ea typeface="Calibri" pitchFamily="34" charset="-122"/>
                <a:cs typeface="Calibri" pitchFamily="34" charset="-120"/>
              </a:rPr>
              <a:t>comes from -sV — your map to specific CVEs</a:t>
            </a:r>
            <a:endParaRPr lang="en-US" sz="1050" dirty="0"/>
          </a:p>
        </p:txBody>
      </p:sp>
      <p:sp>
        <p:nvSpPr>
          <p:cNvPr id="19" name="Shape 17"/>
          <p:cNvSpPr/>
          <p:nvPr/>
        </p:nvSpPr>
        <p:spPr>
          <a:xfrm>
            <a:off x="7360920" y="3922776"/>
            <a:ext cx="4325112" cy="987552"/>
          </a:xfrm>
          <a:prstGeom prst="roundRect">
            <a:avLst>
              <a:gd name="adj" fmla="val 7407"/>
            </a:avLst>
          </a:prstGeom>
          <a:solidFill>
            <a:srgbClr val="1C2541"/>
          </a:solidFill>
          <a:ln/>
        </p:spPr>
      </p:sp>
      <p:sp>
        <p:nvSpPr>
          <p:cNvPr id="20" name="Text 18"/>
          <p:cNvSpPr/>
          <p:nvPr/>
        </p:nvSpPr>
        <p:spPr>
          <a:xfrm>
            <a:off x="7543800" y="4014216"/>
            <a:ext cx="3959352" cy="292608"/>
          </a:xfrm>
          <a:prstGeom prst="rect">
            <a:avLst/>
          </a:prstGeom>
          <a:noFill/>
          <a:ln/>
        </p:spPr>
        <p:txBody>
          <a:bodyPr wrap="square" rtlCol="0" anchor="ctr"/>
          <a:lstStyle/>
          <a:p>
            <a:pPr indent="0" marL="0">
              <a:buNone/>
            </a:pPr>
            <a:r>
              <a:rPr lang="en-US" sz="1200" b="1" dirty="0">
                <a:solidFill>
                  <a:srgbClr val="2FD48C"/>
                </a:solidFill>
                <a:latin typeface="Calibri" pitchFamily="34" charset="0"/>
                <a:ea typeface="Calibri" pitchFamily="34" charset="-122"/>
                <a:cs typeface="Calibri" pitchFamily="34" charset="-120"/>
              </a:rPr>
              <a:t>“Host is up” line</a:t>
            </a:r>
            <a:endParaRPr lang="en-US" sz="1200" dirty="0"/>
          </a:p>
        </p:txBody>
      </p:sp>
      <p:sp>
        <p:nvSpPr>
          <p:cNvPr id="21" name="Text 19"/>
          <p:cNvSpPr/>
          <p:nvPr/>
        </p:nvSpPr>
        <p:spPr>
          <a:xfrm>
            <a:off x="7543800" y="4306824"/>
            <a:ext cx="3959352" cy="548640"/>
          </a:xfrm>
          <a:prstGeom prst="rect">
            <a:avLst/>
          </a:prstGeom>
          <a:noFill/>
          <a:ln/>
        </p:spPr>
        <p:txBody>
          <a:bodyPr wrap="square" rtlCol="0" anchor="t"/>
          <a:lstStyle/>
          <a:p>
            <a:pPr indent="0" marL="0">
              <a:lnSpc>
                <a:spcPct val="115000"/>
              </a:lnSpc>
              <a:buNone/>
            </a:pPr>
            <a:r>
              <a:rPr lang="en-US" sz="1050" dirty="0">
                <a:solidFill>
                  <a:srgbClr val="AEB8C4"/>
                </a:solidFill>
                <a:latin typeface="Calibri" pitchFamily="34" charset="0"/>
                <a:ea typeface="Calibri" pitchFamily="34" charset="-122"/>
                <a:cs typeface="Calibri" pitchFamily="34" charset="-120"/>
              </a:rPr>
              <a:t>confirms the target responded before ports were probed</a:t>
            </a:r>
            <a:endParaRPr lang="en-US" sz="1050" dirty="0"/>
          </a:p>
        </p:txBody>
      </p:sp>
      <p:sp>
        <p:nvSpPr>
          <p:cNvPr id="22" name="Shape 20"/>
          <p:cNvSpPr/>
          <p:nvPr/>
        </p:nvSpPr>
        <p:spPr>
          <a:xfrm>
            <a:off x="7360920" y="5038344"/>
            <a:ext cx="4325112" cy="987552"/>
          </a:xfrm>
          <a:prstGeom prst="roundRect">
            <a:avLst>
              <a:gd name="adj" fmla="val 7407"/>
            </a:avLst>
          </a:prstGeom>
          <a:solidFill>
            <a:srgbClr val="1C2541"/>
          </a:solidFill>
          <a:ln/>
        </p:spPr>
      </p:sp>
      <p:sp>
        <p:nvSpPr>
          <p:cNvPr id="23" name="Text 21"/>
          <p:cNvSpPr/>
          <p:nvPr/>
        </p:nvSpPr>
        <p:spPr>
          <a:xfrm>
            <a:off x="7543800" y="5129784"/>
            <a:ext cx="3959352" cy="292608"/>
          </a:xfrm>
          <a:prstGeom prst="rect">
            <a:avLst/>
          </a:prstGeom>
          <a:noFill/>
          <a:ln/>
        </p:spPr>
        <p:txBody>
          <a:bodyPr wrap="square" rtlCol="0" anchor="ctr"/>
          <a:lstStyle/>
          <a:p>
            <a:pPr indent="0" marL="0">
              <a:buNone/>
            </a:pPr>
            <a:r>
              <a:rPr lang="en-US" sz="1200" b="1" dirty="0">
                <a:solidFill>
                  <a:srgbClr val="2FD48C"/>
                </a:solidFill>
                <a:latin typeface="Calibri" pitchFamily="34" charset="0"/>
                <a:ea typeface="Calibri" pitchFamily="34" charset="-122"/>
                <a:cs typeface="Calibri" pitchFamily="34" charset="-120"/>
              </a:rPr>
              <a:t>Unexpected ports (139/445)</a:t>
            </a:r>
            <a:endParaRPr lang="en-US" sz="1200" dirty="0"/>
          </a:p>
        </p:txBody>
      </p:sp>
      <p:sp>
        <p:nvSpPr>
          <p:cNvPr id="24" name="Text 22"/>
          <p:cNvSpPr/>
          <p:nvPr/>
        </p:nvSpPr>
        <p:spPr>
          <a:xfrm>
            <a:off x="7543800" y="5422392"/>
            <a:ext cx="3959352" cy="548640"/>
          </a:xfrm>
          <a:prstGeom prst="rect">
            <a:avLst/>
          </a:prstGeom>
          <a:noFill/>
          <a:ln/>
        </p:spPr>
        <p:txBody>
          <a:bodyPr wrap="square" rtlCol="0" anchor="t"/>
          <a:lstStyle/>
          <a:p>
            <a:pPr indent="0" marL="0">
              <a:lnSpc>
                <a:spcPct val="115000"/>
              </a:lnSpc>
              <a:buNone/>
            </a:pPr>
            <a:r>
              <a:rPr lang="en-US" sz="1050" dirty="0">
                <a:solidFill>
                  <a:srgbClr val="AEB8C4"/>
                </a:solidFill>
                <a:latin typeface="Calibri" pitchFamily="34" charset="0"/>
                <a:ea typeface="Calibri" pitchFamily="34" charset="-122"/>
                <a:cs typeface="Calibri" pitchFamily="34" charset="-120"/>
              </a:rPr>
              <a:t>flag these immediately — SMB is a goldmine for enumeration</a:t>
            </a:r>
            <a:endParaRPr lang="en-US" sz="1050" dirty="0"/>
          </a:p>
        </p:txBody>
      </p:sp>
      <p:sp>
        <p:nvSpPr>
          <p:cNvPr id="25" name="Text 23"/>
          <p:cNvSpPr/>
          <p:nvPr/>
        </p:nvSpPr>
        <p:spPr>
          <a:xfrm>
            <a:off x="11365992" y="6446520"/>
            <a:ext cx="457200" cy="274320"/>
          </a:xfrm>
          <a:prstGeom prst="rect">
            <a:avLst/>
          </a:prstGeom>
          <a:noFill/>
          <a:ln/>
        </p:spPr>
        <p:txBody>
          <a:bodyPr wrap="square" rtlCol="0" anchor="ctr"/>
          <a:lstStyle/>
          <a:p>
            <a:pPr algn="r" indent="0" marL="0">
              <a:buNone/>
            </a:pPr>
            <a:r>
              <a:rPr lang="en-US" sz="1000" dirty="0">
                <a:solidFill>
                  <a:srgbClr val="AEB8C4"/>
                </a:solidFill>
                <a:latin typeface="Courier New" pitchFamily="34" charset="0"/>
                <a:ea typeface="Courier New" pitchFamily="34" charset="-122"/>
                <a:cs typeface="Courier New"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rtlCol="0" anchor="ctr"/>
          <a:lstStyle/>
          <a:p>
            <a:pPr algn="l" indent="0" marL="0">
              <a:buNone/>
            </a:pPr>
            <a:r>
              <a:rPr lang="en-US" sz="1200" b="1" spc="200" kern="0" dirty="0">
                <a:solidFill>
                  <a:srgbClr val="1E9E6A"/>
                </a:solidFill>
                <a:latin typeface="Calibri" pitchFamily="34" charset="0"/>
                <a:ea typeface="Calibri" pitchFamily="34" charset="-122"/>
                <a:cs typeface="Calibri" pitchFamily="34" charset="-120"/>
              </a:rPr>
              <a:t>NMAP DEEP DIVE</a:t>
            </a:r>
            <a:endParaRPr lang="en-US" sz="1200" dirty="0"/>
          </a:p>
        </p:txBody>
      </p:sp>
      <p:sp>
        <p:nvSpPr>
          <p:cNvPr id="3" name="Text 1"/>
          <p:cNvSpPr/>
          <p:nvPr/>
        </p:nvSpPr>
        <p:spPr>
          <a:xfrm>
            <a:off x="502920" y="658368"/>
            <a:ext cx="10515600" cy="548640"/>
          </a:xfrm>
          <a:prstGeom prst="rect">
            <a:avLst/>
          </a:prstGeom>
          <a:noFill/>
          <a:ln/>
        </p:spPr>
        <p:txBody>
          <a:bodyPr wrap="square" rtlCol="0" anchor="ctr"/>
          <a:lstStyle/>
          <a:p>
            <a:pPr algn="l" indent="0" marL="0">
              <a:buNone/>
            </a:pPr>
            <a:r>
              <a:rPr lang="en-US" sz="3200" b="1" dirty="0">
                <a:solidFill>
                  <a:srgbClr val="16213E"/>
                </a:solidFill>
                <a:latin typeface="Calibri" pitchFamily="34" charset="0"/>
                <a:ea typeface="Calibri" pitchFamily="34" charset="-122"/>
                <a:cs typeface="Calibri" pitchFamily="34" charset="-120"/>
              </a:rPr>
              <a:t>Service &amp; Version Detection (-sV)</a:t>
            </a:r>
            <a:endParaRPr lang="en-US" sz="3200" dirty="0"/>
          </a:p>
        </p:txBody>
      </p:sp>
      <p:sp>
        <p:nvSpPr>
          <p:cNvPr id="4" name="Text 2"/>
          <p:cNvSpPr/>
          <p:nvPr/>
        </p:nvSpPr>
        <p:spPr>
          <a:xfrm>
            <a:off x="502920" y="1161288"/>
            <a:ext cx="10515600" cy="365760"/>
          </a:xfrm>
          <a:prstGeom prst="rect">
            <a:avLst/>
          </a:prstGeom>
          <a:noFill/>
          <a:ln/>
        </p:spPr>
        <p:txBody>
          <a:bodyPr wrap="square" rtlCol="0" anchor="ctr"/>
          <a:lstStyle/>
          <a:p>
            <a:pPr algn="l" indent="0" marL="0">
              <a:buNone/>
            </a:pPr>
            <a:r>
              <a:rPr lang="en-US" sz="1400" dirty="0">
                <a:solidFill>
                  <a:srgbClr val="5C6B84"/>
                </a:solidFill>
                <a:latin typeface="Calibri" pitchFamily="34" charset="0"/>
                <a:ea typeface="Calibri" pitchFamily="34" charset="-122"/>
                <a:cs typeface="Calibri" pitchFamily="34" charset="-120"/>
              </a:rPr>
              <a:t>Turns “port 80 is open” into “Apache 2.4.41 is running”</a:t>
            </a:r>
            <a:endParaRPr lang="en-US" sz="1400" dirty="0"/>
          </a:p>
        </p:txBody>
      </p:sp>
      <p:sp>
        <p:nvSpPr>
          <p:cNvPr id="5" name="Text 3"/>
          <p:cNvSpPr/>
          <p:nvPr/>
        </p:nvSpPr>
        <p:spPr>
          <a:xfrm>
            <a:off x="502920" y="1828800"/>
            <a:ext cx="5486400" cy="365760"/>
          </a:xfrm>
          <a:prstGeom prst="rect">
            <a:avLst/>
          </a:prstGeom>
          <a:noFill/>
          <a:ln/>
        </p:spPr>
        <p:txBody>
          <a:bodyPr wrap="square" rtlCol="0" anchor="ctr"/>
          <a:lstStyle/>
          <a:p>
            <a:pPr indent="0" marL="0">
              <a:buNone/>
            </a:pPr>
            <a:r>
              <a:rPr lang="en-US" sz="1600" b="1" dirty="0">
                <a:solidFill>
                  <a:srgbClr val="16213E"/>
                </a:solidFill>
                <a:latin typeface="Calibri" pitchFamily="34" charset="0"/>
                <a:ea typeface="Calibri" pitchFamily="34" charset="-122"/>
                <a:cs typeface="Calibri" pitchFamily="34" charset="-120"/>
              </a:rPr>
              <a:t>How it works</a:t>
            </a:r>
            <a:endParaRPr lang="en-US" sz="1600" dirty="0"/>
          </a:p>
        </p:txBody>
      </p:sp>
      <p:sp>
        <p:nvSpPr>
          <p:cNvPr id="6" name="Shape 4"/>
          <p:cNvSpPr/>
          <p:nvPr/>
        </p:nvSpPr>
        <p:spPr>
          <a:xfrm>
            <a:off x="502920" y="2286000"/>
            <a:ext cx="310896" cy="310896"/>
          </a:xfrm>
          <a:prstGeom prst="ellipse">
            <a:avLst/>
          </a:prstGeom>
          <a:solidFill>
            <a:srgbClr val="1E9E6A"/>
          </a:solidFill>
          <a:ln/>
        </p:spPr>
      </p:sp>
      <p:sp>
        <p:nvSpPr>
          <p:cNvPr id="7" name="Text 5"/>
          <p:cNvSpPr/>
          <p:nvPr/>
        </p:nvSpPr>
        <p:spPr>
          <a:xfrm>
            <a:off x="502920" y="2286000"/>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960120" y="2258568"/>
            <a:ext cx="5669280" cy="548640"/>
          </a:xfrm>
          <a:prstGeom prst="rect">
            <a:avLst/>
          </a:prstGeom>
          <a:noFill/>
          <a:ln/>
        </p:spPr>
        <p:txBody>
          <a:bodyPr wrap="square" rtlCol="0" anchor="t"/>
          <a:lstStyle/>
          <a:p>
            <a:pPr indent="0" marL="0">
              <a:lnSpc>
                <a:spcPct val="115000"/>
              </a:lnSpc>
              <a:buNone/>
            </a:pPr>
            <a:r>
              <a:rPr lang="en-US" sz="1250" dirty="0">
                <a:solidFill>
                  <a:srgbClr val="16213E"/>
                </a:solidFill>
                <a:latin typeface="Calibri" pitchFamily="34" charset="0"/>
                <a:ea typeface="Calibri" pitchFamily="34" charset="-122"/>
                <a:cs typeface="Calibri" pitchFamily="34" charset="-120"/>
              </a:rPr>
              <a:t>Nmap first identifies open ports through its normal scan.</a:t>
            </a:r>
            <a:endParaRPr lang="en-US" sz="1250" dirty="0"/>
          </a:p>
        </p:txBody>
      </p:sp>
      <p:sp>
        <p:nvSpPr>
          <p:cNvPr id="9" name="Shape 7"/>
          <p:cNvSpPr/>
          <p:nvPr/>
        </p:nvSpPr>
        <p:spPr>
          <a:xfrm>
            <a:off x="502920" y="2944368"/>
            <a:ext cx="310896" cy="310896"/>
          </a:xfrm>
          <a:prstGeom prst="ellipse">
            <a:avLst/>
          </a:prstGeom>
          <a:solidFill>
            <a:srgbClr val="1E9E6A"/>
          </a:solidFill>
          <a:ln/>
        </p:spPr>
      </p:sp>
      <p:sp>
        <p:nvSpPr>
          <p:cNvPr id="10" name="Text 8"/>
          <p:cNvSpPr/>
          <p:nvPr/>
        </p:nvSpPr>
        <p:spPr>
          <a:xfrm>
            <a:off x="502920" y="2944368"/>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960120" y="2916936"/>
            <a:ext cx="5669280" cy="548640"/>
          </a:xfrm>
          <a:prstGeom prst="rect">
            <a:avLst/>
          </a:prstGeom>
          <a:noFill/>
          <a:ln/>
        </p:spPr>
        <p:txBody>
          <a:bodyPr wrap="square" rtlCol="0" anchor="t"/>
          <a:lstStyle/>
          <a:p>
            <a:pPr indent="0" marL="0">
              <a:lnSpc>
                <a:spcPct val="115000"/>
              </a:lnSpc>
              <a:buNone/>
            </a:pPr>
            <a:r>
              <a:rPr lang="en-US" sz="1250" dirty="0">
                <a:solidFill>
                  <a:srgbClr val="16213E"/>
                </a:solidFill>
                <a:latin typeface="Calibri" pitchFamily="34" charset="0"/>
                <a:ea typeface="Calibri" pitchFamily="34" charset="-122"/>
                <a:cs typeface="Calibri" pitchFamily="34" charset="-120"/>
              </a:rPr>
              <a:t>It then sends a series of probes from its nmap-service-probes signature database.</a:t>
            </a:r>
            <a:endParaRPr lang="en-US" sz="1250" dirty="0"/>
          </a:p>
        </p:txBody>
      </p:sp>
      <p:sp>
        <p:nvSpPr>
          <p:cNvPr id="12" name="Shape 10"/>
          <p:cNvSpPr/>
          <p:nvPr/>
        </p:nvSpPr>
        <p:spPr>
          <a:xfrm>
            <a:off x="502920" y="3602736"/>
            <a:ext cx="310896" cy="310896"/>
          </a:xfrm>
          <a:prstGeom prst="ellipse">
            <a:avLst/>
          </a:prstGeom>
          <a:solidFill>
            <a:srgbClr val="1E9E6A"/>
          </a:solidFill>
          <a:ln/>
        </p:spPr>
      </p:sp>
      <p:sp>
        <p:nvSpPr>
          <p:cNvPr id="13" name="Text 11"/>
          <p:cNvSpPr/>
          <p:nvPr/>
        </p:nvSpPr>
        <p:spPr>
          <a:xfrm>
            <a:off x="502920" y="3602736"/>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960120" y="3575304"/>
            <a:ext cx="5669280" cy="548640"/>
          </a:xfrm>
          <a:prstGeom prst="rect">
            <a:avLst/>
          </a:prstGeom>
          <a:noFill/>
          <a:ln/>
        </p:spPr>
        <p:txBody>
          <a:bodyPr wrap="square" rtlCol="0" anchor="t"/>
          <a:lstStyle/>
          <a:p>
            <a:pPr indent="0" marL="0">
              <a:lnSpc>
                <a:spcPct val="115000"/>
              </a:lnSpc>
              <a:buNone/>
            </a:pPr>
            <a:r>
              <a:rPr lang="en-US" sz="1250" dirty="0">
                <a:solidFill>
                  <a:srgbClr val="16213E"/>
                </a:solidFill>
                <a:latin typeface="Calibri" pitchFamily="34" charset="0"/>
                <a:ea typeface="Calibri" pitchFamily="34" charset="-122"/>
                <a:cs typeface="Calibri" pitchFamily="34" charset="-120"/>
              </a:rPr>
              <a:t>Each service's response (banner, protocol quirks) is matched against thousands of known signatures.</a:t>
            </a:r>
            <a:endParaRPr lang="en-US" sz="1250" dirty="0"/>
          </a:p>
        </p:txBody>
      </p:sp>
      <p:sp>
        <p:nvSpPr>
          <p:cNvPr id="15" name="Shape 13"/>
          <p:cNvSpPr/>
          <p:nvPr/>
        </p:nvSpPr>
        <p:spPr>
          <a:xfrm>
            <a:off x="502920" y="4261104"/>
            <a:ext cx="310896" cy="310896"/>
          </a:xfrm>
          <a:prstGeom prst="ellipse">
            <a:avLst/>
          </a:prstGeom>
          <a:solidFill>
            <a:srgbClr val="1E9E6A"/>
          </a:solidFill>
          <a:ln/>
        </p:spPr>
      </p:sp>
      <p:sp>
        <p:nvSpPr>
          <p:cNvPr id="16" name="Text 14"/>
          <p:cNvSpPr/>
          <p:nvPr/>
        </p:nvSpPr>
        <p:spPr>
          <a:xfrm>
            <a:off x="502920" y="4261104"/>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7" name="Text 15"/>
          <p:cNvSpPr/>
          <p:nvPr/>
        </p:nvSpPr>
        <p:spPr>
          <a:xfrm>
            <a:off x="960120" y="4233672"/>
            <a:ext cx="5669280" cy="548640"/>
          </a:xfrm>
          <a:prstGeom prst="rect">
            <a:avLst/>
          </a:prstGeom>
          <a:noFill/>
          <a:ln/>
        </p:spPr>
        <p:txBody>
          <a:bodyPr wrap="square" rtlCol="0" anchor="t"/>
          <a:lstStyle/>
          <a:p>
            <a:pPr indent="0" marL="0">
              <a:lnSpc>
                <a:spcPct val="115000"/>
              </a:lnSpc>
              <a:buNone/>
            </a:pPr>
            <a:r>
              <a:rPr lang="en-US" sz="1250" dirty="0">
                <a:solidFill>
                  <a:srgbClr val="16213E"/>
                </a:solidFill>
                <a:latin typeface="Calibri" pitchFamily="34" charset="0"/>
                <a:ea typeface="Calibri" pitchFamily="34" charset="-122"/>
                <a:cs typeface="Calibri" pitchFamily="34" charset="-120"/>
              </a:rPr>
              <a:t>Nmap reports the best-matching product, version, and sometimes extra info (OS, hostname, device type).</a:t>
            </a:r>
            <a:endParaRPr lang="en-US" sz="1250" dirty="0"/>
          </a:p>
        </p:txBody>
      </p:sp>
      <p:sp>
        <p:nvSpPr>
          <p:cNvPr id="18" name="Shape 16"/>
          <p:cNvSpPr/>
          <p:nvPr/>
        </p:nvSpPr>
        <p:spPr>
          <a:xfrm>
            <a:off x="6537960" y="1828800"/>
            <a:ext cx="5148072" cy="3108960"/>
          </a:xfrm>
          <a:prstGeom prst="roundRect">
            <a:avLst>
              <a:gd name="adj" fmla="val 2941"/>
            </a:avLst>
          </a:prstGeom>
          <a:solidFill>
            <a:srgbClr val="F2F5F7"/>
          </a:solidFill>
          <a:ln/>
        </p:spPr>
      </p:sp>
      <p:sp>
        <p:nvSpPr>
          <p:cNvPr id="19" name="Text 17"/>
          <p:cNvSpPr/>
          <p:nvPr/>
        </p:nvSpPr>
        <p:spPr>
          <a:xfrm>
            <a:off x="6766560" y="2011680"/>
            <a:ext cx="4114800" cy="320040"/>
          </a:xfrm>
          <a:prstGeom prst="rect">
            <a:avLst/>
          </a:prstGeom>
          <a:noFill/>
          <a:ln/>
        </p:spPr>
        <p:txBody>
          <a:bodyPr wrap="square" rtlCol="0" anchor="ctr"/>
          <a:lstStyle/>
          <a:p>
            <a:pPr indent="0" marL="0">
              <a:buNone/>
            </a:pPr>
            <a:r>
              <a:rPr lang="en-US" sz="1400" b="1" dirty="0">
                <a:solidFill>
                  <a:srgbClr val="16213E"/>
                </a:solidFill>
                <a:latin typeface="Calibri" pitchFamily="34" charset="0"/>
                <a:ea typeface="Calibri" pitchFamily="34" charset="-122"/>
                <a:cs typeface="Calibri" pitchFamily="34" charset="-120"/>
              </a:rPr>
              <a:t>Tuning intensity</a:t>
            </a:r>
            <a:endParaRPr lang="en-US" sz="1400" dirty="0"/>
          </a:p>
        </p:txBody>
      </p:sp>
      <p:sp>
        <p:nvSpPr>
          <p:cNvPr id="20" name="Text 18"/>
          <p:cNvSpPr/>
          <p:nvPr/>
        </p:nvSpPr>
        <p:spPr>
          <a:xfrm>
            <a:off x="6766560" y="2423160"/>
            <a:ext cx="3931920" cy="2377440"/>
          </a:xfrm>
          <a:prstGeom prst="rect">
            <a:avLst/>
          </a:prstGeom>
          <a:noFill/>
          <a:ln/>
        </p:spPr>
        <p:txBody>
          <a:bodyPr wrap="square" rtlCol="0" anchor="t"/>
          <a:lstStyle/>
          <a:p>
            <a:pPr indent="0" marL="0">
              <a:lnSpc>
                <a:spcPct val="125000"/>
              </a:lnSpc>
              <a:buNone/>
            </a:pPr>
            <a:r>
              <a:rPr lang="en-US" sz="1200" b="1" dirty="0">
                <a:solidFill>
                  <a:srgbClr val="1E9E6A"/>
                </a:solidFill>
                <a:latin typeface="Courier New" pitchFamily="34" charset="0"/>
                <a:ea typeface="Courier New" pitchFamily="34" charset="-122"/>
                <a:cs typeface="Courier New" pitchFamily="34" charset="-120"/>
              </a:rPr>
              <a:t>--version-intensity 0–9
</a:t>
            </a:r>
            <a:pPr indent="0" marL="0">
              <a:lnSpc>
                <a:spcPct val="125000"/>
              </a:lnSpc>
              <a:buNone/>
            </a:pPr>
            <a:r>
              <a:rPr lang="en-US" sz="1200" dirty="0">
                <a:solidFill>
                  <a:srgbClr val="5C6B84"/>
                </a:solidFill>
              </a:rPr>
              <a:t>0 = lightest probes only (fast, may miss things)
</a:t>
            </a:r>
            <a:pPr indent="0" marL="0">
              <a:lnSpc>
                <a:spcPct val="125000"/>
              </a:lnSpc>
              <a:buNone/>
            </a:pPr>
            <a:r>
              <a:rPr lang="en-US" sz="1200" dirty="0">
                <a:solidFill>
                  <a:srgbClr val="5C6B84"/>
                </a:solidFill>
              </a:rPr>
              <a:t>9 = every probe tried (slow, most accurate)
</a:t>
            </a:r>
            <a:pPr indent="0" marL="0">
              <a:lnSpc>
                <a:spcPct val="125000"/>
              </a:lnSpc>
              <a:buNone/>
            </a:pPr>
            <a:r>
              <a:rPr lang="en-US" sz="1200" dirty="0">
                <a:solidFill>
                  <a:srgbClr val="5C6B84"/>
                </a:solidFill>
              </a:rPr>
              <a:t>Default is 7 — a solid balance for most engagements.
</a:t>
            </a:r>
            <a:pPr indent="0" marL="0">
              <a:lnSpc>
                <a:spcPct val="125000"/>
              </a:lnSpc>
              <a:buNone/>
            </a:pPr>
            <a:r>
              <a:rPr lang="en-US" sz="1200" b="1" dirty="0">
                <a:solidFill>
                  <a:srgbClr val="1E9E6A"/>
                </a:solidFill>
                <a:latin typeface="Courier New" pitchFamily="34" charset="0"/>
                <a:ea typeface="Courier New" pitchFamily="34" charset="-122"/>
                <a:cs typeface="Courier New" pitchFamily="34" charset="-120"/>
              </a:rPr>
              <a:t>--version-light
</a:t>
            </a:r>
            <a:pPr indent="0" marL="0">
              <a:lnSpc>
                <a:spcPct val="125000"/>
              </a:lnSpc>
              <a:buNone/>
            </a:pPr>
            <a:r>
              <a:rPr lang="en-US" sz="1200" dirty="0">
                <a:solidFill>
                  <a:srgbClr val="5C6B84"/>
                </a:solidFill>
              </a:rPr>
              <a:t>Shortcut for intensity 2 — quick recon pass.</a:t>
            </a:r>
            <a:endParaRPr lang="en-US" sz="1200" dirty="0"/>
          </a:p>
        </p:txBody>
      </p:sp>
      <p:sp>
        <p:nvSpPr>
          <p:cNvPr id="21" name="Text 19"/>
          <p:cNvSpPr/>
          <p:nvPr/>
        </p:nvSpPr>
        <p:spPr>
          <a:xfrm>
            <a:off x="502920" y="5349240"/>
            <a:ext cx="11183112" cy="548640"/>
          </a:xfrm>
          <a:prstGeom prst="rect">
            <a:avLst/>
          </a:prstGeom>
          <a:noFill/>
          <a:ln/>
        </p:spPr>
        <p:txBody>
          <a:bodyPr wrap="square" rtlCol="0" anchor="ctr"/>
          <a:lstStyle/>
          <a:p>
            <a:pPr indent="0" marL="0">
              <a:buNone/>
            </a:pPr>
            <a:r>
              <a:rPr lang="en-US" sz="1200" i="1" dirty="0">
                <a:solidFill>
                  <a:srgbClr val="5C6B84"/>
                </a:solidFill>
                <a:latin typeface="Calibri" pitchFamily="34" charset="0"/>
                <a:ea typeface="Calibri" pitchFamily="34" charset="-122"/>
                <a:cs typeface="Calibri" pitchFamily="34" charset="-120"/>
              </a:rPr>
              <a:t>Talking point: -sV is often the single flag that turns a scan report into an actionable vulnerability list.</a:t>
            </a:r>
            <a:endParaRPr lang="en-US" sz="1200" dirty="0"/>
          </a:p>
        </p:txBody>
      </p:sp>
      <p:sp>
        <p:nvSpPr>
          <p:cNvPr id="22" name="Text 20"/>
          <p:cNvSpPr/>
          <p:nvPr/>
        </p:nvSpPr>
        <p:spPr>
          <a:xfrm>
            <a:off x="11365992" y="6446520"/>
            <a:ext cx="457200" cy="274320"/>
          </a:xfrm>
          <a:prstGeom prst="rect">
            <a:avLst/>
          </a:prstGeom>
          <a:noFill/>
          <a:ln/>
        </p:spPr>
        <p:txBody>
          <a:bodyPr wrap="square" rtlCol="0" anchor="ctr"/>
          <a:lstStyle/>
          <a:p>
            <a:pPr algn="r" indent="0" marL="0">
              <a:buNone/>
            </a:pPr>
            <a:r>
              <a:rPr lang="en-US" sz="1000" dirty="0">
                <a:solidFill>
                  <a:srgbClr val="8892A6"/>
                </a:solidFill>
                <a:latin typeface="Courier New" pitchFamily="34" charset="0"/>
                <a:ea typeface="Courier New" pitchFamily="34" charset="-122"/>
                <a:cs typeface="Courier New"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rtlCol="0" anchor="ctr"/>
          <a:lstStyle/>
          <a:p>
            <a:pPr algn="l" indent="0" marL="0">
              <a:buNone/>
            </a:pPr>
            <a:r>
              <a:rPr lang="en-US" sz="1200" b="1" spc="200" kern="0" dirty="0">
                <a:solidFill>
                  <a:srgbClr val="1E9E6A"/>
                </a:solidFill>
                <a:latin typeface="Calibri" pitchFamily="34" charset="0"/>
                <a:ea typeface="Calibri" pitchFamily="34" charset="-122"/>
                <a:cs typeface="Calibri" pitchFamily="34" charset="-120"/>
              </a:rPr>
              <a:t>NMAP DEEP DIVE</a:t>
            </a:r>
            <a:endParaRPr lang="en-US" sz="1200" dirty="0"/>
          </a:p>
        </p:txBody>
      </p:sp>
      <p:sp>
        <p:nvSpPr>
          <p:cNvPr id="3" name="Text 1"/>
          <p:cNvSpPr/>
          <p:nvPr/>
        </p:nvSpPr>
        <p:spPr>
          <a:xfrm>
            <a:off x="502920" y="658368"/>
            <a:ext cx="10515600" cy="548640"/>
          </a:xfrm>
          <a:prstGeom prst="rect">
            <a:avLst/>
          </a:prstGeom>
          <a:noFill/>
          <a:ln/>
        </p:spPr>
        <p:txBody>
          <a:bodyPr wrap="square" rtlCol="0" anchor="ctr"/>
          <a:lstStyle/>
          <a:p>
            <a:pPr algn="l" indent="0" marL="0">
              <a:buNone/>
            </a:pPr>
            <a:r>
              <a:rPr lang="en-US" sz="3200" b="1" dirty="0">
                <a:solidFill>
                  <a:srgbClr val="16213E"/>
                </a:solidFill>
                <a:latin typeface="Calibri" pitchFamily="34" charset="0"/>
                <a:ea typeface="Calibri" pitchFamily="34" charset="-122"/>
                <a:cs typeface="Calibri" pitchFamily="34" charset="-120"/>
              </a:rPr>
              <a:t>OS Fingerprinting (-O)</a:t>
            </a:r>
            <a:endParaRPr lang="en-US" sz="3200" dirty="0"/>
          </a:p>
        </p:txBody>
      </p:sp>
      <p:sp>
        <p:nvSpPr>
          <p:cNvPr id="4" name="Text 2"/>
          <p:cNvSpPr/>
          <p:nvPr/>
        </p:nvSpPr>
        <p:spPr>
          <a:xfrm>
            <a:off x="502920" y="1161288"/>
            <a:ext cx="10515600" cy="365760"/>
          </a:xfrm>
          <a:prstGeom prst="rect">
            <a:avLst/>
          </a:prstGeom>
          <a:noFill/>
          <a:ln/>
        </p:spPr>
        <p:txBody>
          <a:bodyPr wrap="square" rtlCol="0" anchor="ctr"/>
          <a:lstStyle/>
          <a:p>
            <a:pPr algn="l" indent="0" marL="0">
              <a:buNone/>
            </a:pPr>
            <a:r>
              <a:rPr lang="en-US" sz="1400" dirty="0">
                <a:solidFill>
                  <a:srgbClr val="5C6B84"/>
                </a:solidFill>
                <a:latin typeface="Calibri" pitchFamily="34" charset="0"/>
                <a:ea typeface="Calibri" pitchFamily="34" charset="-122"/>
                <a:cs typeface="Calibri" pitchFamily="34" charset="-120"/>
              </a:rPr>
              <a:t>Nmap guesses the target OS from subtle TCP/IP stack behavior</a:t>
            </a:r>
            <a:endParaRPr lang="en-US" sz="1400" dirty="0"/>
          </a:p>
        </p:txBody>
      </p:sp>
      <p:sp>
        <p:nvSpPr>
          <p:cNvPr id="5" name="Shape 3"/>
          <p:cNvSpPr/>
          <p:nvPr/>
        </p:nvSpPr>
        <p:spPr>
          <a:xfrm>
            <a:off x="502920" y="1691640"/>
            <a:ext cx="3544824" cy="1874520"/>
          </a:xfrm>
          <a:prstGeom prst="roundRect">
            <a:avLst>
              <a:gd name="adj" fmla="val 3902"/>
            </a:avLst>
          </a:prstGeom>
          <a:solidFill>
            <a:srgbClr val="F2F5F7"/>
          </a:solidFill>
          <a:ln/>
          <a:effectLst>
            <a:outerShdw sx="100000" sy="100000" kx="0" ky="0" algn="bl" rotWithShape="0" blurRad="76200" dist="25400" dir="5400000">
              <a:srgbClr val="000000">
                <a:alpha val="12000"/>
              </a:srgbClr>
            </a:outerShdw>
          </a:effectLst>
        </p:spPr>
      </p:sp>
      <p:sp>
        <p:nvSpPr>
          <p:cNvPr id="6" name="Shape 4"/>
          <p:cNvSpPr/>
          <p:nvPr/>
        </p:nvSpPr>
        <p:spPr>
          <a:xfrm>
            <a:off x="704088" y="1874520"/>
            <a:ext cx="384048" cy="384048"/>
          </a:xfrm>
          <a:prstGeom prst="ellipse">
            <a:avLst/>
          </a:prstGeom>
          <a:solidFill>
            <a:srgbClr val="4FB6E8"/>
          </a:solidFill>
          <a:ln/>
        </p:spPr>
      </p:sp>
      <p:sp>
        <p:nvSpPr>
          <p:cNvPr id="7" name="Text 5"/>
          <p:cNvSpPr/>
          <p:nvPr/>
        </p:nvSpPr>
        <p:spPr>
          <a:xfrm>
            <a:off x="704088" y="1874520"/>
            <a:ext cx="384048" cy="384048"/>
          </a:xfrm>
          <a:prstGeom prst="rect">
            <a:avLst/>
          </a:prstGeom>
          <a:noFill/>
          <a:ln/>
        </p:spPr>
        <p:txBody>
          <a:bodyPr wrap="square" rtlCol="0" anchor="ctr"/>
          <a:lstStyle/>
          <a:p>
            <a:pPr algn="ctr" indent="0" marL="0">
              <a:buNone/>
            </a:pPr>
            <a:r>
              <a:rPr lang="en-US" sz="1600" b="1" dirty="0">
                <a:solidFill>
                  <a:srgbClr val="0B132B"/>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704088" y="2377440"/>
            <a:ext cx="3142488" cy="365760"/>
          </a:xfrm>
          <a:prstGeom prst="rect">
            <a:avLst/>
          </a:prstGeom>
          <a:noFill/>
          <a:ln/>
        </p:spPr>
        <p:txBody>
          <a:bodyPr wrap="square" rtlCol="0" anchor="ctr"/>
          <a:lstStyle/>
          <a:p>
            <a:pPr indent="0" marL="0">
              <a:buNone/>
            </a:pPr>
            <a:r>
              <a:rPr lang="en-US" sz="1500" b="1" dirty="0">
                <a:solidFill>
                  <a:srgbClr val="16213E"/>
                </a:solidFill>
                <a:latin typeface="Calibri" pitchFamily="34" charset="0"/>
                <a:ea typeface="Calibri" pitchFamily="34" charset="-122"/>
                <a:cs typeface="Calibri" pitchFamily="34" charset="-120"/>
              </a:rPr>
              <a:t>TTL (Time To Live)</a:t>
            </a:r>
            <a:endParaRPr lang="en-US" sz="1500" dirty="0"/>
          </a:p>
        </p:txBody>
      </p:sp>
      <p:sp>
        <p:nvSpPr>
          <p:cNvPr id="9" name="Text 7"/>
          <p:cNvSpPr/>
          <p:nvPr/>
        </p:nvSpPr>
        <p:spPr>
          <a:xfrm>
            <a:off x="704088" y="2743200"/>
            <a:ext cx="3142488" cy="685800"/>
          </a:xfrm>
          <a:prstGeom prst="rect">
            <a:avLst/>
          </a:prstGeom>
          <a:noFill/>
          <a:ln/>
        </p:spPr>
        <p:txBody>
          <a:bodyPr wrap="square" rtlCol="0" anchor="t"/>
          <a:lstStyle/>
          <a:p>
            <a:pPr indent="0" marL="0">
              <a:lnSpc>
                <a:spcPct val="115000"/>
              </a:lnSpc>
              <a:buNone/>
            </a:pPr>
            <a:r>
              <a:rPr lang="en-US" sz="1150" dirty="0">
                <a:solidFill>
                  <a:srgbClr val="5C6B84"/>
                </a:solidFill>
                <a:latin typeface="Calibri" pitchFamily="34" charset="0"/>
                <a:ea typeface="Calibri" pitchFamily="34" charset="-122"/>
                <a:cs typeface="Calibri" pitchFamily="34" charset="-120"/>
              </a:rPr>
              <a:t>Default starting TTL differs by OS family — Linux ~64, Windows ~128, some network gear ~255.</a:t>
            </a:r>
            <a:endParaRPr lang="en-US" sz="1150" dirty="0"/>
          </a:p>
        </p:txBody>
      </p:sp>
      <p:sp>
        <p:nvSpPr>
          <p:cNvPr id="10" name="Shape 8"/>
          <p:cNvSpPr/>
          <p:nvPr/>
        </p:nvSpPr>
        <p:spPr>
          <a:xfrm>
            <a:off x="4322064" y="1691640"/>
            <a:ext cx="3544824" cy="1874520"/>
          </a:xfrm>
          <a:prstGeom prst="roundRect">
            <a:avLst>
              <a:gd name="adj" fmla="val 3902"/>
            </a:avLst>
          </a:prstGeom>
          <a:solidFill>
            <a:srgbClr val="F2F5F7"/>
          </a:solidFill>
          <a:ln/>
          <a:effectLst>
            <a:outerShdw sx="100000" sy="100000" kx="0" ky="0" algn="bl" rotWithShape="0" blurRad="76200" dist="25400" dir="5400000">
              <a:srgbClr val="000000">
                <a:alpha val="12000"/>
              </a:srgbClr>
            </a:outerShdw>
          </a:effectLst>
        </p:spPr>
      </p:sp>
      <p:sp>
        <p:nvSpPr>
          <p:cNvPr id="11" name="Shape 9"/>
          <p:cNvSpPr/>
          <p:nvPr/>
        </p:nvSpPr>
        <p:spPr>
          <a:xfrm>
            <a:off x="4523232" y="1874520"/>
            <a:ext cx="384048" cy="384048"/>
          </a:xfrm>
          <a:prstGeom prst="ellipse">
            <a:avLst/>
          </a:prstGeom>
          <a:solidFill>
            <a:srgbClr val="4FB6E8"/>
          </a:solidFill>
          <a:ln/>
        </p:spPr>
      </p:sp>
      <p:sp>
        <p:nvSpPr>
          <p:cNvPr id="12" name="Text 10"/>
          <p:cNvSpPr/>
          <p:nvPr/>
        </p:nvSpPr>
        <p:spPr>
          <a:xfrm>
            <a:off x="4523232" y="1874520"/>
            <a:ext cx="384048" cy="384048"/>
          </a:xfrm>
          <a:prstGeom prst="rect">
            <a:avLst/>
          </a:prstGeom>
          <a:noFill/>
          <a:ln/>
        </p:spPr>
        <p:txBody>
          <a:bodyPr wrap="square" rtlCol="0" anchor="ctr"/>
          <a:lstStyle/>
          <a:p>
            <a:pPr algn="ctr" indent="0" marL="0">
              <a:buNone/>
            </a:pPr>
            <a:r>
              <a:rPr lang="en-US" sz="1600" b="1" dirty="0">
                <a:solidFill>
                  <a:srgbClr val="0B132B"/>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4523232" y="2377440"/>
            <a:ext cx="3142488" cy="365760"/>
          </a:xfrm>
          <a:prstGeom prst="rect">
            <a:avLst/>
          </a:prstGeom>
          <a:noFill/>
          <a:ln/>
        </p:spPr>
        <p:txBody>
          <a:bodyPr wrap="square" rtlCol="0" anchor="ctr"/>
          <a:lstStyle/>
          <a:p>
            <a:pPr indent="0" marL="0">
              <a:buNone/>
            </a:pPr>
            <a:r>
              <a:rPr lang="en-US" sz="1500" b="1" dirty="0">
                <a:solidFill>
                  <a:srgbClr val="16213E"/>
                </a:solidFill>
                <a:latin typeface="Calibri" pitchFamily="34" charset="0"/>
                <a:ea typeface="Calibri" pitchFamily="34" charset="-122"/>
                <a:cs typeface="Calibri" pitchFamily="34" charset="-120"/>
              </a:rPr>
              <a:t>TCP Window Size</a:t>
            </a:r>
            <a:endParaRPr lang="en-US" sz="1500" dirty="0"/>
          </a:p>
        </p:txBody>
      </p:sp>
      <p:sp>
        <p:nvSpPr>
          <p:cNvPr id="14" name="Text 12"/>
          <p:cNvSpPr/>
          <p:nvPr/>
        </p:nvSpPr>
        <p:spPr>
          <a:xfrm>
            <a:off x="4523232" y="2743200"/>
            <a:ext cx="3142488" cy="685800"/>
          </a:xfrm>
          <a:prstGeom prst="rect">
            <a:avLst/>
          </a:prstGeom>
          <a:noFill/>
          <a:ln/>
        </p:spPr>
        <p:txBody>
          <a:bodyPr wrap="square" rtlCol="0" anchor="t"/>
          <a:lstStyle/>
          <a:p>
            <a:pPr indent="0" marL="0">
              <a:lnSpc>
                <a:spcPct val="115000"/>
              </a:lnSpc>
              <a:buNone/>
            </a:pPr>
            <a:r>
              <a:rPr lang="en-US" sz="1150" dirty="0">
                <a:solidFill>
                  <a:srgbClr val="5C6B84"/>
                </a:solidFill>
                <a:latin typeface="Calibri" pitchFamily="34" charset="0"/>
                <a:ea typeface="Calibri" pitchFamily="34" charset="-122"/>
                <a:cs typeface="Calibri" pitchFamily="34" charset="-120"/>
              </a:rPr>
              <a:t>The initial window size advertised in the handshake varies by OS and kernel version.</a:t>
            </a:r>
            <a:endParaRPr lang="en-US" sz="1150" dirty="0"/>
          </a:p>
        </p:txBody>
      </p:sp>
      <p:sp>
        <p:nvSpPr>
          <p:cNvPr id="15" name="Shape 13"/>
          <p:cNvSpPr/>
          <p:nvPr/>
        </p:nvSpPr>
        <p:spPr>
          <a:xfrm>
            <a:off x="8141208" y="1691640"/>
            <a:ext cx="3544824" cy="1874520"/>
          </a:xfrm>
          <a:prstGeom prst="roundRect">
            <a:avLst>
              <a:gd name="adj" fmla="val 3902"/>
            </a:avLst>
          </a:prstGeom>
          <a:solidFill>
            <a:srgbClr val="F2F5F7"/>
          </a:solidFill>
          <a:ln/>
          <a:effectLst>
            <a:outerShdw sx="100000" sy="100000" kx="0" ky="0" algn="bl" rotWithShape="0" blurRad="76200" dist="25400" dir="5400000">
              <a:srgbClr val="000000">
                <a:alpha val="12000"/>
              </a:srgbClr>
            </a:outerShdw>
          </a:effectLst>
        </p:spPr>
      </p:sp>
      <p:sp>
        <p:nvSpPr>
          <p:cNvPr id="16" name="Shape 14"/>
          <p:cNvSpPr/>
          <p:nvPr/>
        </p:nvSpPr>
        <p:spPr>
          <a:xfrm>
            <a:off x="8342376" y="1874520"/>
            <a:ext cx="384048" cy="384048"/>
          </a:xfrm>
          <a:prstGeom prst="ellipse">
            <a:avLst/>
          </a:prstGeom>
          <a:solidFill>
            <a:srgbClr val="4FB6E8"/>
          </a:solidFill>
          <a:ln/>
        </p:spPr>
      </p:sp>
      <p:sp>
        <p:nvSpPr>
          <p:cNvPr id="17" name="Text 15"/>
          <p:cNvSpPr/>
          <p:nvPr/>
        </p:nvSpPr>
        <p:spPr>
          <a:xfrm>
            <a:off x="8342376" y="1874520"/>
            <a:ext cx="384048" cy="384048"/>
          </a:xfrm>
          <a:prstGeom prst="rect">
            <a:avLst/>
          </a:prstGeom>
          <a:noFill/>
          <a:ln/>
        </p:spPr>
        <p:txBody>
          <a:bodyPr wrap="square" rtlCol="0" anchor="ctr"/>
          <a:lstStyle/>
          <a:p>
            <a:pPr algn="ctr" indent="0" marL="0">
              <a:buNone/>
            </a:pPr>
            <a:r>
              <a:rPr lang="en-US" sz="1600" b="1" dirty="0">
                <a:solidFill>
                  <a:srgbClr val="0B132B"/>
                </a:solidFill>
                <a:latin typeface="Calibri" pitchFamily="34" charset="0"/>
                <a:ea typeface="Calibri" pitchFamily="34" charset="-122"/>
                <a:cs typeface="Calibri" pitchFamily="34" charset="-120"/>
              </a:rPr>
              <a:t>3</a:t>
            </a:r>
            <a:endParaRPr lang="en-US" sz="1600" dirty="0"/>
          </a:p>
        </p:txBody>
      </p:sp>
      <p:sp>
        <p:nvSpPr>
          <p:cNvPr id="18" name="Text 16"/>
          <p:cNvSpPr/>
          <p:nvPr/>
        </p:nvSpPr>
        <p:spPr>
          <a:xfrm>
            <a:off x="8342376" y="2377440"/>
            <a:ext cx="3142488" cy="365760"/>
          </a:xfrm>
          <a:prstGeom prst="rect">
            <a:avLst/>
          </a:prstGeom>
          <a:noFill/>
          <a:ln/>
        </p:spPr>
        <p:txBody>
          <a:bodyPr wrap="square" rtlCol="0" anchor="ctr"/>
          <a:lstStyle/>
          <a:p>
            <a:pPr indent="0" marL="0">
              <a:buNone/>
            </a:pPr>
            <a:r>
              <a:rPr lang="en-US" sz="1500" b="1" dirty="0">
                <a:solidFill>
                  <a:srgbClr val="16213E"/>
                </a:solidFill>
                <a:latin typeface="Calibri" pitchFamily="34" charset="0"/>
                <a:ea typeface="Calibri" pitchFamily="34" charset="-122"/>
                <a:cs typeface="Calibri" pitchFamily="34" charset="-120"/>
              </a:rPr>
              <a:t>TCP Options Order</a:t>
            </a:r>
            <a:endParaRPr lang="en-US" sz="1500" dirty="0"/>
          </a:p>
        </p:txBody>
      </p:sp>
      <p:sp>
        <p:nvSpPr>
          <p:cNvPr id="19" name="Text 17"/>
          <p:cNvSpPr/>
          <p:nvPr/>
        </p:nvSpPr>
        <p:spPr>
          <a:xfrm>
            <a:off x="8342376" y="2743200"/>
            <a:ext cx="3142488" cy="685800"/>
          </a:xfrm>
          <a:prstGeom prst="rect">
            <a:avLst/>
          </a:prstGeom>
          <a:noFill/>
          <a:ln/>
        </p:spPr>
        <p:txBody>
          <a:bodyPr wrap="square" rtlCol="0" anchor="t"/>
          <a:lstStyle/>
          <a:p>
            <a:pPr indent="0" marL="0">
              <a:lnSpc>
                <a:spcPct val="115000"/>
              </a:lnSpc>
              <a:buNone/>
            </a:pPr>
            <a:r>
              <a:rPr lang="en-US" sz="1150" dirty="0">
                <a:solidFill>
                  <a:srgbClr val="5C6B84"/>
                </a:solidFill>
                <a:latin typeface="Calibri" pitchFamily="34" charset="0"/>
                <a:ea typeface="Calibri" pitchFamily="34" charset="-122"/>
                <a:cs typeface="Calibri" pitchFamily="34" charset="-120"/>
              </a:rPr>
              <a:t>The order &amp; presence of options (MSS, SACK, timestamps) in packets differs across stacks.</a:t>
            </a:r>
            <a:endParaRPr lang="en-US" sz="1150" dirty="0"/>
          </a:p>
        </p:txBody>
      </p:sp>
      <p:sp>
        <p:nvSpPr>
          <p:cNvPr id="20" name="Shape 18"/>
          <p:cNvSpPr/>
          <p:nvPr/>
        </p:nvSpPr>
        <p:spPr>
          <a:xfrm>
            <a:off x="502920" y="3840480"/>
            <a:ext cx="3544824" cy="1874520"/>
          </a:xfrm>
          <a:prstGeom prst="roundRect">
            <a:avLst>
              <a:gd name="adj" fmla="val 3902"/>
            </a:avLst>
          </a:prstGeom>
          <a:solidFill>
            <a:srgbClr val="F2F5F7"/>
          </a:solidFill>
          <a:ln/>
          <a:effectLst>
            <a:outerShdw sx="100000" sy="100000" kx="0" ky="0" algn="bl" rotWithShape="0" blurRad="76200" dist="25400" dir="5400000">
              <a:srgbClr val="000000">
                <a:alpha val="12000"/>
              </a:srgbClr>
            </a:outerShdw>
          </a:effectLst>
        </p:spPr>
      </p:sp>
      <p:sp>
        <p:nvSpPr>
          <p:cNvPr id="21" name="Shape 19"/>
          <p:cNvSpPr/>
          <p:nvPr/>
        </p:nvSpPr>
        <p:spPr>
          <a:xfrm>
            <a:off x="704088" y="4023360"/>
            <a:ext cx="384048" cy="384048"/>
          </a:xfrm>
          <a:prstGeom prst="ellipse">
            <a:avLst/>
          </a:prstGeom>
          <a:solidFill>
            <a:srgbClr val="4FB6E8"/>
          </a:solidFill>
          <a:ln/>
        </p:spPr>
      </p:sp>
      <p:sp>
        <p:nvSpPr>
          <p:cNvPr id="22" name="Text 20"/>
          <p:cNvSpPr/>
          <p:nvPr/>
        </p:nvSpPr>
        <p:spPr>
          <a:xfrm>
            <a:off x="704088" y="4023360"/>
            <a:ext cx="384048" cy="384048"/>
          </a:xfrm>
          <a:prstGeom prst="rect">
            <a:avLst/>
          </a:prstGeom>
          <a:noFill/>
          <a:ln/>
        </p:spPr>
        <p:txBody>
          <a:bodyPr wrap="square" rtlCol="0" anchor="ctr"/>
          <a:lstStyle/>
          <a:p>
            <a:pPr algn="ctr" indent="0" marL="0">
              <a:buNone/>
            </a:pPr>
            <a:r>
              <a:rPr lang="en-US" sz="1600" b="1" dirty="0">
                <a:solidFill>
                  <a:srgbClr val="0B132B"/>
                </a:solidFill>
                <a:latin typeface="Calibri" pitchFamily="34" charset="0"/>
                <a:ea typeface="Calibri" pitchFamily="34" charset="-122"/>
                <a:cs typeface="Calibri" pitchFamily="34" charset="-120"/>
              </a:rPr>
              <a:t>4</a:t>
            </a:r>
            <a:endParaRPr lang="en-US" sz="1600" dirty="0"/>
          </a:p>
        </p:txBody>
      </p:sp>
      <p:sp>
        <p:nvSpPr>
          <p:cNvPr id="23" name="Text 21"/>
          <p:cNvSpPr/>
          <p:nvPr/>
        </p:nvSpPr>
        <p:spPr>
          <a:xfrm>
            <a:off x="704088" y="4526280"/>
            <a:ext cx="3142488" cy="365760"/>
          </a:xfrm>
          <a:prstGeom prst="rect">
            <a:avLst/>
          </a:prstGeom>
          <a:noFill/>
          <a:ln/>
        </p:spPr>
        <p:txBody>
          <a:bodyPr wrap="square" rtlCol="0" anchor="ctr"/>
          <a:lstStyle/>
          <a:p>
            <a:pPr indent="0" marL="0">
              <a:buNone/>
            </a:pPr>
            <a:r>
              <a:rPr lang="en-US" sz="1500" b="1" dirty="0">
                <a:solidFill>
                  <a:srgbClr val="16213E"/>
                </a:solidFill>
                <a:latin typeface="Calibri" pitchFamily="34" charset="0"/>
                <a:ea typeface="Calibri" pitchFamily="34" charset="-122"/>
                <a:cs typeface="Calibri" pitchFamily="34" charset="-120"/>
              </a:rPr>
              <a:t>IP ID Sequencing</a:t>
            </a:r>
            <a:endParaRPr lang="en-US" sz="1500" dirty="0"/>
          </a:p>
        </p:txBody>
      </p:sp>
      <p:sp>
        <p:nvSpPr>
          <p:cNvPr id="24" name="Text 22"/>
          <p:cNvSpPr/>
          <p:nvPr/>
        </p:nvSpPr>
        <p:spPr>
          <a:xfrm>
            <a:off x="704088" y="4892040"/>
            <a:ext cx="3142488" cy="685800"/>
          </a:xfrm>
          <a:prstGeom prst="rect">
            <a:avLst/>
          </a:prstGeom>
          <a:noFill/>
          <a:ln/>
        </p:spPr>
        <p:txBody>
          <a:bodyPr wrap="square" rtlCol="0" anchor="t"/>
          <a:lstStyle/>
          <a:p>
            <a:pPr indent="0" marL="0">
              <a:lnSpc>
                <a:spcPct val="115000"/>
              </a:lnSpc>
              <a:buNone/>
            </a:pPr>
            <a:r>
              <a:rPr lang="en-US" sz="1150" dirty="0">
                <a:solidFill>
                  <a:srgbClr val="5C6B84"/>
                </a:solidFill>
                <a:latin typeface="Calibri" pitchFamily="34" charset="0"/>
                <a:ea typeface="Calibri" pitchFamily="34" charset="-122"/>
                <a:cs typeface="Calibri" pitchFamily="34" charset="-120"/>
              </a:rPr>
              <a:t>How the IP identification field increments can reveal OS-specific behavior.</a:t>
            </a:r>
            <a:endParaRPr lang="en-US" sz="1150" dirty="0"/>
          </a:p>
        </p:txBody>
      </p:sp>
      <p:sp>
        <p:nvSpPr>
          <p:cNvPr id="25" name="Shape 23"/>
          <p:cNvSpPr/>
          <p:nvPr/>
        </p:nvSpPr>
        <p:spPr>
          <a:xfrm>
            <a:off x="4322064" y="3840480"/>
            <a:ext cx="3544824" cy="1874520"/>
          </a:xfrm>
          <a:prstGeom prst="roundRect">
            <a:avLst>
              <a:gd name="adj" fmla="val 3902"/>
            </a:avLst>
          </a:prstGeom>
          <a:solidFill>
            <a:srgbClr val="F2F5F7"/>
          </a:solidFill>
          <a:ln/>
          <a:effectLst>
            <a:outerShdw sx="100000" sy="100000" kx="0" ky="0" algn="bl" rotWithShape="0" blurRad="76200" dist="25400" dir="5400000">
              <a:srgbClr val="000000">
                <a:alpha val="12000"/>
              </a:srgbClr>
            </a:outerShdw>
          </a:effectLst>
        </p:spPr>
      </p:sp>
      <p:sp>
        <p:nvSpPr>
          <p:cNvPr id="26" name="Shape 24"/>
          <p:cNvSpPr/>
          <p:nvPr/>
        </p:nvSpPr>
        <p:spPr>
          <a:xfrm>
            <a:off x="4523232" y="4023360"/>
            <a:ext cx="384048" cy="384048"/>
          </a:xfrm>
          <a:prstGeom prst="ellipse">
            <a:avLst/>
          </a:prstGeom>
          <a:solidFill>
            <a:srgbClr val="4FB6E8"/>
          </a:solidFill>
          <a:ln/>
        </p:spPr>
      </p:sp>
      <p:sp>
        <p:nvSpPr>
          <p:cNvPr id="27" name="Text 25"/>
          <p:cNvSpPr/>
          <p:nvPr/>
        </p:nvSpPr>
        <p:spPr>
          <a:xfrm>
            <a:off x="4523232" y="4023360"/>
            <a:ext cx="384048" cy="384048"/>
          </a:xfrm>
          <a:prstGeom prst="rect">
            <a:avLst/>
          </a:prstGeom>
          <a:noFill/>
          <a:ln/>
        </p:spPr>
        <p:txBody>
          <a:bodyPr wrap="square" rtlCol="0" anchor="ctr"/>
          <a:lstStyle/>
          <a:p>
            <a:pPr algn="ctr" indent="0" marL="0">
              <a:buNone/>
            </a:pPr>
            <a:r>
              <a:rPr lang="en-US" sz="1600" b="1" dirty="0">
                <a:solidFill>
                  <a:srgbClr val="0B132B"/>
                </a:solidFill>
                <a:latin typeface="Calibri" pitchFamily="34" charset="0"/>
                <a:ea typeface="Calibri" pitchFamily="34" charset="-122"/>
                <a:cs typeface="Calibri" pitchFamily="34" charset="-120"/>
              </a:rPr>
              <a:t>5</a:t>
            </a:r>
            <a:endParaRPr lang="en-US" sz="1600" dirty="0"/>
          </a:p>
        </p:txBody>
      </p:sp>
      <p:sp>
        <p:nvSpPr>
          <p:cNvPr id="28" name="Text 26"/>
          <p:cNvSpPr/>
          <p:nvPr/>
        </p:nvSpPr>
        <p:spPr>
          <a:xfrm>
            <a:off x="4523232" y="4526280"/>
            <a:ext cx="3142488" cy="365760"/>
          </a:xfrm>
          <a:prstGeom prst="rect">
            <a:avLst/>
          </a:prstGeom>
          <a:noFill/>
          <a:ln/>
        </p:spPr>
        <p:txBody>
          <a:bodyPr wrap="square" rtlCol="0" anchor="ctr"/>
          <a:lstStyle/>
          <a:p>
            <a:pPr indent="0" marL="0">
              <a:buNone/>
            </a:pPr>
            <a:r>
              <a:rPr lang="en-US" sz="1500" b="1" dirty="0">
                <a:solidFill>
                  <a:srgbClr val="16213E"/>
                </a:solidFill>
                <a:latin typeface="Calibri" pitchFamily="34" charset="0"/>
                <a:ea typeface="Calibri" pitchFamily="34" charset="-122"/>
                <a:cs typeface="Calibri" pitchFamily="34" charset="-120"/>
              </a:rPr>
              <a:t>ICMP Responses</a:t>
            </a:r>
            <a:endParaRPr lang="en-US" sz="1500" dirty="0"/>
          </a:p>
        </p:txBody>
      </p:sp>
      <p:sp>
        <p:nvSpPr>
          <p:cNvPr id="29" name="Text 27"/>
          <p:cNvSpPr/>
          <p:nvPr/>
        </p:nvSpPr>
        <p:spPr>
          <a:xfrm>
            <a:off x="4523232" y="4892040"/>
            <a:ext cx="3142488" cy="685800"/>
          </a:xfrm>
          <a:prstGeom prst="rect">
            <a:avLst/>
          </a:prstGeom>
          <a:noFill/>
          <a:ln/>
        </p:spPr>
        <p:txBody>
          <a:bodyPr wrap="square" rtlCol="0" anchor="t"/>
          <a:lstStyle/>
          <a:p>
            <a:pPr indent="0" marL="0">
              <a:lnSpc>
                <a:spcPct val="115000"/>
              </a:lnSpc>
              <a:buNone/>
            </a:pPr>
            <a:r>
              <a:rPr lang="en-US" sz="1150" dirty="0">
                <a:solidFill>
                  <a:srgbClr val="5C6B84"/>
                </a:solidFill>
                <a:latin typeface="Calibri" pitchFamily="34" charset="0"/>
                <a:ea typeface="Calibri" pitchFamily="34" charset="-122"/>
                <a:cs typeface="Calibri" pitchFamily="34" charset="-120"/>
              </a:rPr>
              <a:t>Quirky replies to malformed ICMP requests help narrow down the OS.</a:t>
            </a:r>
            <a:endParaRPr lang="en-US" sz="1150" dirty="0"/>
          </a:p>
        </p:txBody>
      </p:sp>
      <p:sp>
        <p:nvSpPr>
          <p:cNvPr id="30" name="Shape 28"/>
          <p:cNvSpPr/>
          <p:nvPr/>
        </p:nvSpPr>
        <p:spPr>
          <a:xfrm>
            <a:off x="8141208" y="3840480"/>
            <a:ext cx="3544824" cy="1874520"/>
          </a:xfrm>
          <a:prstGeom prst="roundRect">
            <a:avLst>
              <a:gd name="adj" fmla="val 3902"/>
            </a:avLst>
          </a:prstGeom>
          <a:solidFill>
            <a:srgbClr val="F2F5F7"/>
          </a:solidFill>
          <a:ln/>
          <a:effectLst>
            <a:outerShdw sx="100000" sy="100000" kx="0" ky="0" algn="bl" rotWithShape="0" blurRad="76200" dist="25400" dir="5400000">
              <a:srgbClr val="000000">
                <a:alpha val="12000"/>
              </a:srgbClr>
            </a:outerShdw>
          </a:effectLst>
        </p:spPr>
      </p:sp>
      <p:sp>
        <p:nvSpPr>
          <p:cNvPr id="31" name="Shape 29"/>
          <p:cNvSpPr/>
          <p:nvPr/>
        </p:nvSpPr>
        <p:spPr>
          <a:xfrm>
            <a:off x="8342376" y="4023360"/>
            <a:ext cx="384048" cy="384048"/>
          </a:xfrm>
          <a:prstGeom prst="ellipse">
            <a:avLst/>
          </a:prstGeom>
          <a:solidFill>
            <a:srgbClr val="4FB6E8"/>
          </a:solidFill>
          <a:ln/>
        </p:spPr>
      </p:sp>
      <p:sp>
        <p:nvSpPr>
          <p:cNvPr id="32" name="Text 30"/>
          <p:cNvSpPr/>
          <p:nvPr/>
        </p:nvSpPr>
        <p:spPr>
          <a:xfrm>
            <a:off x="8342376" y="4023360"/>
            <a:ext cx="384048" cy="384048"/>
          </a:xfrm>
          <a:prstGeom prst="rect">
            <a:avLst/>
          </a:prstGeom>
          <a:noFill/>
          <a:ln/>
        </p:spPr>
        <p:txBody>
          <a:bodyPr wrap="square" rtlCol="0" anchor="ctr"/>
          <a:lstStyle/>
          <a:p>
            <a:pPr algn="ctr" indent="0" marL="0">
              <a:buNone/>
            </a:pPr>
            <a:r>
              <a:rPr lang="en-US" sz="1600" b="1" dirty="0">
                <a:solidFill>
                  <a:srgbClr val="0B132B"/>
                </a:solidFill>
                <a:latin typeface="Calibri" pitchFamily="34" charset="0"/>
                <a:ea typeface="Calibri" pitchFamily="34" charset="-122"/>
                <a:cs typeface="Calibri" pitchFamily="34" charset="-120"/>
              </a:rPr>
              <a:t>6</a:t>
            </a:r>
            <a:endParaRPr lang="en-US" sz="1600" dirty="0"/>
          </a:p>
        </p:txBody>
      </p:sp>
      <p:sp>
        <p:nvSpPr>
          <p:cNvPr id="33" name="Text 31"/>
          <p:cNvSpPr/>
          <p:nvPr/>
        </p:nvSpPr>
        <p:spPr>
          <a:xfrm>
            <a:off x="8342376" y="4526280"/>
            <a:ext cx="3142488" cy="365760"/>
          </a:xfrm>
          <a:prstGeom prst="rect">
            <a:avLst/>
          </a:prstGeom>
          <a:noFill/>
          <a:ln/>
        </p:spPr>
        <p:txBody>
          <a:bodyPr wrap="square" rtlCol="0" anchor="ctr"/>
          <a:lstStyle/>
          <a:p>
            <a:pPr indent="0" marL="0">
              <a:buNone/>
            </a:pPr>
            <a:r>
              <a:rPr lang="en-US" sz="1500" b="1" dirty="0">
                <a:solidFill>
                  <a:srgbClr val="16213E"/>
                </a:solidFill>
                <a:latin typeface="Calibri" pitchFamily="34" charset="0"/>
                <a:ea typeface="Calibri" pitchFamily="34" charset="-122"/>
                <a:cs typeface="Calibri" pitchFamily="34" charset="-120"/>
              </a:rPr>
              <a:t>Confidence Score</a:t>
            </a:r>
            <a:endParaRPr lang="en-US" sz="1500" dirty="0"/>
          </a:p>
        </p:txBody>
      </p:sp>
      <p:sp>
        <p:nvSpPr>
          <p:cNvPr id="34" name="Text 32"/>
          <p:cNvSpPr/>
          <p:nvPr/>
        </p:nvSpPr>
        <p:spPr>
          <a:xfrm>
            <a:off x="8342376" y="4892040"/>
            <a:ext cx="3142488" cy="685800"/>
          </a:xfrm>
          <a:prstGeom prst="rect">
            <a:avLst/>
          </a:prstGeom>
          <a:noFill/>
          <a:ln/>
        </p:spPr>
        <p:txBody>
          <a:bodyPr wrap="square" rtlCol="0" anchor="t"/>
          <a:lstStyle/>
          <a:p>
            <a:pPr indent="0" marL="0">
              <a:lnSpc>
                <a:spcPct val="115000"/>
              </a:lnSpc>
              <a:buNone/>
            </a:pPr>
            <a:r>
              <a:rPr lang="en-US" sz="1150" dirty="0">
                <a:solidFill>
                  <a:srgbClr val="5C6B84"/>
                </a:solidFill>
                <a:latin typeface="Calibri" pitchFamily="34" charset="0"/>
                <a:ea typeface="Calibri" pitchFamily="34" charset="-122"/>
                <a:cs typeface="Calibri" pitchFamily="34" charset="-120"/>
              </a:rPr>
              <a:t>Nmap reports a percentage match — needs 1 open + 1 closed port for best accuracy.</a:t>
            </a:r>
            <a:endParaRPr lang="en-US" sz="1150" dirty="0"/>
          </a:p>
        </p:txBody>
      </p:sp>
      <p:sp>
        <p:nvSpPr>
          <p:cNvPr id="35" name="Text 33"/>
          <p:cNvSpPr/>
          <p:nvPr/>
        </p:nvSpPr>
        <p:spPr>
          <a:xfrm>
            <a:off x="11365992" y="6446520"/>
            <a:ext cx="457200" cy="274320"/>
          </a:xfrm>
          <a:prstGeom prst="rect">
            <a:avLst/>
          </a:prstGeom>
          <a:noFill/>
          <a:ln/>
        </p:spPr>
        <p:txBody>
          <a:bodyPr wrap="square" rtlCol="0" anchor="ctr"/>
          <a:lstStyle/>
          <a:p>
            <a:pPr algn="r" indent="0" marL="0">
              <a:buNone/>
            </a:pPr>
            <a:r>
              <a:rPr lang="en-US" sz="1000" dirty="0">
                <a:solidFill>
                  <a:srgbClr val="8892A6"/>
                </a:solidFill>
                <a:latin typeface="Courier New" pitchFamily="34" charset="0"/>
                <a:ea typeface="Courier New" pitchFamily="34" charset="-122"/>
                <a:cs typeface="Courier New"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rtlCol="0" anchor="ctr"/>
          <a:lstStyle/>
          <a:p>
            <a:pPr algn="l" indent="0" marL="0">
              <a:buNone/>
            </a:pPr>
            <a:r>
              <a:rPr lang="en-US" sz="1200" b="1" spc="200" kern="0" dirty="0">
                <a:solidFill>
                  <a:srgbClr val="1E9E6A"/>
                </a:solidFill>
                <a:latin typeface="Calibri" pitchFamily="34" charset="0"/>
                <a:ea typeface="Calibri" pitchFamily="34" charset="-122"/>
                <a:cs typeface="Calibri" pitchFamily="34" charset="-120"/>
              </a:rPr>
              <a:t>NMAP DEEP DIVE</a:t>
            </a:r>
            <a:endParaRPr lang="en-US" sz="1200" dirty="0"/>
          </a:p>
        </p:txBody>
      </p:sp>
      <p:sp>
        <p:nvSpPr>
          <p:cNvPr id="3" name="Text 1"/>
          <p:cNvSpPr/>
          <p:nvPr/>
        </p:nvSpPr>
        <p:spPr>
          <a:xfrm>
            <a:off x="502920" y="658368"/>
            <a:ext cx="10515600" cy="548640"/>
          </a:xfrm>
          <a:prstGeom prst="rect">
            <a:avLst/>
          </a:prstGeom>
          <a:noFill/>
          <a:ln/>
        </p:spPr>
        <p:txBody>
          <a:bodyPr wrap="square" rtlCol="0" anchor="ctr"/>
          <a:lstStyle/>
          <a:p>
            <a:pPr algn="l" indent="0" marL="0">
              <a:buNone/>
            </a:pPr>
            <a:r>
              <a:rPr lang="en-US" sz="3200" b="1" dirty="0">
                <a:solidFill>
                  <a:srgbClr val="16213E"/>
                </a:solidFill>
                <a:latin typeface="Calibri" pitchFamily="34" charset="0"/>
                <a:ea typeface="Calibri" pitchFamily="34" charset="-122"/>
                <a:cs typeface="Calibri" pitchFamily="34" charset="-120"/>
              </a:rPr>
              <a:t>Nmap Output Formats</a:t>
            </a:r>
            <a:endParaRPr lang="en-US" sz="3200" dirty="0"/>
          </a:p>
        </p:txBody>
      </p:sp>
      <p:sp>
        <p:nvSpPr>
          <p:cNvPr id="4" name="Text 2"/>
          <p:cNvSpPr/>
          <p:nvPr/>
        </p:nvSpPr>
        <p:spPr>
          <a:xfrm>
            <a:off x="502920" y="1161288"/>
            <a:ext cx="10515600" cy="365760"/>
          </a:xfrm>
          <a:prstGeom prst="rect">
            <a:avLst/>
          </a:prstGeom>
          <a:noFill/>
          <a:ln/>
        </p:spPr>
        <p:txBody>
          <a:bodyPr wrap="square" rtlCol="0" anchor="ctr"/>
          <a:lstStyle/>
          <a:p>
            <a:pPr algn="l" indent="0" marL="0">
              <a:buNone/>
            </a:pPr>
            <a:r>
              <a:rPr lang="en-US" sz="1400" dirty="0">
                <a:solidFill>
                  <a:srgbClr val="5C6B84"/>
                </a:solidFill>
                <a:latin typeface="Calibri" pitchFamily="34" charset="0"/>
                <a:ea typeface="Calibri" pitchFamily="34" charset="-122"/>
                <a:cs typeface="Calibri" pitchFamily="34" charset="-120"/>
              </a:rPr>
              <a:t>Always save your scans — you will need them again</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828800"/>
          <a:ext cx="11183112" cy="914400"/>
        </p:xfrm>
        <a:graphic>
          <a:graphicData uri="http://schemas.openxmlformats.org/drawingml/2006/table">
            <a:tbl>
              <a:tblPr/>
              <a:tblGrid>
                <a:gridCol w="2103120"/>
                <a:gridCol w="2651760"/>
                <a:gridCol w="6309360"/>
              </a:tblGrid>
              <a:tr h="457200">
                <a:tc>
                  <a:txBody>
                    <a:bodyPr/>
                    <a:lstStyle/>
                    <a:p>
                      <a:pPr algn="l" indent="0" marL="0">
                        <a:buNone/>
                      </a:pPr>
                      <a:r>
                        <a:rPr lang="en-US" sz="1250" b="1" dirty="0">
                          <a:solidFill>
                            <a:srgbClr val="FFFFFF"/>
                          </a:solidFill>
                        </a:rPr>
                        <a:t>Flag</a:t>
                      </a:r>
                      <a:endParaRPr lang="en-US" sz="1250" dirty="0"/>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C2541"/>
                    </a:solidFill>
                  </a:tcPr>
                </a:tc>
                <a:tc>
                  <a:txBody>
                    <a:bodyPr/>
                    <a:lstStyle/>
                    <a:p>
                      <a:pPr algn="l" indent="0" marL="0">
                        <a:buNone/>
                      </a:pPr>
                      <a:r>
                        <a:rPr lang="en-US" sz="1250" b="1" dirty="0">
                          <a:solidFill>
                            <a:srgbClr val="FFFFFF"/>
                          </a:solidFill>
                        </a:rPr>
                        <a:t>Format</a:t>
                      </a:r>
                      <a:endParaRPr lang="en-US" sz="1250" dirty="0"/>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C2541"/>
                    </a:solidFill>
                  </a:tcPr>
                </a:tc>
                <a:tc>
                  <a:txBody>
                    <a:bodyPr/>
                    <a:lstStyle/>
                    <a:p>
                      <a:pPr algn="l" indent="0" marL="0">
                        <a:buNone/>
                      </a:pPr>
                      <a:r>
                        <a:rPr lang="en-US" sz="1250" b="1" dirty="0">
                          <a:solidFill>
                            <a:srgbClr val="FFFFFF"/>
                          </a:solidFill>
                        </a:rPr>
                        <a:t>Best for</a:t>
                      </a:r>
                      <a:endParaRPr lang="en-US" sz="1250" dirty="0"/>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C2541"/>
                    </a:solidFill>
                  </a:tcPr>
                </a:tc>
              </a:tr>
              <a:tr h="457200">
                <a:tc>
                  <a:txBody>
                    <a:bodyPr/>
                    <a:lstStyle/>
                    <a:p>
                      <a:pPr algn="l" indent="0" marL="0">
                        <a:buNone/>
                      </a:pPr>
                      <a:r>
                        <a:rPr lang="en-US" sz="1200" dirty="0">
                          <a:solidFill>
                            <a:srgbClr val="16213E"/>
                          </a:solidFill>
                          <a:latin typeface="Courier New" pitchFamily="34" charset="0"/>
                          <a:ea typeface="Courier New" pitchFamily="34" charset="-122"/>
                          <a:cs typeface="Courier New" pitchFamily="34" charset="-120"/>
                        </a:rPr>
                        <a:t>-oN file</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Normal text</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Quick human reading, same as terminal output</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6213E"/>
                          </a:solidFill>
                          <a:latin typeface="Courier New" pitchFamily="34" charset="0"/>
                          <a:ea typeface="Courier New" pitchFamily="34" charset="-122"/>
                          <a:cs typeface="Courier New" pitchFamily="34" charset="-120"/>
                        </a:rPr>
                        <a:t>-oX file</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XML</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Importing into Metasploit, tools, or custom parsers</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r>
              <a:tr h="457200">
                <a:tc>
                  <a:txBody>
                    <a:bodyPr/>
                    <a:lstStyle/>
                    <a:p>
                      <a:pPr algn="l" indent="0" marL="0">
                        <a:buNone/>
                      </a:pPr>
                      <a:r>
                        <a:rPr lang="en-US" sz="1200" dirty="0">
                          <a:solidFill>
                            <a:srgbClr val="16213E"/>
                          </a:solidFill>
                          <a:latin typeface="Courier New" pitchFamily="34" charset="0"/>
                          <a:ea typeface="Courier New" pitchFamily="34" charset="-122"/>
                          <a:cs typeface="Courier New" pitchFamily="34" charset="-120"/>
                        </a:rPr>
                        <a:t>-oG file</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Grepable</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Fast grep/awk/sed scripting across many hosts</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6213E"/>
                          </a:solidFill>
                          <a:latin typeface="Courier New" pitchFamily="34" charset="0"/>
                          <a:ea typeface="Courier New" pitchFamily="34" charset="-122"/>
                          <a:cs typeface="Courier New" pitchFamily="34" charset="-120"/>
                        </a:rPr>
                        <a:t>-oA basename</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All three at once</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Best practice — always use this in real engagements</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r>
            </a:tbl>
          </a:graphicData>
        </a:graphic>
      </p:graphicFrame>
      <p:sp>
        <p:nvSpPr>
          <p:cNvPr id="6" name="Shape 3"/>
          <p:cNvSpPr/>
          <p:nvPr/>
        </p:nvSpPr>
        <p:spPr>
          <a:xfrm>
            <a:off x="502920" y="4023360"/>
            <a:ext cx="11183112" cy="1737360"/>
          </a:xfrm>
          <a:prstGeom prst="roundRect">
            <a:avLst>
              <a:gd name="adj" fmla="val 4211"/>
            </a:avLst>
          </a:prstGeom>
          <a:solidFill>
            <a:srgbClr val="EAF7F1"/>
          </a:solidFill>
          <a:ln/>
        </p:spPr>
      </p:sp>
      <p:sp>
        <p:nvSpPr>
          <p:cNvPr id="7" name="Text 4"/>
          <p:cNvSpPr/>
          <p:nvPr/>
        </p:nvSpPr>
        <p:spPr>
          <a:xfrm>
            <a:off x="777240" y="4206240"/>
            <a:ext cx="5486400" cy="320040"/>
          </a:xfrm>
          <a:prstGeom prst="rect">
            <a:avLst/>
          </a:prstGeom>
          <a:noFill/>
          <a:ln/>
        </p:spPr>
        <p:txBody>
          <a:bodyPr wrap="square" rtlCol="0" anchor="ctr"/>
          <a:lstStyle/>
          <a:p>
            <a:pPr indent="0" marL="0">
              <a:buNone/>
            </a:pPr>
            <a:r>
              <a:rPr lang="en-US" sz="1400" b="1" dirty="0">
                <a:solidFill>
                  <a:srgbClr val="1E9E6A"/>
                </a:solidFill>
                <a:latin typeface="Calibri" pitchFamily="34" charset="0"/>
                <a:ea typeface="Calibri" pitchFamily="34" charset="-122"/>
                <a:cs typeface="Calibri" pitchFamily="34" charset="-120"/>
              </a:rPr>
              <a:t>Field habit to build</a:t>
            </a:r>
            <a:endParaRPr lang="en-US" sz="1400" dirty="0"/>
          </a:p>
        </p:txBody>
      </p:sp>
      <p:sp>
        <p:nvSpPr>
          <p:cNvPr id="8" name="Text 5"/>
          <p:cNvSpPr/>
          <p:nvPr/>
        </p:nvSpPr>
        <p:spPr>
          <a:xfrm>
            <a:off x="777240" y="4553712"/>
            <a:ext cx="10634472" cy="1097280"/>
          </a:xfrm>
          <a:prstGeom prst="rect">
            <a:avLst/>
          </a:prstGeom>
          <a:noFill/>
          <a:ln/>
        </p:spPr>
        <p:txBody>
          <a:bodyPr wrap="square" rtlCol="0" anchor="t"/>
          <a:lstStyle/>
          <a:p>
            <a:pPr indent="0" marL="0">
              <a:lnSpc>
                <a:spcPct val="130000"/>
              </a:lnSpc>
              <a:buNone/>
            </a:pPr>
            <a:r>
              <a:rPr lang="en-US" sz="1250" dirty="0">
                <a:solidFill>
                  <a:srgbClr val="16213E"/>
                </a:solidFill>
                <a:latin typeface="Calibri" pitchFamily="34" charset="0"/>
                <a:ea typeface="Calibri" pitchFamily="34" charset="-122"/>
                <a:cs typeface="Calibri" pitchFamily="34" charset="-120"/>
              </a:rPr>
              <a:t>Name every scan output with the host + date, e.g. sudo nmap -sV -oA scans/10.10.10.5_2026-07-13 10.10.10.5. On a real engagement you may run dozens of scans over several days — unnamed or overwritten output files are one of the most common (and avoidable) mistakes junior testers make.</a:t>
            </a:r>
            <a:endParaRPr lang="en-US" sz="1250" dirty="0"/>
          </a:p>
        </p:txBody>
      </p:sp>
      <p:sp>
        <p:nvSpPr>
          <p:cNvPr id="9" name="Text 6"/>
          <p:cNvSpPr/>
          <p:nvPr/>
        </p:nvSpPr>
        <p:spPr>
          <a:xfrm>
            <a:off x="11365992" y="6446520"/>
            <a:ext cx="457200" cy="274320"/>
          </a:xfrm>
          <a:prstGeom prst="rect">
            <a:avLst/>
          </a:prstGeom>
          <a:noFill/>
          <a:ln/>
        </p:spPr>
        <p:txBody>
          <a:bodyPr wrap="square" rtlCol="0" anchor="ctr"/>
          <a:lstStyle/>
          <a:p>
            <a:pPr algn="r" indent="0" marL="0">
              <a:buNone/>
            </a:pPr>
            <a:r>
              <a:rPr lang="en-US" sz="1000" dirty="0">
                <a:solidFill>
                  <a:srgbClr val="8892A6"/>
                </a:solidFill>
                <a:latin typeface="Courier New" pitchFamily="34" charset="0"/>
                <a:ea typeface="Courier New" pitchFamily="34" charset="-122"/>
                <a:cs typeface="Courier New"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rtlCol="0" anchor="ctr"/>
          <a:lstStyle/>
          <a:p>
            <a:pPr algn="l" indent="0" marL="0">
              <a:buNone/>
            </a:pPr>
            <a:r>
              <a:rPr lang="en-US" sz="1200" b="1" spc="200" kern="0" dirty="0">
                <a:solidFill>
                  <a:srgbClr val="1E9E6A"/>
                </a:solidFill>
                <a:latin typeface="Calibri" pitchFamily="34" charset="0"/>
                <a:ea typeface="Calibri" pitchFamily="34" charset="-122"/>
                <a:cs typeface="Calibri" pitchFamily="34" charset="-120"/>
              </a:rPr>
              <a:t>BANNER GRABBING</a:t>
            </a:r>
            <a:endParaRPr lang="en-US" sz="1200" dirty="0"/>
          </a:p>
        </p:txBody>
      </p:sp>
      <p:sp>
        <p:nvSpPr>
          <p:cNvPr id="3" name="Text 1"/>
          <p:cNvSpPr/>
          <p:nvPr/>
        </p:nvSpPr>
        <p:spPr>
          <a:xfrm>
            <a:off x="502920" y="658368"/>
            <a:ext cx="10515600" cy="548640"/>
          </a:xfrm>
          <a:prstGeom prst="rect">
            <a:avLst/>
          </a:prstGeom>
          <a:noFill/>
          <a:ln/>
        </p:spPr>
        <p:txBody>
          <a:bodyPr wrap="square" rtlCol="0" anchor="ctr"/>
          <a:lstStyle/>
          <a:p>
            <a:pPr algn="l" indent="0" marL="0">
              <a:buNone/>
            </a:pPr>
            <a:r>
              <a:rPr lang="en-US" sz="3200" b="1" dirty="0">
                <a:solidFill>
                  <a:srgbClr val="16213E"/>
                </a:solidFill>
                <a:latin typeface="Calibri" pitchFamily="34" charset="0"/>
                <a:ea typeface="Calibri" pitchFamily="34" charset="-122"/>
                <a:cs typeface="Calibri" pitchFamily="34" charset="-120"/>
              </a:rPr>
              <a:t>Banner Grabbing — The Concept</a:t>
            </a:r>
            <a:endParaRPr lang="en-US" sz="3200" dirty="0"/>
          </a:p>
        </p:txBody>
      </p:sp>
      <p:sp>
        <p:nvSpPr>
          <p:cNvPr id="4" name="Text 2"/>
          <p:cNvSpPr/>
          <p:nvPr/>
        </p:nvSpPr>
        <p:spPr>
          <a:xfrm>
            <a:off x="502920" y="1161288"/>
            <a:ext cx="10515600" cy="365760"/>
          </a:xfrm>
          <a:prstGeom prst="rect">
            <a:avLst/>
          </a:prstGeom>
          <a:noFill/>
          <a:ln/>
        </p:spPr>
        <p:txBody>
          <a:bodyPr wrap="square" rtlCol="0" anchor="ctr"/>
          <a:lstStyle/>
          <a:p>
            <a:pPr algn="l" indent="0" marL="0">
              <a:buNone/>
            </a:pPr>
            <a:r>
              <a:rPr lang="en-US" sz="1400" dirty="0">
                <a:solidFill>
                  <a:srgbClr val="5C6B84"/>
                </a:solidFill>
                <a:latin typeface="Calibri" pitchFamily="34" charset="0"/>
                <a:ea typeface="Calibri" pitchFamily="34" charset="-122"/>
                <a:cs typeface="Calibri" pitchFamily="34" charset="-120"/>
              </a:rPr>
              <a:t>Sometimes the simplest tool tells you more than an automated scanner</a:t>
            </a:r>
            <a:endParaRPr lang="en-US" sz="1400" dirty="0"/>
          </a:p>
        </p:txBody>
      </p:sp>
      <p:sp>
        <p:nvSpPr>
          <p:cNvPr id="5" name="Text 3"/>
          <p:cNvSpPr/>
          <p:nvPr/>
        </p:nvSpPr>
        <p:spPr>
          <a:xfrm>
            <a:off x="502920" y="1874520"/>
            <a:ext cx="5760720" cy="1097280"/>
          </a:xfrm>
          <a:prstGeom prst="rect">
            <a:avLst/>
          </a:prstGeom>
          <a:noFill/>
          <a:ln/>
        </p:spPr>
        <p:txBody>
          <a:bodyPr wrap="square" rtlCol="0" anchor="t"/>
          <a:lstStyle/>
          <a:p>
            <a:pPr indent="0" marL="0">
              <a:lnSpc>
                <a:spcPct val="130000"/>
              </a:lnSpc>
              <a:buNone/>
            </a:pPr>
            <a:r>
              <a:rPr lang="en-US" sz="1400" dirty="0">
                <a:solidFill>
                  <a:srgbClr val="16213E"/>
                </a:solidFill>
                <a:latin typeface="Calibri" pitchFamily="34" charset="0"/>
                <a:ea typeface="Calibri" pitchFamily="34" charset="-122"/>
                <a:cs typeface="Calibri" pitchFamily="34" charset="-120"/>
              </a:rPr>
              <a:t>Banner grabbing is the technique of connecting directly to a network service and reading the greeting text (“banner”) it sends back — often revealing the exact software name and version.</a:t>
            </a:r>
            <a:endParaRPr lang="en-US" sz="1400" dirty="0"/>
          </a:p>
        </p:txBody>
      </p:sp>
      <p:sp>
        <p:nvSpPr>
          <p:cNvPr id="6" name="Shape 4"/>
          <p:cNvSpPr/>
          <p:nvPr/>
        </p:nvSpPr>
        <p:spPr>
          <a:xfrm>
            <a:off x="502920" y="3063240"/>
            <a:ext cx="109728" cy="109728"/>
          </a:xfrm>
          <a:prstGeom prst="ellipse">
            <a:avLst/>
          </a:prstGeom>
          <a:solidFill>
            <a:srgbClr val="1E9E6A"/>
          </a:solidFill>
          <a:ln/>
        </p:spPr>
      </p:sp>
      <p:sp>
        <p:nvSpPr>
          <p:cNvPr id="7" name="Text 5"/>
          <p:cNvSpPr/>
          <p:nvPr/>
        </p:nvSpPr>
        <p:spPr>
          <a:xfrm>
            <a:off x="795528" y="2926080"/>
            <a:ext cx="5577840" cy="384048"/>
          </a:xfrm>
          <a:prstGeom prst="rect">
            <a:avLst/>
          </a:prstGeom>
          <a:noFill/>
          <a:ln/>
        </p:spPr>
        <p:txBody>
          <a:bodyPr wrap="square" rtlCol="0" anchor="t"/>
          <a:lstStyle/>
          <a:p>
            <a:pPr indent="0" marL="0">
              <a:buNone/>
            </a:pPr>
            <a:r>
              <a:rPr lang="en-US" sz="1250" dirty="0">
                <a:solidFill>
                  <a:srgbClr val="16213E"/>
                </a:solidFill>
                <a:latin typeface="Calibri" pitchFamily="34" charset="0"/>
                <a:ea typeface="Calibri" pitchFamily="34" charset="-122"/>
                <a:cs typeface="Calibri" pitchFamily="34" charset="-120"/>
              </a:rPr>
              <a:t>Manually confirms what -sV reported, in case of a false positive</a:t>
            </a:r>
            <a:endParaRPr lang="en-US" sz="1250" dirty="0"/>
          </a:p>
        </p:txBody>
      </p:sp>
      <p:sp>
        <p:nvSpPr>
          <p:cNvPr id="8" name="Shape 6"/>
          <p:cNvSpPr/>
          <p:nvPr/>
        </p:nvSpPr>
        <p:spPr>
          <a:xfrm>
            <a:off x="502920" y="3520440"/>
            <a:ext cx="109728" cy="109728"/>
          </a:xfrm>
          <a:prstGeom prst="ellipse">
            <a:avLst/>
          </a:prstGeom>
          <a:solidFill>
            <a:srgbClr val="1E9E6A"/>
          </a:solidFill>
          <a:ln/>
        </p:spPr>
      </p:sp>
      <p:sp>
        <p:nvSpPr>
          <p:cNvPr id="9" name="Text 7"/>
          <p:cNvSpPr/>
          <p:nvPr/>
        </p:nvSpPr>
        <p:spPr>
          <a:xfrm>
            <a:off x="795528" y="3383280"/>
            <a:ext cx="5577840" cy="384048"/>
          </a:xfrm>
          <a:prstGeom prst="rect">
            <a:avLst/>
          </a:prstGeom>
          <a:noFill/>
          <a:ln/>
        </p:spPr>
        <p:txBody>
          <a:bodyPr wrap="square" rtlCol="0" anchor="t"/>
          <a:lstStyle/>
          <a:p>
            <a:pPr indent="0" marL="0">
              <a:buNone/>
            </a:pPr>
            <a:r>
              <a:rPr lang="en-US" sz="1250" dirty="0">
                <a:solidFill>
                  <a:srgbClr val="16213E"/>
                </a:solidFill>
                <a:latin typeface="Calibri" pitchFamily="34" charset="0"/>
                <a:ea typeface="Calibri" pitchFamily="34" charset="-122"/>
                <a:cs typeface="Calibri" pitchFamily="34" charset="-120"/>
              </a:rPr>
              <a:t>Works even when a service doesn't match any Nmap signature</a:t>
            </a:r>
            <a:endParaRPr lang="en-US" sz="1250" dirty="0"/>
          </a:p>
        </p:txBody>
      </p:sp>
      <p:sp>
        <p:nvSpPr>
          <p:cNvPr id="10" name="Shape 8"/>
          <p:cNvSpPr/>
          <p:nvPr/>
        </p:nvSpPr>
        <p:spPr>
          <a:xfrm>
            <a:off x="502920" y="3977640"/>
            <a:ext cx="109728" cy="109728"/>
          </a:xfrm>
          <a:prstGeom prst="ellipse">
            <a:avLst/>
          </a:prstGeom>
          <a:solidFill>
            <a:srgbClr val="1E9E6A"/>
          </a:solidFill>
          <a:ln/>
        </p:spPr>
      </p:sp>
      <p:sp>
        <p:nvSpPr>
          <p:cNvPr id="11" name="Text 9"/>
          <p:cNvSpPr/>
          <p:nvPr/>
        </p:nvSpPr>
        <p:spPr>
          <a:xfrm>
            <a:off x="795528" y="3840480"/>
            <a:ext cx="5577840" cy="384048"/>
          </a:xfrm>
          <a:prstGeom prst="rect">
            <a:avLst/>
          </a:prstGeom>
          <a:noFill/>
          <a:ln/>
        </p:spPr>
        <p:txBody>
          <a:bodyPr wrap="square" rtlCol="0" anchor="t"/>
          <a:lstStyle/>
          <a:p>
            <a:pPr indent="0" marL="0">
              <a:buNone/>
            </a:pPr>
            <a:r>
              <a:rPr lang="en-US" sz="1250" dirty="0">
                <a:solidFill>
                  <a:srgbClr val="16213E"/>
                </a:solidFill>
                <a:latin typeface="Calibri" pitchFamily="34" charset="0"/>
                <a:ea typeface="Calibri" pitchFamily="34" charset="-122"/>
                <a:cs typeface="Calibri" pitchFamily="34" charset="-120"/>
              </a:rPr>
              <a:t>Lower footprint than a full version-detection scan</a:t>
            </a:r>
            <a:endParaRPr lang="en-US" sz="1250" dirty="0"/>
          </a:p>
        </p:txBody>
      </p:sp>
      <p:sp>
        <p:nvSpPr>
          <p:cNvPr id="12" name="Shape 10"/>
          <p:cNvSpPr/>
          <p:nvPr/>
        </p:nvSpPr>
        <p:spPr>
          <a:xfrm>
            <a:off x="502920" y="4434840"/>
            <a:ext cx="109728" cy="109728"/>
          </a:xfrm>
          <a:prstGeom prst="ellipse">
            <a:avLst/>
          </a:prstGeom>
          <a:solidFill>
            <a:srgbClr val="1E9E6A"/>
          </a:solidFill>
          <a:ln/>
        </p:spPr>
      </p:sp>
      <p:sp>
        <p:nvSpPr>
          <p:cNvPr id="13" name="Text 11"/>
          <p:cNvSpPr/>
          <p:nvPr/>
        </p:nvSpPr>
        <p:spPr>
          <a:xfrm>
            <a:off x="795528" y="4297680"/>
            <a:ext cx="5577840" cy="384048"/>
          </a:xfrm>
          <a:prstGeom prst="rect">
            <a:avLst/>
          </a:prstGeom>
          <a:noFill/>
          <a:ln/>
        </p:spPr>
        <p:txBody>
          <a:bodyPr wrap="square" rtlCol="0" anchor="t"/>
          <a:lstStyle/>
          <a:p>
            <a:pPr indent="0" marL="0">
              <a:buNone/>
            </a:pPr>
            <a:r>
              <a:rPr lang="en-US" sz="1250" dirty="0">
                <a:solidFill>
                  <a:srgbClr val="16213E"/>
                </a:solidFill>
                <a:latin typeface="Calibri" pitchFamily="34" charset="0"/>
                <a:ea typeface="Calibri" pitchFamily="34" charset="-122"/>
                <a:cs typeface="Calibri" pitchFamily="34" charset="-120"/>
              </a:rPr>
              <a:t>A core manual skill — expected in interviews &amp; OSCP-style exams</a:t>
            </a:r>
            <a:endParaRPr lang="en-US" sz="1250" dirty="0"/>
          </a:p>
        </p:txBody>
      </p:sp>
      <p:sp>
        <p:nvSpPr>
          <p:cNvPr id="14" name="Shape 12"/>
          <p:cNvSpPr/>
          <p:nvPr/>
        </p:nvSpPr>
        <p:spPr>
          <a:xfrm>
            <a:off x="6537960" y="1828800"/>
            <a:ext cx="5148072" cy="3383280"/>
          </a:xfrm>
          <a:prstGeom prst="roundRect">
            <a:avLst>
              <a:gd name="adj" fmla="val 2162"/>
            </a:avLst>
          </a:prstGeom>
          <a:solidFill>
            <a:srgbClr val="05070F"/>
          </a:solidFill>
          <a:ln w="12700">
            <a:solidFill>
              <a:srgbClr val="2A3350"/>
            </a:solidFill>
            <a:prstDash val="solid"/>
          </a:ln>
          <a:effectLst>
            <a:outerShdw sx="100000" sy="100000" kx="0" ky="0" algn="bl" rotWithShape="0" blurRad="101600" dist="38100" dir="5400000">
              <a:srgbClr val="000000">
                <a:alpha val="40000"/>
              </a:srgbClr>
            </a:outerShdw>
          </a:effectLst>
        </p:spPr>
      </p:sp>
      <p:sp>
        <p:nvSpPr>
          <p:cNvPr id="15" name="Shape 13"/>
          <p:cNvSpPr/>
          <p:nvPr/>
        </p:nvSpPr>
        <p:spPr>
          <a:xfrm>
            <a:off x="6537960" y="1828800"/>
            <a:ext cx="5148072" cy="320040"/>
          </a:xfrm>
          <a:prstGeom prst="roundRect">
            <a:avLst>
              <a:gd name="adj" fmla="val 22857"/>
            </a:avLst>
          </a:prstGeom>
          <a:solidFill>
            <a:srgbClr val="12172B"/>
          </a:solidFill>
          <a:ln/>
        </p:spPr>
      </p:sp>
      <p:sp>
        <p:nvSpPr>
          <p:cNvPr id="16" name="Shape 14"/>
          <p:cNvSpPr/>
          <p:nvPr/>
        </p:nvSpPr>
        <p:spPr>
          <a:xfrm>
            <a:off x="6537960" y="1984248"/>
            <a:ext cx="5148072" cy="164592"/>
          </a:xfrm>
          <a:prstGeom prst="rect">
            <a:avLst/>
          </a:prstGeom>
          <a:solidFill>
            <a:srgbClr val="12172B"/>
          </a:solidFill>
          <a:ln/>
        </p:spPr>
      </p:sp>
      <p:sp>
        <p:nvSpPr>
          <p:cNvPr id="17" name="Shape 15"/>
          <p:cNvSpPr/>
          <p:nvPr/>
        </p:nvSpPr>
        <p:spPr>
          <a:xfrm>
            <a:off x="6675120" y="1933956"/>
            <a:ext cx="109728" cy="109728"/>
          </a:xfrm>
          <a:prstGeom prst="ellipse">
            <a:avLst/>
          </a:prstGeom>
          <a:solidFill>
            <a:srgbClr val="E85D5D"/>
          </a:solidFill>
          <a:ln/>
        </p:spPr>
      </p:sp>
      <p:sp>
        <p:nvSpPr>
          <p:cNvPr id="18" name="Shape 16"/>
          <p:cNvSpPr/>
          <p:nvPr/>
        </p:nvSpPr>
        <p:spPr>
          <a:xfrm>
            <a:off x="6876288" y="1933956"/>
            <a:ext cx="109728" cy="109728"/>
          </a:xfrm>
          <a:prstGeom prst="ellipse">
            <a:avLst/>
          </a:prstGeom>
          <a:solidFill>
            <a:srgbClr val="E8C24F"/>
          </a:solidFill>
          <a:ln/>
        </p:spPr>
      </p:sp>
      <p:sp>
        <p:nvSpPr>
          <p:cNvPr id="19" name="Shape 17"/>
          <p:cNvSpPr/>
          <p:nvPr/>
        </p:nvSpPr>
        <p:spPr>
          <a:xfrm>
            <a:off x="7077456" y="1933956"/>
            <a:ext cx="109728" cy="109728"/>
          </a:xfrm>
          <a:prstGeom prst="ellipse">
            <a:avLst/>
          </a:prstGeom>
          <a:solidFill>
            <a:srgbClr val="2FD48C"/>
          </a:solidFill>
          <a:ln/>
        </p:spPr>
      </p:sp>
      <p:sp>
        <p:nvSpPr>
          <p:cNvPr id="20" name="Text 18"/>
          <p:cNvSpPr/>
          <p:nvPr/>
        </p:nvSpPr>
        <p:spPr>
          <a:xfrm>
            <a:off x="6537960" y="1847088"/>
            <a:ext cx="5148072" cy="274320"/>
          </a:xfrm>
          <a:prstGeom prst="rect">
            <a:avLst/>
          </a:prstGeom>
          <a:noFill/>
          <a:ln/>
        </p:spPr>
        <p:txBody>
          <a:bodyPr wrap="square" rtlCol="0" anchor="ctr"/>
          <a:lstStyle/>
          <a:p>
            <a:pPr algn="ctr" indent="0" marL="0">
              <a:buNone/>
            </a:pPr>
            <a:r>
              <a:rPr lang="en-US" sz="1000" dirty="0">
                <a:solidFill>
                  <a:srgbClr val="8892A6"/>
                </a:solidFill>
                <a:latin typeface="Courier New" pitchFamily="34" charset="0"/>
                <a:ea typeface="Courier New" pitchFamily="34" charset="-122"/>
                <a:cs typeface="Courier New" pitchFamily="34" charset="-120"/>
              </a:rPr>
              <a:t>banner grab</a:t>
            </a:r>
            <a:endParaRPr lang="en-US" sz="1000" dirty="0"/>
          </a:p>
        </p:txBody>
      </p:sp>
      <p:sp>
        <p:nvSpPr>
          <p:cNvPr id="21" name="Text 19"/>
          <p:cNvSpPr/>
          <p:nvPr/>
        </p:nvSpPr>
        <p:spPr>
          <a:xfrm>
            <a:off x="6793992" y="2286000"/>
            <a:ext cx="4636008" cy="2743200"/>
          </a:xfrm>
          <a:prstGeom prst="rect">
            <a:avLst/>
          </a:prstGeom>
          <a:noFill/>
          <a:ln/>
        </p:spPr>
        <p:txBody>
          <a:bodyPr wrap="square" rtlCol="0" anchor="t"/>
          <a:lstStyle/>
          <a:p>
            <a:pPr indent="0" marL="0">
              <a:lnSpc>
                <a:spcPct val="128000"/>
              </a:lnSpc>
              <a:buNone/>
            </a:pPr>
            <a:r>
              <a:rPr lang="en-US" sz="1300" dirty="0">
                <a:solidFill>
                  <a:srgbClr val="2FD48C"/>
                </a:solidFill>
                <a:latin typeface="Courier New" pitchFamily="34" charset="0"/>
                <a:ea typeface="Courier New" pitchFamily="34" charset="-122"/>
                <a:cs typeface="Courier New" pitchFamily="34" charset="-120"/>
              </a:rPr>
              <a:t>$ nc -nv 10.10.10.5 22</a:t>
            </a:r>
            <a:endParaRPr lang="en-US" sz="1300" dirty="0"/>
          </a:p>
          <a:p>
            <a:pPr indent="0" marL="0">
              <a:lnSpc>
                <a:spcPct val="128000"/>
              </a:lnSpc>
              <a:buNone/>
            </a:pPr>
            <a:endParaRPr lang="en-US" sz="1300" dirty="0"/>
          </a:p>
          <a:p>
            <a:pPr indent="0" marL="0">
              <a:lnSpc>
                <a:spcPct val="128000"/>
              </a:lnSpc>
              <a:buNone/>
            </a:pPr>
            <a:r>
              <a:rPr lang="en-US" sz="1300" dirty="0">
                <a:solidFill>
                  <a:srgbClr val="C8D3E0"/>
                </a:solidFill>
                <a:latin typeface="Courier New" pitchFamily="34" charset="0"/>
                <a:ea typeface="Courier New" pitchFamily="34" charset="-122"/>
                <a:cs typeface="Courier New" pitchFamily="34" charset="-120"/>
              </a:rPr>
              <a:t>Connection to 10.10.10.5</a:t>
            </a:r>
            <a:endParaRPr lang="en-US" sz="1300" dirty="0"/>
          </a:p>
          <a:p>
            <a:pPr indent="0" marL="0">
              <a:lnSpc>
                <a:spcPct val="128000"/>
              </a:lnSpc>
              <a:buNone/>
            </a:pPr>
            <a:r>
              <a:rPr lang="en-US" sz="1300" dirty="0">
                <a:solidFill>
                  <a:srgbClr val="8892A6"/>
                </a:solidFill>
                <a:latin typeface="Courier New" pitchFamily="34" charset="0"/>
                <a:ea typeface="Courier New" pitchFamily="34" charset="-122"/>
                <a:cs typeface="Courier New" pitchFamily="34" charset="-120"/>
              </a:rPr>
              <a:t>port 22 [tcp/ssh] succeeded!</a:t>
            </a:r>
            <a:endParaRPr lang="en-US" sz="1300" dirty="0"/>
          </a:p>
          <a:p>
            <a:pPr indent="0" marL="0">
              <a:lnSpc>
                <a:spcPct val="128000"/>
              </a:lnSpc>
              <a:buNone/>
            </a:pPr>
            <a:r>
              <a:rPr lang="en-US" sz="1300" dirty="0">
                <a:solidFill>
                  <a:srgbClr val="C8D3E0"/>
                </a:solidFill>
                <a:latin typeface="Courier New" pitchFamily="34" charset="0"/>
                <a:ea typeface="Courier New" pitchFamily="34" charset="-122"/>
                <a:cs typeface="Courier New" pitchFamily="34" charset="-120"/>
              </a:rPr>
              <a:t>SSH-2.0-OpenSSH_8.2p1 Ubuntu-4</a:t>
            </a:r>
            <a:endParaRPr lang="en-US" sz="1300" dirty="0"/>
          </a:p>
          <a:p>
            <a:pPr indent="0" marL="0">
              <a:lnSpc>
                <a:spcPct val="128000"/>
              </a:lnSpc>
              <a:buNone/>
            </a:pPr>
            <a:endParaRPr lang="en-US" sz="1300" dirty="0"/>
          </a:p>
          <a:p>
            <a:pPr indent="0" marL="0">
              <a:lnSpc>
                <a:spcPct val="128000"/>
              </a:lnSpc>
              <a:buNone/>
            </a:pPr>
            <a:r>
              <a:rPr lang="en-US" sz="1300" dirty="0">
                <a:solidFill>
                  <a:srgbClr val="8892A6"/>
                </a:solidFill>
                <a:latin typeface="Courier New" pitchFamily="34" charset="0"/>
                <a:ea typeface="Courier New" pitchFamily="34" charset="-122"/>
                <a:cs typeface="Courier New" pitchFamily="34" charset="-120"/>
              </a:rPr>
              <a:t>↑ that one line just told us the</a:t>
            </a:r>
            <a:endParaRPr lang="en-US" sz="1300" dirty="0"/>
          </a:p>
          <a:p>
            <a:pPr indent="0" marL="0">
              <a:lnSpc>
                <a:spcPct val="128000"/>
              </a:lnSpc>
              <a:buNone/>
            </a:pPr>
            <a:r>
              <a:rPr lang="en-US" sz="1300" dirty="0">
                <a:solidFill>
                  <a:srgbClr val="8892A6"/>
                </a:solidFill>
                <a:latin typeface="Courier New" pitchFamily="34" charset="0"/>
                <a:ea typeface="Courier New" pitchFamily="34" charset="-122"/>
                <a:cs typeface="Courier New" pitchFamily="34" charset="-120"/>
              </a:rPr>
              <a:t>exact OS distro and patch level.</a:t>
            </a:r>
            <a:endParaRPr lang="en-US" sz="1300" dirty="0"/>
          </a:p>
        </p:txBody>
      </p:sp>
      <p:sp>
        <p:nvSpPr>
          <p:cNvPr id="22" name="Text 20"/>
          <p:cNvSpPr/>
          <p:nvPr/>
        </p:nvSpPr>
        <p:spPr>
          <a:xfrm>
            <a:off x="11365992" y="6446520"/>
            <a:ext cx="457200" cy="274320"/>
          </a:xfrm>
          <a:prstGeom prst="rect">
            <a:avLst/>
          </a:prstGeom>
          <a:noFill/>
          <a:ln/>
        </p:spPr>
        <p:txBody>
          <a:bodyPr wrap="square" rtlCol="0" anchor="ctr"/>
          <a:lstStyle/>
          <a:p>
            <a:pPr algn="r" indent="0" marL="0">
              <a:buNone/>
            </a:pPr>
            <a:r>
              <a:rPr lang="en-US" sz="1000" dirty="0">
                <a:solidFill>
                  <a:srgbClr val="8892A6"/>
                </a:solidFill>
                <a:latin typeface="Courier New" pitchFamily="34" charset="0"/>
                <a:ea typeface="Courier New" pitchFamily="34" charset="-122"/>
                <a:cs typeface="Courier New"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rtlCol="0" anchor="ctr"/>
          <a:lstStyle/>
          <a:p>
            <a:pPr algn="l" indent="0" marL="0">
              <a:buNone/>
            </a:pPr>
            <a:r>
              <a:rPr lang="en-US" sz="1200" b="1" spc="200" kern="0" dirty="0">
                <a:solidFill>
                  <a:srgbClr val="1E9E6A"/>
                </a:solidFill>
                <a:latin typeface="Calibri" pitchFamily="34" charset="0"/>
                <a:ea typeface="Calibri" pitchFamily="34" charset="-122"/>
                <a:cs typeface="Calibri" pitchFamily="34" charset="-120"/>
              </a:rPr>
              <a:t>BANNER GRABBING</a:t>
            </a:r>
            <a:endParaRPr lang="en-US" sz="1200" dirty="0"/>
          </a:p>
        </p:txBody>
      </p:sp>
      <p:sp>
        <p:nvSpPr>
          <p:cNvPr id="3" name="Text 1"/>
          <p:cNvSpPr/>
          <p:nvPr/>
        </p:nvSpPr>
        <p:spPr>
          <a:xfrm>
            <a:off x="502920" y="658368"/>
            <a:ext cx="10515600" cy="548640"/>
          </a:xfrm>
          <a:prstGeom prst="rect">
            <a:avLst/>
          </a:prstGeom>
          <a:noFill/>
          <a:ln/>
        </p:spPr>
        <p:txBody>
          <a:bodyPr wrap="square" rtlCol="0" anchor="ctr"/>
          <a:lstStyle/>
          <a:p>
            <a:pPr algn="l" indent="0" marL="0">
              <a:buNone/>
            </a:pPr>
            <a:r>
              <a:rPr lang="en-US" sz="3200" b="1" dirty="0">
                <a:solidFill>
                  <a:srgbClr val="16213E"/>
                </a:solidFill>
                <a:latin typeface="Calibri" pitchFamily="34" charset="0"/>
                <a:ea typeface="Calibri" pitchFamily="34" charset="-122"/>
                <a:cs typeface="Calibri" pitchFamily="34" charset="-120"/>
              </a:rPr>
              <a:t>Banner Grabbing Tools &amp; Techniques</a:t>
            </a:r>
            <a:endParaRPr lang="en-US" sz="3200" dirty="0"/>
          </a:p>
        </p:txBody>
      </p:sp>
      <p:sp>
        <p:nvSpPr>
          <p:cNvPr id="4" name="Text 2"/>
          <p:cNvSpPr/>
          <p:nvPr/>
        </p:nvSpPr>
        <p:spPr>
          <a:xfrm>
            <a:off x="502920" y="1161288"/>
            <a:ext cx="10515600" cy="365760"/>
          </a:xfrm>
          <a:prstGeom prst="rect">
            <a:avLst/>
          </a:prstGeom>
          <a:noFill/>
          <a:ln/>
        </p:spPr>
        <p:txBody>
          <a:bodyPr wrap="square" rtlCol="0" anchor="ctr"/>
          <a:lstStyle/>
          <a:p>
            <a:pPr algn="l" indent="0" marL="0">
              <a:buNone/>
            </a:pPr>
            <a:r>
              <a:rPr lang="en-US" sz="1400" dirty="0">
                <a:solidFill>
                  <a:srgbClr val="5C6B84"/>
                </a:solidFill>
                <a:latin typeface="Calibri" pitchFamily="34" charset="0"/>
                <a:ea typeface="Calibri" pitchFamily="34" charset="-122"/>
                <a:cs typeface="Calibri" pitchFamily="34" charset="-120"/>
              </a:rPr>
              <a:t>Different services need different clients — build a small toolkit</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1828800"/>
          <a:ext cx="11183112" cy="914400"/>
        </p:xfrm>
        <a:graphic>
          <a:graphicData uri="http://schemas.openxmlformats.org/drawingml/2006/table">
            <a:tbl>
              <a:tblPr/>
              <a:tblGrid>
                <a:gridCol w="1920240"/>
                <a:gridCol w="4206240"/>
                <a:gridCol w="4965192"/>
              </a:tblGrid>
              <a:tr h="530352">
                <a:tc>
                  <a:txBody>
                    <a:bodyPr/>
                    <a:lstStyle/>
                    <a:p>
                      <a:pPr algn="l" indent="0" marL="0">
                        <a:buNone/>
                      </a:pPr>
                      <a:r>
                        <a:rPr lang="en-US" sz="1250" b="1" dirty="0">
                          <a:solidFill>
                            <a:srgbClr val="FFFFFF"/>
                          </a:solidFill>
                        </a:rPr>
                        <a:t>Tool</a:t>
                      </a:r>
                      <a:endParaRPr lang="en-US" sz="1250" dirty="0"/>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C2541"/>
                    </a:solidFill>
                  </a:tcPr>
                </a:tc>
                <a:tc>
                  <a:txBody>
                    <a:bodyPr/>
                    <a:lstStyle/>
                    <a:p>
                      <a:pPr algn="l" indent="0" marL="0">
                        <a:buNone/>
                      </a:pPr>
                      <a:r>
                        <a:rPr lang="en-US" sz="1250" b="1" dirty="0">
                          <a:solidFill>
                            <a:srgbClr val="FFFFFF"/>
                          </a:solidFill>
                        </a:rPr>
                        <a:t>Example command</a:t>
                      </a:r>
                      <a:endParaRPr lang="en-US" sz="1250" dirty="0"/>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C2541"/>
                    </a:solidFill>
                  </a:tcPr>
                </a:tc>
                <a:tc>
                  <a:txBody>
                    <a:bodyPr/>
                    <a:lstStyle/>
                    <a:p>
                      <a:pPr algn="l" indent="0" marL="0">
                        <a:buNone/>
                      </a:pPr>
                      <a:r>
                        <a:rPr lang="en-US" sz="1250" b="1" dirty="0">
                          <a:solidFill>
                            <a:srgbClr val="FFFFFF"/>
                          </a:solidFill>
                        </a:rPr>
                        <a:t>Best for</a:t>
                      </a:r>
                      <a:endParaRPr lang="en-US" sz="1250" dirty="0"/>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C2541"/>
                    </a:solidFill>
                  </a:tcPr>
                </a:tc>
              </a:tr>
              <a:tr h="530352">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netcat</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nc -nv &lt;ip&gt; &lt;port&gt;</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Any raw TCP service (FTP, SSH, SMTP, custom ports)</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r>
              <a:tr h="530352">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telnet</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telnet &lt;ip&gt; &lt;port&gt;</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Legacy environments, plain-text protocols</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r>
              <a:tr h="530352">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curl</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curl -I http://&lt;ip&gt;</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HTTP/HTTPS headers (Server:, X-Powered-By:)</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r>
              <a:tr h="530352">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openssl s_client</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openssl s_client -connect &lt;ip&gt;:443</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TLS-wrapped services — also dumps the certificate</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r>
              <a:tr h="530352">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nmap NSE</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nmap --script banner -p 21 &lt;ip&gt;</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Automating banner grabs across many hosts/ports</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r>
            </a:tbl>
          </a:graphicData>
        </a:graphic>
      </p:graphicFrame>
      <p:sp>
        <p:nvSpPr>
          <p:cNvPr id="6" name="Text 3"/>
          <p:cNvSpPr/>
          <p:nvPr/>
        </p:nvSpPr>
        <p:spPr>
          <a:xfrm>
            <a:off x="11365992" y="6446520"/>
            <a:ext cx="457200" cy="274320"/>
          </a:xfrm>
          <a:prstGeom prst="rect">
            <a:avLst/>
          </a:prstGeom>
          <a:noFill/>
          <a:ln/>
        </p:spPr>
        <p:txBody>
          <a:bodyPr wrap="square" rtlCol="0" anchor="ctr"/>
          <a:lstStyle/>
          <a:p>
            <a:pPr algn="r" indent="0" marL="0">
              <a:buNone/>
            </a:pPr>
            <a:r>
              <a:rPr lang="en-US" sz="1000" dirty="0">
                <a:solidFill>
                  <a:srgbClr val="8892A6"/>
                </a:solidFill>
                <a:latin typeface="Courier New" pitchFamily="34" charset="0"/>
                <a:ea typeface="Courier New" pitchFamily="34" charset="-122"/>
                <a:cs typeface="Courier New"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32B"/>
        </a:solidFill>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rtlCol="0" anchor="ctr"/>
          <a:lstStyle/>
          <a:p>
            <a:pPr algn="l" indent="0" marL="0">
              <a:buNone/>
            </a:pPr>
            <a:r>
              <a:rPr lang="en-US" sz="1200" b="1" spc="200" kern="0" dirty="0">
                <a:solidFill>
                  <a:srgbClr val="2FD48C"/>
                </a:solidFill>
                <a:latin typeface="Calibri" pitchFamily="34" charset="0"/>
                <a:ea typeface="Calibri" pitchFamily="34" charset="-122"/>
                <a:cs typeface="Calibri" pitchFamily="34" charset="-120"/>
              </a:rPr>
              <a:t>LIVE DEMO</a:t>
            </a:r>
            <a:endParaRPr lang="en-US" sz="1200" dirty="0"/>
          </a:p>
        </p:txBody>
      </p:sp>
      <p:sp>
        <p:nvSpPr>
          <p:cNvPr id="3" name="Text 1"/>
          <p:cNvSpPr/>
          <p:nvPr/>
        </p:nvSpPr>
        <p:spPr>
          <a:xfrm>
            <a:off x="502920" y="658368"/>
            <a:ext cx="10515600" cy="54864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Banner Grabbing Demo</a:t>
            </a:r>
            <a:endParaRPr lang="en-US" sz="3200" dirty="0"/>
          </a:p>
        </p:txBody>
      </p:sp>
      <p:sp>
        <p:nvSpPr>
          <p:cNvPr id="4" name="Text 2"/>
          <p:cNvSpPr/>
          <p:nvPr/>
        </p:nvSpPr>
        <p:spPr>
          <a:xfrm>
            <a:off x="502920" y="1161288"/>
            <a:ext cx="10515600" cy="365760"/>
          </a:xfrm>
          <a:prstGeom prst="rect">
            <a:avLst/>
          </a:prstGeom>
          <a:noFill/>
          <a:ln/>
        </p:spPr>
        <p:txBody>
          <a:bodyPr wrap="square" rtlCol="0" anchor="ctr"/>
          <a:lstStyle/>
          <a:p>
            <a:pPr algn="l" indent="0" marL="0">
              <a:buNone/>
            </a:pPr>
            <a:r>
              <a:rPr lang="en-US" sz="1400" dirty="0">
                <a:solidFill>
                  <a:srgbClr val="AEB8C4"/>
                </a:solidFill>
                <a:latin typeface="Calibri" pitchFamily="34" charset="0"/>
                <a:ea typeface="Calibri" pitchFamily="34" charset="-122"/>
                <a:cs typeface="Calibri" pitchFamily="34" charset="-120"/>
              </a:rPr>
              <a:t>Three services, three quick commands</a:t>
            </a:r>
            <a:endParaRPr lang="en-US" sz="1400" dirty="0"/>
          </a:p>
        </p:txBody>
      </p:sp>
      <p:sp>
        <p:nvSpPr>
          <p:cNvPr id="5" name="Shape 3"/>
          <p:cNvSpPr/>
          <p:nvPr/>
        </p:nvSpPr>
        <p:spPr>
          <a:xfrm>
            <a:off x="502920" y="1828800"/>
            <a:ext cx="3514344" cy="3108960"/>
          </a:xfrm>
          <a:prstGeom prst="roundRect">
            <a:avLst>
              <a:gd name="adj" fmla="val 2353"/>
            </a:avLst>
          </a:prstGeom>
          <a:solidFill>
            <a:srgbClr val="05070F"/>
          </a:solidFill>
          <a:ln w="12700">
            <a:solidFill>
              <a:srgbClr val="2A3350"/>
            </a:solidFill>
            <a:prstDash val="solid"/>
          </a:ln>
          <a:effectLst>
            <a:outerShdw sx="100000" sy="100000" kx="0" ky="0" algn="bl" rotWithShape="0" blurRad="101600" dist="38100" dir="5400000">
              <a:srgbClr val="000000">
                <a:alpha val="40000"/>
              </a:srgbClr>
            </a:outerShdw>
          </a:effectLst>
        </p:spPr>
      </p:sp>
      <p:sp>
        <p:nvSpPr>
          <p:cNvPr id="6" name="Shape 4"/>
          <p:cNvSpPr/>
          <p:nvPr/>
        </p:nvSpPr>
        <p:spPr>
          <a:xfrm>
            <a:off x="502920" y="1828800"/>
            <a:ext cx="3514344" cy="320040"/>
          </a:xfrm>
          <a:prstGeom prst="roundRect">
            <a:avLst>
              <a:gd name="adj" fmla="val 22857"/>
            </a:avLst>
          </a:prstGeom>
          <a:solidFill>
            <a:srgbClr val="12172B"/>
          </a:solidFill>
          <a:ln/>
        </p:spPr>
      </p:sp>
      <p:sp>
        <p:nvSpPr>
          <p:cNvPr id="7" name="Shape 5"/>
          <p:cNvSpPr/>
          <p:nvPr/>
        </p:nvSpPr>
        <p:spPr>
          <a:xfrm>
            <a:off x="502920" y="1984248"/>
            <a:ext cx="3514344" cy="164592"/>
          </a:xfrm>
          <a:prstGeom prst="rect">
            <a:avLst/>
          </a:prstGeom>
          <a:solidFill>
            <a:srgbClr val="12172B"/>
          </a:solidFill>
          <a:ln/>
        </p:spPr>
      </p:sp>
      <p:sp>
        <p:nvSpPr>
          <p:cNvPr id="8" name="Shape 6"/>
          <p:cNvSpPr/>
          <p:nvPr/>
        </p:nvSpPr>
        <p:spPr>
          <a:xfrm>
            <a:off x="640080" y="1933956"/>
            <a:ext cx="109728" cy="109728"/>
          </a:xfrm>
          <a:prstGeom prst="ellipse">
            <a:avLst/>
          </a:prstGeom>
          <a:solidFill>
            <a:srgbClr val="E85D5D"/>
          </a:solidFill>
          <a:ln/>
        </p:spPr>
      </p:sp>
      <p:sp>
        <p:nvSpPr>
          <p:cNvPr id="9" name="Shape 7"/>
          <p:cNvSpPr/>
          <p:nvPr/>
        </p:nvSpPr>
        <p:spPr>
          <a:xfrm>
            <a:off x="841248" y="1933956"/>
            <a:ext cx="109728" cy="109728"/>
          </a:xfrm>
          <a:prstGeom prst="ellipse">
            <a:avLst/>
          </a:prstGeom>
          <a:solidFill>
            <a:srgbClr val="E8C24F"/>
          </a:solidFill>
          <a:ln/>
        </p:spPr>
      </p:sp>
      <p:sp>
        <p:nvSpPr>
          <p:cNvPr id="10" name="Shape 8"/>
          <p:cNvSpPr/>
          <p:nvPr/>
        </p:nvSpPr>
        <p:spPr>
          <a:xfrm>
            <a:off x="1042416" y="1933956"/>
            <a:ext cx="109728" cy="109728"/>
          </a:xfrm>
          <a:prstGeom prst="ellipse">
            <a:avLst/>
          </a:prstGeom>
          <a:solidFill>
            <a:srgbClr val="2FD48C"/>
          </a:solidFill>
          <a:ln/>
        </p:spPr>
      </p:sp>
      <p:sp>
        <p:nvSpPr>
          <p:cNvPr id="11" name="Text 9"/>
          <p:cNvSpPr/>
          <p:nvPr/>
        </p:nvSpPr>
        <p:spPr>
          <a:xfrm>
            <a:off x="502920" y="1847088"/>
            <a:ext cx="3514344" cy="274320"/>
          </a:xfrm>
          <a:prstGeom prst="rect">
            <a:avLst/>
          </a:prstGeom>
          <a:noFill/>
          <a:ln/>
        </p:spPr>
        <p:txBody>
          <a:bodyPr wrap="square" rtlCol="0" anchor="ctr"/>
          <a:lstStyle/>
          <a:p>
            <a:pPr algn="ctr" indent="0" marL="0">
              <a:buNone/>
            </a:pPr>
            <a:r>
              <a:rPr lang="en-US" sz="1000" dirty="0">
                <a:solidFill>
                  <a:srgbClr val="8892A6"/>
                </a:solidFill>
                <a:latin typeface="Courier New" pitchFamily="34" charset="0"/>
                <a:ea typeface="Courier New" pitchFamily="34" charset="-122"/>
                <a:cs typeface="Courier New" pitchFamily="34" charset="-120"/>
              </a:rPr>
              <a:t>FTP</a:t>
            </a:r>
            <a:endParaRPr lang="en-US" sz="1000" dirty="0"/>
          </a:p>
        </p:txBody>
      </p:sp>
      <p:sp>
        <p:nvSpPr>
          <p:cNvPr id="12" name="Text 10"/>
          <p:cNvSpPr/>
          <p:nvPr/>
        </p:nvSpPr>
        <p:spPr>
          <a:xfrm>
            <a:off x="758952" y="2286000"/>
            <a:ext cx="3002280" cy="2468880"/>
          </a:xfrm>
          <a:prstGeom prst="rect">
            <a:avLst/>
          </a:prstGeom>
          <a:noFill/>
          <a:ln/>
        </p:spPr>
        <p:txBody>
          <a:bodyPr wrap="square" rtlCol="0" anchor="t"/>
          <a:lstStyle/>
          <a:p>
            <a:pPr indent="0" marL="0">
              <a:lnSpc>
                <a:spcPct val="128000"/>
              </a:lnSpc>
              <a:buNone/>
            </a:pPr>
            <a:r>
              <a:rPr lang="en-US" sz="1250" dirty="0">
                <a:solidFill>
                  <a:srgbClr val="2FD48C"/>
                </a:solidFill>
                <a:latin typeface="Courier New" pitchFamily="34" charset="0"/>
                <a:ea typeface="Courier New" pitchFamily="34" charset="-122"/>
                <a:cs typeface="Courier New" pitchFamily="34" charset="-120"/>
              </a:rPr>
              <a:t>$ nc -nv 10.10.10.5 21</a:t>
            </a:r>
            <a:endParaRPr lang="en-US" sz="1250" dirty="0"/>
          </a:p>
          <a:p>
            <a:pPr indent="0" marL="0">
              <a:lnSpc>
                <a:spcPct val="128000"/>
              </a:lnSpc>
              <a:buNone/>
            </a:pPr>
            <a:r>
              <a:rPr lang="en-US" sz="1250" dirty="0">
                <a:solidFill>
                  <a:srgbClr val="C8D3E0"/>
                </a:solidFill>
                <a:latin typeface="Courier New" pitchFamily="34" charset="0"/>
                <a:ea typeface="Courier New" pitchFamily="34" charset="-122"/>
                <a:cs typeface="Courier New" pitchFamily="34" charset="-120"/>
              </a:rPr>
              <a:t>220 ProFTPD 1.3.5</a:t>
            </a:r>
            <a:endParaRPr lang="en-US" sz="1250" dirty="0"/>
          </a:p>
          <a:p>
            <a:pPr indent="0" marL="0">
              <a:lnSpc>
                <a:spcPct val="128000"/>
              </a:lnSpc>
              <a:buNone/>
            </a:pPr>
            <a:r>
              <a:rPr lang="en-US" sz="1250" dirty="0">
                <a:solidFill>
                  <a:srgbClr val="C8D3E0"/>
                </a:solidFill>
                <a:latin typeface="Courier New" pitchFamily="34" charset="0"/>
                <a:ea typeface="Courier New" pitchFamily="34" charset="-122"/>
                <a:cs typeface="Courier New" pitchFamily="34" charset="-120"/>
              </a:rPr>
              <a:t>Server ready.</a:t>
            </a:r>
            <a:endParaRPr lang="en-US" sz="1250" dirty="0"/>
          </a:p>
        </p:txBody>
      </p:sp>
      <p:sp>
        <p:nvSpPr>
          <p:cNvPr id="13" name="Shape 11"/>
          <p:cNvSpPr/>
          <p:nvPr/>
        </p:nvSpPr>
        <p:spPr>
          <a:xfrm>
            <a:off x="4337304" y="1828800"/>
            <a:ext cx="3514344" cy="3108960"/>
          </a:xfrm>
          <a:prstGeom prst="roundRect">
            <a:avLst>
              <a:gd name="adj" fmla="val 2353"/>
            </a:avLst>
          </a:prstGeom>
          <a:solidFill>
            <a:srgbClr val="05070F"/>
          </a:solidFill>
          <a:ln w="12700">
            <a:solidFill>
              <a:srgbClr val="2A3350"/>
            </a:solidFill>
            <a:prstDash val="solid"/>
          </a:ln>
          <a:effectLst>
            <a:outerShdw sx="100000" sy="100000" kx="0" ky="0" algn="bl" rotWithShape="0" blurRad="101600" dist="38100" dir="5400000">
              <a:srgbClr val="000000">
                <a:alpha val="40000"/>
              </a:srgbClr>
            </a:outerShdw>
          </a:effectLst>
        </p:spPr>
      </p:sp>
      <p:sp>
        <p:nvSpPr>
          <p:cNvPr id="14" name="Shape 12"/>
          <p:cNvSpPr/>
          <p:nvPr/>
        </p:nvSpPr>
        <p:spPr>
          <a:xfrm>
            <a:off x="4337304" y="1828800"/>
            <a:ext cx="3514344" cy="320040"/>
          </a:xfrm>
          <a:prstGeom prst="roundRect">
            <a:avLst>
              <a:gd name="adj" fmla="val 22857"/>
            </a:avLst>
          </a:prstGeom>
          <a:solidFill>
            <a:srgbClr val="12172B"/>
          </a:solidFill>
          <a:ln/>
        </p:spPr>
      </p:sp>
      <p:sp>
        <p:nvSpPr>
          <p:cNvPr id="15" name="Shape 13"/>
          <p:cNvSpPr/>
          <p:nvPr/>
        </p:nvSpPr>
        <p:spPr>
          <a:xfrm>
            <a:off x="4337304" y="1984248"/>
            <a:ext cx="3514344" cy="164592"/>
          </a:xfrm>
          <a:prstGeom prst="rect">
            <a:avLst/>
          </a:prstGeom>
          <a:solidFill>
            <a:srgbClr val="12172B"/>
          </a:solidFill>
          <a:ln/>
        </p:spPr>
      </p:sp>
      <p:sp>
        <p:nvSpPr>
          <p:cNvPr id="16" name="Shape 14"/>
          <p:cNvSpPr/>
          <p:nvPr/>
        </p:nvSpPr>
        <p:spPr>
          <a:xfrm>
            <a:off x="4474464" y="1933956"/>
            <a:ext cx="109728" cy="109728"/>
          </a:xfrm>
          <a:prstGeom prst="ellipse">
            <a:avLst/>
          </a:prstGeom>
          <a:solidFill>
            <a:srgbClr val="E85D5D"/>
          </a:solidFill>
          <a:ln/>
        </p:spPr>
      </p:sp>
      <p:sp>
        <p:nvSpPr>
          <p:cNvPr id="17" name="Shape 15"/>
          <p:cNvSpPr/>
          <p:nvPr/>
        </p:nvSpPr>
        <p:spPr>
          <a:xfrm>
            <a:off x="4675632" y="1933956"/>
            <a:ext cx="109728" cy="109728"/>
          </a:xfrm>
          <a:prstGeom prst="ellipse">
            <a:avLst/>
          </a:prstGeom>
          <a:solidFill>
            <a:srgbClr val="E8C24F"/>
          </a:solidFill>
          <a:ln/>
        </p:spPr>
      </p:sp>
      <p:sp>
        <p:nvSpPr>
          <p:cNvPr id="18" name="Shape 16"/>
          <p:cNvSpPr/>
          <p:nvPr/>
        </p:nvSpPr>
        <p:spPr>
          <a:xfrm>
            <a:off x="4876800" y="1933956"/>
            <a:ext cx="109728" cy="109728"/>
          </a:xfrm>
          <a:prstGeom prst="ellipse">
            <a:avLst/>
          </a:prstGeom>
          <a:solidFill>
            <a:srgbClr val="2FD48C"/>
          </a:solidFill>
          <a:ln/>
        </p:spPr>
      </p:sp>
      <p:sp>
        <p:nvSpPr>
          <p:cNvPr id="19" name="Text 17"/>
          <p:cNvSpPr/>
          <p:nvPr/>
        </p:nvSpPr>
        <p:spPr>
          <a:xfrm>
            <a:off x="4337304" y="1847088"/>
            <a:ext cx="3514344" cy="274320"/>
          </a:xfrm>
          <a:prstGeom prst="rect">
            <a:avLst/>
          </a:prstGeom>
          <a:noFill/>
          <a:ln/>
        </p:spPr>
        <p:txBody>
          <a:bodyPr wrap="square" rtlCol="0" anchor="ctr"/>
          <a:lstStyle/>
          <a:p>
            <a:pPr algn="ctr" indent="0" marL="0">
              <a:buNone/>
            </a:pPr>
            <a:r>
              <a:rPr lang="en-US" sz="1000" dirty="0">
                <a:solidFill>
                  <a:srgbClr val="8892A6"/>
                </a:solidFill>
                <a:latin typeface="Courier New" pitchFamily="34" charset="0"/>
                <a:ea typeface="Courier New" pitchFamily="34" charset="-122"/>
                <a:cs typeface="Courier New" pitchFamily="34" charset="-120"/>
              </a:rPr>
              <a:t>HTTP</a:t>
            </a:r>
            <a:endParaRPr lang="en-US" sz="1000" dirty="0"/>
          </a:p>
        </p:txBody>
      </p:sp>
      <p:sp>
        <p:nvSpPr>
          <p:cNvPr id="20" name="Text 18"/>
          <p:cNvSpPr/>
          <p:nvPr/>
        </p:nvSpPr>
        <p:spPr>
          <a:xfrm>
            <a:off x="4593336" y="2286000"/>
            <a:ext cx="3002280" cy="2468880"/>
          </a:xfrm>
          <a:prstGeom prst="rect">
            <a:avLst/>
          </a:prstGeom>
          <a:noFill/>
          <a:ln/>
        </p:spPr>
        <p:txBody>
          <a:bodyPr wrap="square" rtlCol="0" anchor="t"/>
          <a:lstStyle/>
          <a:p>
            <a:pPr indent="0" marL="0">
              <a:lnSpc>
                <a:spcPct val="128000"/>
              </a:lnSpc>
              <a:buNone/>
            </a:pPr>
            <a:r>
              <a:rPr lang="en-US" sz="1250" dirty="0">
                <a:solidFill>
                  <a:srgbClr val="2FD48C"/>
                </a:solidFill>
                <a:latin typeface="Courier New" pitchFamily="34" charset="0"/>
                <a:ea typeface="Courier New" pitchFamily="34" charset="-122"/>
                <a:cs typeface="Courier New" pitchFamily="34" charset="-120"/>
              </a:rPr>
              <a:t>$ curl -I 10.10.10.5</a:t>
            </a:r>
            <a:endParaRPr lang="en-US" sz="1250" dirty="0"/>
          </a:p>
          <a:p>
            <a:pPr indent="0" marL="0">
              <a:lnSpc>
                <a:spcPct val="128000"/>
              </a:lnSpc>
              <a:buNone/>
            </a:pPr>
            <a:r>
              <a:rPr lang="en-US" sz="1250" dirty="0">
                <a:solidFill>
                  <a:srgbClr val="C8D3E0"/>
                </a:solidFill>
                <a:latin typeface="Courier New" pitchFamily="34" charset="0"/>
                <a:ea typeface="Courier New" pitchFamily="34" charset="-122"/>
                <a:cs typeface="Courier New" pitchFamily="34" charset="-120"/>
              </a:rPr>
              <a:t>HTTP/1.1 200 OK</a:t>
            </a:r>
            <a:endParaRPr lang="en-US" sz="1250" dirty="0"/>
          </a:p>
          <a:p>
            <a:pPr indent="0" marL="0">
              <a:lnSpc>
                <a:spcPct val="128000"/>
              </a:lnSpc>
              <a:buNone/>
            </a:pPr>
            <a:r>
              <a:rPr lang="en-US" sz="1250" dirty="0">
                <a:solidFill>
                  <a:srgbClr val="C8D3E0"/>
                </a:solidFill>
                <a:latin typeface="Courier New" pitchFamily="34" charset="0"/>
                <a:ea typeface="Courier New" pitchFamily="34" charset="-122"/>
                <a:cs typeface="Courier New" pitchFamily="34" charset="-120"/>
              </a:rPr>
              <a:t>Server: Apache/2.4.41</a:t>
            </a:r>
            <a:endParaRPr lang="en-US" sz="1250" dirty="0"/>
          </a:p>
          <a:p>
            <a:pPr indent="0" marL="0">
              <a:lnSpc>
                <a:spcPct val="128000"/>
              </a:lnSpc>
              <a:buNone/>
            </a:pPr>
            <a:r>
              <a:rPr lang="en-US" sz="1250" dirty="0">
                <a:solidFill>
                  <a:srgbClr val="C8D3E0"/>
                </a:solidFill>
                <a:latin typeface="Courier New" pitchFamily="34" charset="0"/>
                <a:ea typeface="Courier New" pitchFamily="34" charset="-122"/>
                <a:cs typeface="Courier New" pitchFamily="34" charset="-120"/>
              </a:rPr>
              <a:t>(Ubuntu)</a:t>
            </a:r>
            <a:endParaRPr lang="en-US" sz="1250" dirty="0"/>
          </a:p>
        </p:txBody>
      </p:sp>
      <p:sp>
        <p:nvSpPr>
          <p:cNvPr id="21" name="Shape 19"/>
          <p:cNvSpPr/>
          <p:nvPr/>
        </p:nvSpPr>
        <p:spPr>
          <a:xfrm>
            <a:off x="8171688" y="1828800"/>
            <a:ext cx="3514344" cy="3108960"/>
          </a:xfrm>
          <a:prstGeom prst="roundRect">
            <a:avLst>
              <a:gd name="adj" fmla="val 2353"/>
            </a:avLst>
          </a:prstGeom>
          <a:solidFill>
            <a:srgbClr val="05070F"/>
          </a:solidFill>
          <a:ln w="12700">
            <a:solidFill>
              <a:srgbClr val="2A3350"/>
            </a:solidFill>
            <a:prstDash val="solid"/>
          </a:ln>
          <a:effectLst>
            <a:outerShdw sx="100000" sy="100000" kx="0" ky="0" algn="bl" rotWithShape="0" blurRad="101600" dist="38100" dir="5400000">
              <a:srgbClr val="000000">
                <a:alpha val="40000"/>
              </a:srgbClr>
            </a:outerShdw>
          </a:effectLst>
        </p:spPr>
      </p:sp>
      <p:sp>
        <p:nvSpPr>
          <p:cNvPr id="22" name="Shape 20"/>
          <p:cNvSpPr/>
          <p:nvPr/>
        </p:nvSpPr>
        <p:spPr>
          <a:xfrm>
            <a:off x="8171688" y="1828800"/>
            <a:ext cx="3514344" cy="320040"/>
          </a:xfrm>
          <a:prstGeom prst="roundRect">
            <a:avLst>
              <a:gd name="adj" fmla="val 22857"/>
            </a:avLst>
          </a:prstGeom>
          <a:solidFill>
            <a:srgbClr val="12172B"/>
          </a:solidFill>
          <a:ln/>
        </p:spPr>
      </p:sp>
      <p:sp>
        <p:nvSpPr>
          <p:cNvPr id="23" name="Shape 21"/>
          <p:cNvSpPr/>
          <p:nvPr/>
        </p:nvSpPr>
        <p:spPr>
          <a:xfrm>
            <a:off x="8171688" y="1984248"/>
            <a:ext cx="3514344" cy="164592"/>
          </a:xfrm>
          <a:prstGeom prst="rect">
            <a:avLst/>
          </a:prstGeom>
          <a:solidFill>
            <a:srgbClr val="12172B"/>
          </a:solidFill>
          <a:ln/>
        </p:spPr>
      </p:sp>
      <p:sp>
        <p:nvSpPr>
          <p:cNvPr id="24" name="Shape 22"/>
          <p:cNvSpPr/>
          <p:nvPr/>
        </p:nvSpPr>
        <p:spPr>
          <a:xfrm>
            <a:off x="8308848" y="1933956"/>
            <a:ext cx="109728" cy="109728"/>
          </a:xfrm>
          <a:prstGeom prst="ellipse">
            <a:avLst/>
          </a:prstGeom>
          <a:solidFill>
            <a:srgbClr val="E85D5D"/>
          </a:solidFill>
          <a:ln/>
        </p:spPr>
      </p:sp>
      <p:sp>
        <p:nvSpPr>
          <p:cNvPr id="25" name="Shape 23"/>
          <p:cNvSpPr/>
          <p:nvPr/>
        </p:nvSpPr>
        <p:spPr>
          <a:xfrm>
            <a:off x="8510016" y="1933956"/>
            <a:ext cx="109728" cy="109728"/>
          </a:xfrm>
          <a:prstGeom prst="ellipse">
            <a:avLst/>
          </a:prstGeom>
          <a:solidFill>
            <a:srgbClr val="E8C24F"/>
          </a:solidFill>
          <a:ln/>
        </p:spPr>
      </p:sp>
      <p:sp>
        <p:nvSpPr>
          <p:cNvPr id="26" name="Shape 24"/>
          <p:cNvSpPr/>
          <p:nvPr/>
        </p:nvSpPr>
        <p:spPr>
          <a:xfrm>
            <a:off x="8711184" y="1933956"/>
            <a:ext cx="109728" cy="109728"/>
          </a:xfrm>
          <a:prstGeom prst="ellipse">
            <a:avLst/>
          </a:prstGeom>
          <a:solidFill>
            <a:srgbClr val="2FD48C"/>
          </a:solidFill>
          <a:ln/>
        </p:spPr>
      </p:sp>
      <p:sp>
        <p:nvSpPr>
          <p:cNvPr id="27" name="Text 25"/>
          <p:cNvSpPr/>
          <p:nvPr/>
        </p:nvSpPr>
        <p:spPr>
          <a:xfrm>
            <a:off x="8171688" y="1847088"/>
            <a:ext cx="3514344" cy="274320"/>
          </a:xfrm>
          <a:prstGeom prst="rect">
            <a:avLst/>
          </a:prstGeom>
          <a:noFill/>
          <a:ln/>
        </p:spPr>
        <p:txBody>
          <a:bodyPr wrap="square" rtlCol="0" anchor="ctr"/>
          <a:lstStyle/>
          <a:p>
            <a:pPr algn="ctr" indent="0" marL="0">
              <a:buNone/>
            </a:pPr>
            <a:r>
              <a:rPr lang="en-US" sz="1000" dirty="0">
                <a:solidFill>
                  <a:srgbClr val="8892A6"/>
                </a:solidFill>
                <a:latin typeface="Courier New" pitchFamily="34" charset="0"/>
                <a:ea typeface="Courier New" pitchFamily="34" charset="-122"/>
                <a:cs typeface="Courier New" pitchFamily="34" charset="-120"/>
              </a:rPr>
              <a:t>SMTP</a:t>
            </a:r>
            <a:endParaRPr lang="en-US" sz="1000" dirty="0"/>
          </a:p>
        </p:txBody>
      </p:sp>
      <p:sp>
        <p:nvSpPr>
          <p:cNvPr id="28" name="Text 26"/>
          <p:cNvSpPr/>
          <p:nvPr/>
        </p:nvSpPr>
        <p:spPr>
          <a:xfrm>
            <a:off x="8427720" y="2286000"/>
            <a:ext cx="3002280" cy="2468880"/>
          </a:xfrm>
          <a:prstGeom prst="rect">
            <a:avLst/>
          </a:prstGeom>
          <a:noFill/>
          <a:ln/>
        </p:spPr>
        <p:txBody>
          <a:bodyPr wrap="square" rtlCol="0" anchor="t"/>
          <a:lstStyle/>
          <a:p>
            <a:pPr indent="0" marL="0">
              <a:lnSpc>
                <a:spcPct val="128000"/>
              </a:lnSpc>
              <a:buNone/>
            </a:pPr>
            <a:r>
              <a:rPr lang="en-US" sz="1250" dirty="0">
                <a:solidFill>
                  <a:srgbClr val="2FD48C"/>
                </a:solidFill>
                <a:latin typeface="Courier New" pitchFamily="34" charset="0"/>
                <a:ea typeface="Courier New" pitchFamily="34" charset="-122"/>
                <a:cs typeface="Courier New" pitchFamily="34" charset="-120"/>
              </a:rPr>
              <a:t>$ nc -nv 10.10.10.5 25</a:t>
            </a:r>
            <a:endParaRPr lang="en-US" sz="1250" dirty="0"/>
          </a:p>
          <a:p>
            <a:pPr indent="0" marL="0">
              <a:lnSpc>
                <a:spcPct val="128000"/>
              </a:lnSpc>
              <a:buNone/>
            </a:pPr>
            <a:r>
              <a:rPr lang="en-US" sz="1250" dirty="0">
                <a:solidFill>
                  <a:srgbClr val="C8D3E0"/>
                </a:solidFill>
                <a:latin typeface="Courier New" pitchFamily="34" charset="0"/>
                <a:ea typeface="Courier New" pitchFamily="34" charset="-122"/>
                <a:cs typeface="Courier New" pitchFamily="34" charset="-120"/>
              </a:rPr>
              <a:t>220 mail.local ESMTP</a:t>
            </a:r>
            <a:endParaRPr lang="en-US" sz="1250" dirty="0"/>
          </a:p>
          <a:p>
            <a:pPr indent="0" marL="0">
              <a:lnSpc>
                <a:spcPct val="128000"/>
              </a:lnSpc>
              <a:buNone/>
            </a:pPr>
            <a:r>
              <a:rPr lang="en-US" sz="1250" dirty="0">
                <a:solidFill>
                  <a:srgbClr val="C8D3E0"/>
                </a:solidFill>
                <a:latin typeface="Courier New" pitchFamily="34" charset="0"/>
                <a:ea typeface="Courier New" pitchFamily="34" charset="-122"/>
                <a:cs typeface="Courier New" pitchFamily="34" charset="-120"/>
              </a:rPr>
              <a:t>Postfix (Ubuntu)</a:t>
            </a:r>
            <a:endParaRPr lang="en-US" sz="1250" dirty="0"/>
          </a:p>
        </p:txBody>
      </p:sp>
      <p:sp>
        <p:nvSpPr>
          <p:cNvPr id="29" name="Shape 27"/>
          <p:cNvSpPr/>
          <p:nvPr/>
        </p:nvSpPr>
        <p:spPr>
          <a:xfrm>
            <a:off x="502920" y="5257800"/>
            <a:ext cx="11183112" cy="1051560"/>
          </a:xfrm>
          <a:prstGeom prst="roundRect">
            <a:avLst>
              <a:gd name="adj" fmla="val 6957"/>
            </a:avLst>
          </a:prstGeom>
          <a:solidFill>
            <a:srgbClr val="1C2541"/>
          </a:solidFill>
          <a:ln/>
        </p:spPr>
      </p:sp>
      <p:sp>
        <p:nvSpPr>
          <p:cNvPr id="30" name="Text 28"/>
          <p:cNvSpPr/>
          <p:nvPr/>
        </p:nvSpPr>
        <p:spPr>
          <a:xfrm>
            <a:off x="777240" y="5394960"/>
            <a:ext cx="10634472" cy="822960"/>
          </a:xfrm>
          <a:prstGeom prst="rect">
            <a:avLst/>
          </a:prstGeom>
          <a:noFill/>
          <a:ln/>
        </p:spPr>
        <p:txBody>
          <a:bodyPr wrap="square" rtlCol="0" anchor="t"/>
          <a:lstStyle/>
          <a:p>
            <a:pPr indent="0" marL="0">
              <a:lnSpc>
                <a:spcPct val="125000"/>
              </a:lnSpc>
              <a:buNone/>
            </a:pPr>
            <a:r>
              <a:rPr lang="en-US" sz="1250" i="1" dirty="0">
                <a:solidFill>
                  <a:srgbClr val="D6DCE8"/>
                </a:solidFill>
                <a:latin typeface="Calibri" pitchFamily="34" charset="0"/>
                <a:ea typeface="Calibri" pitchFamily="34" charset="-122"/>
                <a:cs typeface="Calibri" pitchFamily="34" charset="-120"/>
              </a:rPr>
              <a:t>Ask the room: “What could each of these three banners tell an attacker about patching status?” Draw out that ProFTPD 1.3.5 and Apache 2.4.41 both have documented public CVEs.</a:t>
            </a:r>
            <a:endParaRPr lang="en-US" sz="1250" dirty="0"/>
          </a:p>
        </p:txBody>
      </p:sp>
      <p:sp>
        <p:nvSpPr>
          <p:cNvPr id="31" name="Text 29"/>
          <p:cNvSpPr/>
          <p:nvPr/>
        </p:nvSpPr>
        <p:spPr>
          <a:xfrm>
            <a:off x="11365992" y="6446520"/>
            <a:ext cx="457200" cy="274320"/>
          </a:xfrm>
          <a:prstGeom prst="rect">
            <a:avLst/>
          </a:prstGeom>
          <a:noFill/>
          <a:ln/>
        </p:spPr>
        <p:txBody>
          <a:bodyPr wrap="square" rtlCol="0" anchor="ctr"/>
          <a:lstStyle/>
          <a:p>
            <a:pPr algn="r" indent="0" marL="0">
              <a:buNone/>
            </a:pPr>
            <a:r>
              <a:rPr lang="en-US" sz="1000" dirty="0">
                <a:solidFill>
                  <a:srgbClr val="AEB8C4"/>
                </a:solidFill>
                <a:latin typeface="Courier New" pitchFamily="34" charset="0"/>
                <a:ea typeface="Courier New" pitchFamily="34" charset="-122"/>
                <a:cs typeface="Courier New"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32B"/>
        </a:solidFill>
      </p:bgPr>
    </p:bg>
    <p:spTree>
      <p:nvGrpSpPr>
        <p:cNvPr id="1" name=""/>
        <p:cNvGrpSpPr/>
        <p:nvPr/>
      </p:nvGrpSpPr>
      <p:grpSpPr>
        <a:xfrm>
          <a:off x="0" y="0"/>
          <a:ext cx="0" cy="0"/>
          <a:chOff x="0" y="0"/>
          <a:chExt cx="0" cy="0"/>
        </a:xfrm>
      </p:grpSpPr>
      <p:sp>
        <p:nvSpPr>
          <p:cNvPr id="2" name="Text 0"/>
          <p:cNvSpPr/>
          <p:nvPr/>
        </p:nvSpPr>
        <p:spPr>
          <a:xfrm>
            <a:off x="502920" y="914400"/>
            <a:ext cx="5486400" cy="365760"/>
          </a:xfrm>
          <a:prstGeom prst="rect">
            <a:avLst/>
          </a:prstGeom>
          <a:noFill/>
          <a:ln/>
        </p:spPr>
        <p:txBody>
          <a:bodyPr wrap="square" rtlCol="0" anchor="ctr"/>
          <a:lstStyle/>
          <a:p>
            <a:pPr indent="0" marL="0">
              <a:buNone/>
            </a:pPr>
            <a:r>
              <a:rPr lang="en-US" sz="1300" b="1" spc="200" kern="0" dirty="0">
                <a:solidFill>
                  <a:srgbClr val="2FD48C"/>
                </a:solidFill>
                <a:latin typeface="Calibri" pitchFamily="34" charset="0"/>
                <a:ea typeface="Calibri" pitchFamily="34" charset="-122"/>
                <a:cs typeface="Calibri" pitchFamily="34" charset="-120"/>
              </a:rPr>
              <a:t>SECTION 03</a:t>
            </a:r>
            <a:endParaRPr lang="en-US" sz="1300" dirty="0"/>
          </a:p>
        </p:txBody>
      </p:sp>
      <p:sp>
        <p:nvSpPr>
          <p:cNvPr id="3" name="Text 1"/>
          <p:cNvSpPr/>
          <p:nvPr/>
        </p:nvSpPr>
        <p:spPr>
          <a:xfrm>
            <a:off x="502920" y="1371600"/>
            <a:ext cx="7589520" cy="1737360"/>
          </a:xfrm>
          <a:prstGeom prst="rect">
            <a:avLst/>
          </a:prstGeom>
          <a:noFill/>
          <a:ln/>
        </p:spPr>
        <p:txBody>
          <a:bodyPr wrap="square" rtlCol="0" anchor="ctr"/>
          <a:lstStyle/>
          <a:p>
            <a:pPr indent="0" marL="0">
              <a:lnSpc>
                <a:spcPct val="105000"/>
              </a:lnSpc>
              <a:buNone/>
            </a:pPr>
            <a:r>
              <a:rPr lang="en-US" sz="3800" b="1" dirty="0">
                <a:solidFill>
                  <a:srgbClr val="FFFFFF"/>
                </a:solidFill>
                <a:latin typeface="Calibri" pitchFamily="34" charset="0"/>
                <a:ea typeface="Calibri" pitchFamily="34" charset="-122"/>
                <a:cs typeface="Calibri" pitchFamily="34" charset="-120"/>
              </a:rPr>
              <a:t>The Nmap Scripting</a:t>
            </a:r>
            <a:endParaRPr lang="en-US" sz="3800" dirty="0"/>
          </a:p>
          <a:p>
            <a:pPr indent="0" marL="0">
              <a:lnSpc>
                <a:spcPct val="105000"/>
              </a:lnSpc>
              <a:buNone/>
            </a:pPr>
            <a:r>
              <a:rPr lang="en-US" sz="3800" b="1" dirty="0">
                <a:solidFill>
                  <a:srgbClr val="FFFFFF"/>
                </a:solidFill>
                <a:latin typeface="Calibri" pitchFamily="34" charset="0"/>
                <a:ea typeface="Calibri" pitchFamily="34" charset="-122"/>
                <a:cs typeface="Calibri" pitchFamily="34" charset="-120"/>
              </a:rPr>
              <a:t>Engine (NSE)</a:t>
            </a:r>
            <a:endParaRPr lang="en-US" sz="3800" dirty="0"/>
          </a:p>
        </p:txBody>
      </p:sp>
      <p:sp>
        <p:nvSpPr>
          <p:cNvPr id="4" name="Text 2"/>
          <p:cNvSpPr/>
          <p:nvPr/>
        </p:nvSpPr>
        <p:spPr>
          <a:xfrm>
            <a:off x="502920" y="3246120"/>
            <a:ext cx="6217920" cy="822960"/>
          </a:xfrm>
          <a:prstGeom prst="rect">
            <a:avLst/>
          </a:prstGeom>
          <a:noFill/>
          <a:ln/>
        </p:spPr>
        <p:txBody>
          <a:bodyPr wrap="square" rtlCol="0" anchor="ctr"/>
          <a:lstStyle/>
          <a:p>
            <a:pPr indent="0" marL="0">
              <a:lnSpc>
                <a:spcPct val="125000"/>
              </a:lnSpc>
              <a:buNone/>
            </a:pPr>
            <a:r>
              <a:rPr lang="en-US" sz="1500" dirty="0">
                <a:solidFill>
                  <a:srgbClr val="AEB8C4"/>
                </a:solidFill>
                <a:latin typeface="Calibri" pitchFamily="34" charset="0"/>
                <a:ea typeface="Calibri" pitchFamily="34" charset="-122"/>
                <a:cs typeface="Calibri" pitchFamily="34" charset="-120"/>
              </a:rPr>
              <a:t>Nmap stops being just a scanner and becomes an automation platform — written in Lua, extensible, and bundled with 600+ ready-made scripts.</a:t>
            </a:r>
            <a:endParaRPr lang="en-US" sz="1500" dirty="0"/>
          </a:p>
        </p:txBody>
      </p:sp>
      <p:sp>
        <p:nvSpPr>
          <p:cNvPr id="5" name="Shape 3"/>
          <p:cNvSpPr/>
          <p:nvPr/>
        </p:nvSpPr>
        <p:spPr>
          <a:xfrm>
            <a:off x="7498080" y="1371600"/>
            <a:ext cx="4206240" cy="4114800"/>
          </a:xfrm>
          <a:prstGeom prst="roundRect">
            <a:avLst>
              <a:gd name="adj" fmla="val 1778"/>
            </a:avLst>
          </a:prstGeom>
          <a:solidFill>
            <a:srgbClr val="05070F"/>
          </a:solidFill>
          <a:ln w="12700">
            <a:solidFill>
              <a:srgbClr val="2A3350"/>
            </a:solidFill>
            <a:prstDash val="solid"/>
          </a:ln>
          <a:effectLst>
            <a:outerShdw sx="100000" sy="100000" kx="0" ky="0" algn="bl" rotWithShape="0" blurRad="101600" dist="38100" dir="5400000">
              <a:srgbClr val="000000">
                <a:alpha val="40000"/>
              </a:srgbClr>
            </a:outerShdw>
          </a:effectLst>
        </p:spPr>
      </p:sp>
      <p:sp>
        <p:nvSpPr>
          <p:cNvPr id="6" name="Shape 4"/>
          <p:cNvSpPr/>
          <p:nvPr/>
        </p:nvSpPr>
        <p:spPr>
          <a:xfrm>
            <a:off x="7498080" y="1371600"/>
            <a:ext cx="4206240" cy="320040"/>
          </a:xfrm>
          <a:prstGeom prst="roundRect">
            <a:avLst>
              <a:gd name="adj" fmla="val 22857"/>
            </a:avLst>
          </a:prstGeom>
          <a:solidFill>
            <a:srgbClr val="12172B"/>
          </a:solidFill>
          <a:ln/>
        </p:spPr>
      </p:sp>
      <p:sp>
        <p:nvSpPr>
          <p:cNvPr id="7" name="Shape 5"/>
          <p:cNvSpPr/>
          <p:nvPr/>
        </p:nvSpPr>
        <p:spPr>
          <a:xfrm>
            <a:off x="7498080" y="1527048"/>
            <a:ext cx="4206240" cy="164592"/>
          </a:xfrm>
          <a:prstGeom prst="rect">
            <a:avLst/>
          </a:prstGeom>
          <a:solidFill>
            <a:srgbClr val="12172B"/>
          </a:solidFill>
          <a:ln/>
        </p:spPr>
      </p:sp>
      <p:sp>
        <p:nvSpPr>
          <p:cNvPr id="8" name="Shape 6"/>
          <p:cNvSpPr/>
          <p:nvPr/>
        </p:nvSpPr>
        <p:spPr>
          <a:xfrm>
            <a:off x="7635240" y="1476756"/>
            <a:ext cx="109728" cy="109728"/>
          </a:xfrm>
          <a:prstGeom prst="ellipse">
            <a:avLst/>
          </a:prstGeom>
          <a:solidFill>
            <a:srgbClr val="E85D5D"/>
          </a:solidFill>
          <a:ln/>
        </p:spPr>
      </p:sp>
      <p:sp>
        <p:nvSpPr>
          <p:cNvPr id="9" name="Shape 7"/>
          <p:cNvSpPr/>
          <p:nvPr/>
        </p:nvSpPr>
        <p:spPr>
          <a:xfrm>
            <a:off x="7836408" y="1476756"/>
            <a:ext cx="109728" cy="109728"/>
          </a:xfrm>
          <a:prstGeom prst="ellipse">
            <a:avLst/>
          </a:prstGeom>
          <a:solidFill>
            <a:srgbClr val="E8C24F"/>
          </a:solidFill>
          <a:ln/>
        </p:spPr>
      </p:sp>
      <p:sp>
        <p:nvSpPr>
          <p:cNvPr id="10" name="Shape 8"/>
          <p:cNvSpPr/>
          <p:nvPr/>
        </p:nvSpPr>
        <p:spPr>
          <a:xfrm>
            <a:off x="8037576" y="1476756"/>
            <a:ext cx="109728" cy="109728"/>
          </a:xfrm>
          <a:prstGeom prst="ellipse">
            <a:avLst/>
          </a:prstGeom>
          <a:solidFill>
            <a:srgbClr val="2FD48C"/>
          </a:solidFill>
          <a:ln/>
        </p:spPr>
      </p:sp>
      <p:sp>
        <p:nvSpPr>
          <p:cNvPr id="11" name="Text 9"/>
          <p:cNvSpPr/>
          <p:nvPr/>
        </p:nvSpPr>
        <p:spPr>
          <a:xfrm>
            <a:off x="7498080" y="1389888"/>
            <a:ext cx="4206240" cy="274320"/>
          </a:xfrm>
          <a:prstGeom prst="rect">
            <a:avLst/>
          </a:prstGeom>
          <a:noFill/>
          <a:ln/>
        </p:spPr>
        <p:txBody>
          <a:bodyPr wrap="square" rtlCol="0" anchor="ctr"/>
          <a:lstStyle/>
          <a:p>
            <a:pPr algn="ctr" indent="0" marL="0">
              <a:buNone/>
            </a:pPr>
            <a:r>
              <a:rPr lang="en-US" sz="1000" dirty="0">
                <a:solidFill>
                  <a:srgbClr val="8892A6"/>
                </a:solidFill>
                <a:latin typeface="Courier New" pitchFamily="34" charset="0"/>
                <a:ea typeface="Courier New" pitchFamily="34" charset="-122"/>
                <a:cs typeface="Courier New" pitchFamily="34" charset="-120"/>
              </a:rPr>
              <a:t>kali@pentest: ~</a:t>
            </a:r>
            <a:endParaRPr lang="en-US" sz="1000" dirty="0"/>
          </a:p>
        </p:txBody>
      </p:sp>
      <p:sp>
        <p:nvSpPr>
          <p:cNvPr id="12" name="Text 10"/>
          <p:cNvSpPr/>
          <p:nvPr/>
        </p:nvSpPr>
        <p:spPr>
          <a:xfrm>
            <a:off x="7754112" y="1828800"/>
            <a:ext cx="3694176" cy="3474720"/>
          </a:xfrm>
          <a:prstGeom prst="rect">
            <a:avLst/>
          </a:prstGeom>
          <a:noFill/>
          <a:ln/>
        </p:spPr>
        <p:txBody>
          <a:bodyPr wrap="square" rtlCol="0" anchor="t"/>
          <a:lstStyle/>
          <a:p>
            <a:pPr indent="0" marL="0">
              <a:lnSpc>
                <a:spcPct val="128000"/>
              </a:lnSpc>
              <a:buNone/>
            </a:pPr>
            <a:r>
              <a:rPr lang="en-US" sz="1350" dirty="0">
                <a:solidFill>
                  <a:srgbClr val="2FD48C"/>
                </a:solidFill>
                <a:latin typeface="Courier New" pitchFamily="34" charset="0"/>
                <a:ea typeface="Courier New" pitchFamily="34" charset="-122"/>
                <a:cs typeface="Courier New" pitchFamily="34" charset="-120"/>
              </a:rPr>
              <a:t>$ nmap --script vuln 10.10.10.5</a:t>
            </a:r>
            <a:endParaRPr lang="en-US" sz="1350" dirty="0"/>
          </a:p>
          <a:p>
            <a:pPr indent="0" marL="0">
              <a:lnSpc>
                <a:spcPct val="128000"/>
              </a:lnSpc>
              <a:buNone/>
            </a:pPr>
            <a:endParaRPr lang="en-US" sz="1350" dirty="0"/>
          </a:p>
          <a:p>
            <a:pPr indent="0" marL="0">
              <a:lnSpc>
                <a:spcPct val="128000"/>
              </a:lnSpc>
              <a:buNone/>
            </a:pPr>
            <a:r>
              <a:rPr lang="en-US" sz="1350" dirty="0">
                <a:solidFill>
                  <a:srgbClr val="8892A6"/>
                </a:solidFill>
                <a:latin typeface="Courier New" pitchFamily="34" charset="0"/>
                <a:ea typeface="Courier New" pitchFamily="34" charset="-122"/>
                <a:cs typeface="Courier New" pitchFamily="34" charset="-120"/>
              </a:rPr>
              <a:t>PORT   STATE SERVICE</a:t>
            </a:r>
            <a:endParaRPr lang="en-US" sz="1350" dirty="0"/>
          </a:p>
          <a:p>
            <a:pPr indent="0" marL="0">
              <a:lnSpc>
                <a:spcPct val="128000"/>
              </a:lnSpc>
              <a:buNone/>
            </a:pPr>
            <a:r>
              <a:rPr lang="en-US" sz="1350" dirty="0">
                <a:solidFill>
                  <a:srgbClr val="C8D3E0"/>
                </a:solidFill>
                <a:latin typeface="Courier New" pitchFamily="34" charset="0"/>
                <a:ea typeface="Courier New" pitchFamily="34" charset="-122"/>
                <a:cs typeface="Courier New" pitchFamily="34" charset="-120"/>
              </a:rPr>
              <a:t>80/tcp open  http</a:t>
            </a:r>
            <a:endParaRPr lang="en-US" sz="1350" dirty="0"/>
          </a:p>
          <a:p>
            <a:pPr indent="0" marL="0">
              <a:lnSpc>
                <a:spcPct val="128000"/>
              </a:lnSpc>
              <a:buNone/>
            </a:pPr>
            <a:r>
              <a:rPr lang="en-US" sz="1350" dirty="0">
                <a:solidFill>
                  <a:srgbClr val="C8D3E0"/>
                </a:solidFill>
                <a:latin typeface="Courier New" pitchFamily="34" charset="0"/>
                <a:ea typeface="Courier New" pitchFamily="34" charset="-122"/>
                <a:cs typeface="Courier New" pitchFamily="34" charset="-120"/>
              </a:rPr>
              <a:t>| http-slowloris-check:</a:t>
            </a:r>
            <a:endParaRPr lang="en-US" sz="1350" dirty="0"/>
          </a:p>
          <a:p>
            <a:pPr indent="0" marL="0">
              <a:lnSpc>
                <a:spcPct val="128000"/>
              </a:lnSpc>
              <a:buNone/>
            </a:pPr>
            <a:r>
              <a:rPr lang="en-US" sz="1350" dirty="0">
                <a:solidFill>
                  <a:srgbClr val="E85D5D"/>
                </a:solidFill>
                <a:latin typeface="Courier New" pitchFamily="34" charset="0"/>
                <a:ea typeface="Courier New" pitchFamily="34" charset="-122"/>
                <a:cs typeface="Courier New" pitchFamily="34" charset="-120"/>
              </a:rPr>
              <a:t>|   VULNERABLE:</a:t>
            </a:r>
            <a:endParaRPr lang="en-US" sz="1350" dirty="0"/>
          </a:p>
          <a:p>
            <a:pPr indent="0" marL="0">
              <a:lnSpc>
                <a:spcPct val="128000"/>
              </a:lnSpc>
              <a:buNone/>
            </a:pPr>
            <a:r>
              <a:rPr lang="en-US" sz="1350" dirty="0">
                <a:solidFill>
                  <a:srgbClr val="C8D3E0"/>
                </a:solidFill>
                <a:latin typeface="Courier New" pitchFamily="34" charset="0"/>
                <a:ea typeface="Courier New" pitchFamily="34" charset="-122"/>
                <a:cs typeface="Courier New" pitchFamily="34" charset="-120"/>
              </a:rPr>
              <a:t>|   Slowloris DoS attack</a:t>
            </a:r>
            <a:endParaRPr lang="en-US" sz="1350" dirty="0"/>
          </a:p>
          <a:p>
            <a:pPr indent="0" marL="0">
              <a:lnSpc>
                <a:spcPct val="128000"/>
              </a:lnSpc>
              <a:buNone/>
            </a:pPr>
            <a:r>
              <a:rPr lang="en-US" sz="1350" dirty="0">
                <a:solidFill>
                  <a:srgbClr val="C8D3E0"/>
                </a:solidFill>
                <a:latin typeface="Courier New" pitchFamily="34" charset="0"/>
                <a:ea typeface="Courier New" pitchFamily="34" charset="-122"/>
                <a:cs typeface="Courier New" pitchFamily="34" charset="-120"/>
              </a:rPr>
              <a:t>|_    State: LIKELY VULNERABLE</a:t>
            </a:r>
            <a:endParaRPr lang="en-US" sz="1350" dirty="0"/>
          </a:p>
          <a:p>
            <a:pPr indent="0" marL="0">
              <a:lnSpc>
                <a:spcPct val="128000"/>
              </a:lnSpc>
              <a:buNone/>
            </a:pPr>
            <a:endParaRPr lang="en-US" sz="1350" dirty="0"/>
          </a:p>
          <a:p>
            <a:pPr indent="0" marL="0">
              <a:lnSpc>
                <a:spcPct val="128000"/>
              </a:lnSpc>
              <a:buNone/>
            </a:pPr>
            <a:r>
              <a:rPr lang="en-US" sz="1350" dirty="0">
                <a:solidFill>
                  <a:srgbClr val="C8D3E0"/>
                </a:solidFill>
                <a:latin typeface="Courier New" pitchFamily="34" charset="0"/>
                <a:ea typeface="Courier New" pitchFamily="34" charset="-122"/>
                <a:cs typeface="Courier New" pitchFamily="34" charset="-120"/>
              </a:rPr>
              <a:t>445/tcp open  microsoft-ds</a:t>
            </a:r>
            <a:endParaRPr lang="en-US" sz="1350" dirty="0"/>
          </a:p>
          <a:p>
            <a:pPr indent="0" marL="0">
              <a:lnSpc>
                <a:spcPct val="128000"/>
              </a:lnSpc>
              <a:buNone/>
            </a:pPr>
            <a:r>
              <a:rPr lang="en-US" sz="1350" dirty="0">
                <a:solidFill>
                  <a:srgbClr val="C8D3E0"/>
                </a:solidFill>
                <a:latin typeface="Courier New" pitchFamily="34" charset="0"/>
                <a:ea typeface="Courier New" pitchFamily="34" charset="-122"/>
                <a:cs typeface="Courier New" pitchFamily="34" charset="-120"/>
              </a:rPr>
              <a:t>| smb-vuln-ms17-010:</a:t>
            </a:r>
            <a:endParaRPr lang="en-US" sz="1350" dirty="0"/>
          </a:p>
          <a:p>
            <a:pPr indent="0" marL="0">
              <a:lnSpc>
                <a:spcPct val="128000"/>
              </a:lnSpc>
              <a:buNone/>
            </a:pPr>
            <a:r>
              <a:rPr lang="en-US" sz="1350" dirty="0">
                <a:solidFill>
                  <a:srgbClr val="E85D5D"/>
                </a:solidFill>
                <a:latin typeface="Courier New" pitchFamily="34" charset="0"/>
                <a:ea typeface="Courier New" pitchFamily="34" charset="-122"/>
                <a:cs typeface="Courier New" pitchFamily="34" charset="-120"/>
              </a:rPr>
              <a:t>|   VULNERABLE:</a:t>
            </a:r>
            <a:endParaRPr lang="en-US" sz="1350" dirty="0"/>
          </a:p>
          <a:p>
            <a:pPr indent="0" marL="0">
              <a:lnSpc>
                <a:spcPct val="128000"/>
              </a:lnSpc>
              <a:buNone/>
            </a:pPr>
            <a:r>
              <a:rPr lang="en-US" sz="1350" dirty="0">
                <a:solidFill>
                  <a:srgbClr val="C8D3E0"/>
                </a:solidFill>
                <a:latin typeface="Courier New" pitchFamily="34" charset="0"/>
                <a:ea typeface="Courier New" pitchFamily="34" charset="-122"/>
                <a:cs typeface="Courier New" pitchFamily="34" charset="-120"/>
              </a:rPr>
              <a:t>|_  Remote Code Execution</a:t>
            </a:r>
            <a:endParaRPr lang="en-US" sz="1350" dirty="0"/>
          </a:p>
        </p:txBody>
      </p:sp>
      <p:sp>
        <p:nvSpPr>
          <p:cNvPr id="13" name="Text 11"/>
          <p:cNvSpPr/>
          <p:nvPr/>
        </p:nvSpPr>
        <p:spPr>
          <a:xfrm>
            <a:off x="11365992" y="6446520"/>
            <a:ext cx="457200" cy="274320"/>
          </a:xfrm>
          <a:prstGeom prst="rect">
            <a:avLst/>
          </a:prstGeom>
          <a:noFill/>
          <a:ln/>
        </p:spPr>
        <p:txBody>
          <a:bodyPr wrap="square" rtlCol="0" anchor="ctr"/>
          <a:lstStyle/>
          <a:p>
            <a:pPr algn="r" indent="0" marL="0">
              <a:buNone/>
            </a:pPr>
            <a:r>
              <a:rPr lang="en-US" sz="1000" dirty="0">
                <a:solidFill>
                  <a:srgbClr val="AEB8C4"/>
                </a:solidFill>
                <a:latin typeface="Courier New" pitchFamily="34" charset="0"/>
                <a:ea typeface="Courier New" pitchFamily="34" charset="-122"/>
                <a:cs typeface="Courier New"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rtlCol="0" anchor="ctr"/>
          <a:lstStyle/>
          <a:p>
            <a:pPr algn="l" indent="0" marL="0">
              <a:buNone/>
            </a:pPr>
            <a:r>
              <a:rPr lang="en-US" sz="1200" b="1" spc="200" kern="0" dirty="0">
                <a:solidFill>
                  <a:srgbClr val="1E9E6A"/>
                </a:solidFill>
                <a:latin typeface="Calibri" pitchFamily="34" charset="0"/>
                <a:ea typeface="Calibri" pitchFamily="34" charset="-122"/>
                <a:cs typeface="Calibri" pitchFamily="34" charset="-120"/>
              </a:rPr>
              <a:t>NSE</a:t>
            </a:r>
            <a:endParaRPr lang="en-US" sz="1200" dirty="0"/>
          </a:p>
        </p:txBody>
      </p:sp>
      <p:sp>
        <p:nvSpPr>
          <p:cNvPr id="3" name="Text 1"/>
          <p:cNvSpPr/>
          <p:nvPr/>
        </p:nvSpPr>
        <p:spPr>
          <a:xfrm>
            <a:off x="502920" y="658368"/>
            <a:ext cx="10515600" cy="548640"/>
          </a:xfrm>
          <a:prstGeom prst="rect">
            <a:avLst/>
          </a:prstGeom>
          <a:noFill/>
          <a:ln/>
        </p:spPr>
        <p:txBody>
          <a:bodyPr wrap="square" rtlCol="0" anchor="ctr"/>
          <a:lstStyle/>
          <a:p>
            <a:pPr algn="l" indent="0" marL="0">
              <a:buNone/>
            </a:pPr>
            <a:r>
              <a:rPr lang="en-US" sz="3200" b="1" dirty="0">
                <a:solidFill>
                  <a:srgbClr val="16213E"/>
                </a:solidFill>
                <a:latin typeface="Calibri" pitchFamily="34" charset="0"/>
                <a:ea typeface="Calibri" pitchFamily="34" charset="-122"/>
                <a:cs typeface="Calibri" pitchFamily="34" charset="-120"/>
              </a:rPr>
              <a:t>NSE Script Categories</a:t>
            </a:r>
            <a:endParaRPr lang="en-US" sz="3200" dirty="0"/>
          </a:p>
        </p:txBody>
      </p:sp>
      <p:sp>
        <p:nvSpPr>
          <p:cNvPr id="4" name="Text 2"/>
          <p:cNvSpPr/>
          <p:nvPr/>
        </p:nvSpPr>
        <p:spPr>
          <a:xfrm>
            <a:off x="502920" y="1161288"/>
            <a:ext cx="10515600" cy="365760"/>
          </a:xfrm>
          <a:prstGeom prst="rect">
            <a:avLst/>
          </a:prstGeom>
          <a:noFill/>
          <a:ln/>
        </p:spPr>
        <p:txBody>
          <a:bodyPr wrap="square" rtlCol="0" anchor="ctr"/>
          <a:lstStyle/>
          <a:p>
            <a:pPr algn="l" indent="0" marL="0">
              <a:buNone/>
            </a:pPr>
            <a:r>
              <a:rPr lang="en-US" sz="1400" dirty="0">
                <a:solidFill>
                  <a:srgbClr val="5C6B84"/>
                </a:solidFill>
                <a:latin typeface="Calibri" pitchFamily="34" charset="0"/>
                <a:ea typeface="Calibri" pitchFamily="34" charset="-122"/>
                <a:cs typeface="Calibri" pitchFamily="34" charset="-120"/>
              </a:rPr>
              <a:t>Every NSE script is tagged with one or more of these 14 categories</a:t>
            </a:r>
            <a:endParaRPr lang="en-US" sz="1400" dirty="0"/>
          </a:p>
        </p:txBody>
      </p:sp>
      <p:sp>
        <p:nvSpPr>
          <p:cNvPr id="5" name="Shape 3"/>
          <p:cNvSpPr/>
          <p:nvPr/>
        </p:nvSpPr>
        <p:spPr>
          <a:xfrm>
            <a:off x="502920" y="1828800"/>
            <a:ext cx="2624328" cy="1051560"/>
          </a:xfrm>
          <a:prstGeom prst="roundRect">
            <a:avLst>
              <a:gd name="adj" fmla="val 6957"/>
            </a:avLst>
          </a:prstGeom>
          <a:solidFill>
            <a:srgbClr val="EAF7F1"/>
          </a:solidFill>
          <a:ln/>
        </p:spPr>
      </p:sp>
      <p:sp>
        <p:nvSpPr>
          <p:cNvPr id="6" name="Text 4"/>
          <p:cNvSpPr/>
          <p:nvPr/>
        </p:nvSpPr>
        <p:spPr>
          <a:xfrm>
            <a:off x="640080" y="1920240"/>
            <a:ext cx="2350008" cy="292608"/>
          </a:xfrm>
          <a:prstGeom prst="rect">
            <a:avLst/>
          </a:prstGeom>
          <a:noFill/>
          <a:ln/>
        </p:spPr>
        <p:txBody>
          <a:bodyPr wrap="square" rtlCol="0" anchor="ctr"/>
          <a:lstStyle/>
          <a:p>
            <a:pPr indent="0" marL="0">
              <a:buNone/>
            </a:pPr>
            <a:r>
              <a:rPr lang="en-US" sz="1150" b="1" dirty="0">
                <a:solidFill>
                  <a:srgbClr val="1E9E6A"/>
                </a:solidFill>
                <a:latin typeface="Courier New" pitchFamily="34" charset="0"/>
                <a:ea typeface="Courier New" pitchFamily="34" charset="-122"/>
                <a:cs typeface="Courier New" pitchFamily="34" charset="-120"/>
              </a:rPr>
              <a:t>--script=default</a:t>
            </a:r>
            <a:endParaRPr lang="en-US" sz="1150" dirty="0"/>
          </a:p>
        </p:txBody>
      </p:sp>
      <p:sp>
        <p:nvSpPr>
          <p:cNvPr id="7" name="Text 5"/>
          <p:cNvSpPr/>
          <p:nvPr/>
        </p:nvSpPr>
        <p:spPr>
          <a:xfrm>
            <a:off x="640080" y="2231136"/>
            <a:ext cx="2350008" cy="594360"/>
          </a:xfrm>
          <a:prstGeom prst="rect">
            <a:avLst/>
          </a:prstGeom>
          <a:noFill/>
          <a:ln/>
        </p:spPr>
        <p:txBody>
          <a:bodyPr wrap="square" rtlCol="0" anchor="t"/>
          <a:lstStyle/>
          <a:p>
            <a:pPr indent="0" marL="0">
              <a:lnSpc>
                <a:spcPct val="110000"/>
              </a:lnSpc>
              <a:buNone/>
            </a:pPr>
            <a:r>
              <a:rPr lang="en-US" sz="1000" dirty="0">
                <a:solidFill>
                  <a:srgbClr val="5C6B84"/>
                </a:solidFill>
                <a:latin typeface="Calibri" pitchFamily="34" charset="0"/>
                <a:ea typeface="Calibri" pitchFamily="34" charset="-122"/>
                <a:cs typeface="Calibri" pitchFamily="34" charset="-120"/>
              </a:rPr>
              <a:t>Runs with -sC, safe &amp; broadly useful</a:t>
            </a:r>
            <a:endParaRPr lang="en-US" sz="1000" dirty="0"/>
          </a:p>
        </p:txBody>
      </p:sp>
      <p:sp>
        <p:nvSpPr>
          <p:cNvPr id="8" name="Shape 6"/>
          <p:cNvSpPr/>
          <p:nvPr/>
        </p:nvSpPr>
        <p:spPr>
          <a:xfrm>
            <a:off x="3355848" y="1828800"/>
            <a:ext cx="2624328" cy="1051560"/>
          </a:xfrm>
          <a:prstGeom prst="roundRect">
            <a:avLst>
              <a:gd name="adj" fmla="val 6957"/>
            </a:avLst>
          </a:prstGeom>
          <a:solidFill>
            <a:srgbClr val="EAF7F1"/>
          </a:solidFill>
          <a:ln/>
        </p:spPr>
      </p:sp>
      <p:sp>
        <p:nvSpPr>
          <p:cNvPr id="9" name="Text 7"/>
          <p:cNvSpPr/>
          <p:nvPr/>
        </p:nvSpPr>
        <p:spPr>
          <a:xfrm>
            <a:off x="3493008" y="1920240"/>
            <a:ext cx="2350008" cy="292608"/>
          </a:xfrm>
          <a:prstGeom prst="rect">
            <a:avLst/>
          </a:prstGeom>
          <a:noFill/>
          <a:ln/>
        </p:spPr>
        <p:txBody>
          <a:bodyPr wrap="square" rtlCol="0" anchor="ctr"/>
          <a:lstStyle/>
          <a:p>
            <a:pPr indent="0" marL="0">
              <a:buNone/>
            </a:pPr>
            <a:r>
              <a:rPr lang="en-US" sz="1150" b="1" dirty="0">
                <a:solidFill>
                  <a:srgbClr val="1E9E6A"/>
                </a:solidFill>
                <a:latin typeface="Courier New" pitchFamily="34" charset="0"/>
                <a:ea typeface="Courier New" pitchFamily="34" charset="-122"/>
                <a:cs typeface="Courier New" pitchFamily="34" charset="-120"/>
              </a:rPr>
              <a:t>--script=safe</a:t>
            </a:r>
            <a:endParaRPr lang="en-US" sz="1150" dirty="0"/>
          </a:p>
        </p:txBody>
      </p:sp>
      <p:sp>
        <p:nvSpPr>
          <p:cNvPr id="10" name="Text 8"/>
          <p:cNvSpPr/>
          <p:nvPr/>
        </p:nvSpPr>
        <p:spPr>
          <a:xfrm>
            <a:off x="3493008" y="2231136"/>
            <a:ext cx="2350008" cy="594360"/>
          </a:xfrm>
          <a:prstGeom prst="rect">
            <a:avLst/>
          </a:prstGeom>
          <a:noFill/>
          <a:ln/>
        </p:spPr>
        <p:txBody>
          <a:bodyPr wrap="square" rtlCol="0" anchor="t"/>
          <a:lstStyle/>
          <a:p>
            <a:pPr indent="0" marL="0">
              <a:lnSpc>
                <a:spcPct val="110000"/>
              </a:lnSpc>
              <a:buNone/>
            </a:pPr>
            <a:r>
              <a:rPr lang="en-US" sz="1000" dirty="0">
                <a:solidFill>
                  <a:srgbClr val="5C6B84"/>
                </a:solidFill>
                <a:latin typeface="Calibri" pitchFamily="34" charset="0"/>
                <a:ea typeface="Calibri" pitchFamily="34" charset="-122"/>
                <a:cs typeface="Calibri" pitchFamily="34" charset="-120"/>
              </a:rPr>
              <a:t>Won't crash services or affect the target</a:t>
            </a:r>
            <a:endParaRPr lang="en-US" sz="1000" dirty="0"/>
          </a:p>
        </p:txBody>
      </p:sp>
      <p:sp>
        <p:nvSpPr>
          <p:cNvPr id="11" name="Shape 9"/>
          <p:cNvSpPr/>
          <p:nvPr/>
        </p:nvSpPr>
        <p:spPr>
          <a:xfrm>
            <a:off x="6208776" y="1828800"/>
            <a:ext cx="2624328" cy="1051560"/>
          </a:xfrm>
          <a:prstGeom prst="roundRect">
            <a:avLst>
              <a:gd name="adj" fmla="val 6957"/>
            </a:avLst>
          </a:prstGeom>
          <a:solidFill>
            <a:srgbClr val="EAF7F1"/>
          </a:solidFill>
          <a:ln/>
        </p:spPr>
      </p:sp>
      <p:sp>
        <p:nvSpPr>
          <p:cNvPr id="12" name="Text 10"/>
          <p:cNvSpPr/>
          <p:nvPr/>
        </p:nvSpPr>
        <p:spPr>
          <a:xfrm>
            <a:off x="6345936" y="1920240"/>
            <a:ext cx="2350008" cy="292608"/>
          </a:xfrm>
          <a:prstGeom prst="rect">
            <a:avLst/>
          </a:prstGeom>
          <a:noFill/>
          <a:ln/>
        </p:spPr>
        <p:txBody>
          <a:bodyPr wrap="square" rtlCol="0" anchor="ctr"/>
          <a:lstStyle/>
          <a:p>
            <a:pPr indent="0" marL="0">
              <a:buNone/>
            </a:pPr>
            <a:r>
              <a:rPr lang="en-US" sz="1150" b="1" dirty="0">
                <a:solidFill>
                  <a:srgbClr val="1E9E6A"/>
                </a:solidFill>
                <a:latin typeface="Courier New" pitchFamily="34" charset="0"/>
                <a:ea typeface="Courier New" pitchFamily="34" charset="-122"/>
                <a:cs typeface="Courier New" pitchFamily="34" charset="-120"/>
              </a:rPr>
              <a:t>--script=intrusive</a:t>
            </a:r>
            <a:endParaRPr lang="en-US" sz="1150" dirty="0"/>
          </a:p>
        </p:txBody>
      </p:sp>
      <p:sp>
        <p:nvSpPr>
          <p:cNvPr id="13" name="Text 11"/>
          <p:cNvSpPr/>
          <p:nvPr/>
        </p:nvSpPr>
        <p:spPr>
          <a:xfrm>
            <a:off x="6345936" y="2231136"/>
            <a:ext cx="2350008" cy="594360"/>
          </a:xfrm>
          <a:prstGeom prst="rect">
            <a:avLst/>
          </a:prstGeom>
          <a:noFill/>
          <a:ln/>
        </p:spPr>
        <p:txBody>
          <a:bodyPr wrap="square" rtlCol="0" anchor="t"/>
          <a:lstStyle/>
          <a:p>
            <a:pPr indent="0" marL="0">
              <a:lnSpc>
                <a:spcPct val="110000"/>
              </a:lnSpc>
              <a:buNone/>
            </a:pPr>
            <a:r>
              <a:rPr lang="en-US" sz="1000" dirty="0">
                <a:solidFill>
                  <a:srgbClr val="5C6B84"/>
                </a:solidFill>
                <a:latin typeface="Calibri" pitchFamily="34" charset="0"/>
                <a:ea typeface="Calibri" pitchFamily="34" charset="-122"/>
                <a:cs typeface="Calibri" pitchFamily="34" charset="-120"/>
              </a:rPr>
              <a:t>May crash services — use with caution</a:t>
            </a:r>
            <a:endParaRPr lang="en-US" sz="1000" dirty="0"/>
          </a:p>
        </p:txBody>
      </p:sp>
      <p:sp>
        <p:nvSpPr>
          <p:cNvPr id="14" name="Shape 12"/>
          <p:cNvSpPr/>
          <p:nvPr/>
        </p:nvSpPr>
        <p:spPr>
          <a:xfrm>
            <a:off x="9061704" y="1828800"/>
            <a:ext cx="2624328" cy="1051560"/>
          </a:xfrm>
          <a:prstGeom prst="roundRect">
            <a:avLst>
              <a:gd name="adj" fmla="val 6957"/>
            </a:avLst>
          </a:prstGeom>
          <a:solidFill>
            <a:srgbClr val="EAF7F1"/>
          </a:solidFill>
          <a:ln/>
        </p:spPr>
      </p:sp>
      <p:sp>
        <p:nvSpPr>
          <p:cNvPr id="15" name="Text 13"/>
          <p:cNvSpPr/>
          <p:nvPr/>
        </p:nvSpPr>
        <p:spPr>
          <a:xfrm>
            <a:off x="9198864" y="1920240"/>
            <a:ext cx="2350008" cy="292608"/>
          </a:xfrm>
          <a:prstGeom prst="rect">
            <a:avLst/>
          </a:prstGeom>
          <a:noFill/>
          <a:ln/>
        </p:spPr>
        <p:txBody>
          <a:bodyPr wrap="square" rtlCol="0" anchor="ctr"/>
          <a:lstStyle/>
          <a:p>
            <a:pPr indent="0" marL="0">
              <a:buNone/>
            </a:pPr>
            <a:r>
              <a:rPr lang="en-US" sz="1150" b="1" dirty="0">
                <a:solidFill>
                  <a:srgbClr val="1E9E6A"/>
                </a:solidFill>
                <a:latin typeface="Courier New" pitchFamily="34" charset="0"/>
                <a:ea typeface="Courier New" pitchFamily="34" charset="-122"/>
                <a:cs typeface="Courier New" pitchFamily="34" charset="-120"/>
              </a:rPr>
              <a:t>--script=vuln</a:t>
            </a:r>
            <a:endParaRPr lang="en-US" sz="1150" dirty="0"/>
          </a:p>
        </p:txBody>
      </p:sp>
      <p:sp>
        <p:nvSpPr>
          <p:cNvPr id="16" name="Text 14"/>
          <p:cNvSpPr/>
          <p:nvPr/>
        </p:nvSpPr>
        <p:spPr>
          <a:xfrm>
            <a:off x="9198864" y="2231136"/>
            <a:ext cx="2350008" cy="594360"/>
          </a:xfrm>
          <a:prstGeom prst="rect">
            <a:avLst/>
          </a:prstGeom>
          <a:noFill/>
          <a:ln/>
        </p:spPr>
        <p:txBody>
          <a:bodyPr wrap="square" rtlCol="0" anchor="t"/>
          <a:lstStyle/>
          <a:p>
            <a:pPr indent="0" marL="0">
              <a:lnSpc>
                <a:spcPct val="110000"/>
              </a:lnSpc>
              <a:buNone/>
            </a:pPr>
            <a:r>
              <a:rPr lang="en-US" sz="1000" dirty="0">
                <a:solidFill>
                  <a:srgbClr val="5C6B84"/>
                </a:solidFill>
                <a:latin typeface="Calibri" pitchFamily="34" charset="0"/>
                <a:ea typeface="Calibri" pitchFamily="34" charset="-122"/>
                <a:cs typeface="Calibri" pitchFamily="34" charset="-120"/>
              </a:rPr>
              <a:t>Checks for known CVEs / vulnerabilities</a:t>
            </a:r>
            <a:endParaRPr lang="en-US" sz="1000" dirty="0"/>
          </a:p>
        </p:txBody>
      </p:sp>
      <p:sp>
        <p:nvSpPr>
          <p:cNvPr id="17" name="Shape 15"/>
          <p:cNvSpPr/>
          <p:nvPr/>
        </p:nvSpPr>
        <p:spPr>
          <a:xfrm>
            <a:off x="502920" y="3081528"/>
            <a:ext cx="2624328" cy="1051560"/>
          </a:xfrm>
          <a:prstGeom prst="roundRect">
            <a:avLst>
              <a:gd name="adj" fmla="val 6957"/>
            </a:avLst>
          </a:prstGeom>
          <a:solidFill>
            <a:srgbClr val="F2F5F7"/>
          </a:solidFill>
          <a:ln/>
        </p:spPr>
      </p:sp>
      <p:sp>
        <p:nvSpPr>
          <p:cNvPr id="18" name="Text 16"/>
          <p:cNvSpPr/>
          <p:nvPr/>
        </p:nvSpPr>
        <p:spPr>
          <a:xfrm>
            <a:off x="640080" y="3172968"/>
            <a:ext cx="2350008" cy="292608"/>
          </a:xfrm>
          <a:prstGeom prst="rect">
            <a:avLst/>
          </a:prstGeom>
          <a:noFill/>
          <a:ln/>
        </p:spPr>
        <p:txBody>
          <a:bodyPr wrap="square" rtlCol="0" anchor="ctr"/>
          <a:lstStyle/>
          <a:p>
            <a:pPr indent="0" marL="0">
              <a:buNone/>
            </a:pPr>
            <a:r>
              <a:rPr lang="en-US" sz="1150" b="1" dirty="0">
                <a:solidFill>
                  <a:srgbClr val="1C2541"/>
                </a:solidFill>
                <a:latin typeface="Courier New" pitchFamily="34" charset="0"/>
                <a:ea typeface="Courier New" pitchFamily="34" charset="-122"/>
                <a:cs typeface="Courier New" pitchFamily="34" charset="-120"/>
              </a:rPr>
              <a:t>--script=exploit</a:t>
            </a:r>
            <a:endParaRPr lang="en-US" sz="1150" dirty="0"/>
          </a:p>
        </p:txBody>
      </p:sp>
      <p:sp>
        <p:nvSpPr>
          <p:cNvPr id="19" name="Text 17"/>
          <p:cNvSpPr/>
          <p:nvPr/>
        </p:nvSpPr>
        <p:spPr>
          <a:xfrm>
            <a:off x="640080" y="3483864"/>
            <a:ext cx="2350008" cy="594360"/>
          </a:xfrm>
          <a:prstGeom prst="rect">
            <a:avLst/>
          </a:prstGeom>
          <a:noFill/>
          <a:ln/>
        </p:spPr>
        <p:txBody>
          <a:bodyPr wrap="square" rtlCol="0" anchor="t"/>
          <a:lstStyle/>
          <a:p>
            <a:pPr indent="0" marL="0">
              <a:lnSpc>
                <a:spcPct val="110000"/>
              </a:lnSpc>
              <a:buNone/>
            </a:pPr>
            <a:r>
              <a:rPr lang="en-US" sz="1000" dirty="0">
                <a:solidFill>
                  <a:srgbClr val="5C6B84"/>
                </a:solidFill>
                <a:latin typeface="Calibri" pitchFamily="34" charset="0"/>
                <a:ea typeface="Calibri" pitchFamily="34" charset="-122"/>
                <a:cs typeface="Calibri" pitchFamily="34" charset="-120"/>
              </a:rPr>
              <a:t>Actively attempts exploitation</a:t>
            </a:r>
            <a:endParaRPr lang="en-US" sz="1000" dirty="0"/>
          </a:p>
        </p:txBody>
      </p:sp>
      <p:sp>
        <p:nvSpPr>
          <p:cNvPr id="20" name="Shape 18"/>
          <p:cNvSpPr/>
          <p:nvPr/>
        </p:nvSpPr>
        <p:spPr>
          <a:xfrm>
            <a:off x="3355848" y="3081528"/>
            <a:ext cx="2624328" cy="1051560"/>
          </a:xfrm>
          <a:prstGeom prst="roundRect">
            <a:avLst>
              <a:gd name="adj" fmla="val 6957"/>
            </a:avLst>
          </a:prstGeom>
          <a:solidFill>
            <a:srgbClr val="F2F5F7"/>
          </a:solidFill>
          <a:ln/>
        </p:spPr>
      </p:sp>
      <p:sp>
        <p:nvSpPr>
          <p:cNvPr id="21" name="Text 19"/>
          <p:cNvSpPr/>
          <p:nvPr/>
        </p:nvSpPr>
        <p:spPr>
          <a:xfrm>
            <a:off x="3493008" y="3172968"/>
            <a:ext cx="2350008" cy="292608"/>
          </a:xfrm>
          <a:prstGeom prst="rect">
            <a:avLst/>
          </a:prstGeom>
          <a:noFill/>
          <a:ln/>
        </p:spPr>
        <p:txBody>
          <a:bodyPr wrap="square" rtlCol="0" anchor="ctr"/>
          <a:lstStyle/>
          <a:p>
            <a:pPr indent="0" marL="0">
              <a:buNone/>
            </a:pPr>
            <a:r>
              <a:rPr lang="en-US" sz="1150" b="1" dirty="0">
                <a:solidFill>
                  <a:srgbClr val="1C2541"/>
                </a:solidFill>
                <a:latin typeface="Courier New" pitchFamily="34" charset="0"/>
                <a:ea typeface="Courier New" pitchFamily="34" charset="-122"/>
                <a:cs typeface="Courier New" pitchFamily="34" charset="-120"/>
              </a:rPr>
              <a:t>--script=auth</a:t>
            </a:r>
            <a:endParaRPr lang="en-US" sz="1150" dirty="0"/>
          </a:p>
        </p:txBody>
      </p:sp>
      <p:sp>
        <p:nvSpPr>
          <p:cNvPr id="22" name="Text 20"/>
          <p:cNvSpPr/>
          <p:nvPr/>
        </p:nvSpPr>
        <p:spPr>
          <a:xfrm>
            <a:off x="3493008" y="3483864"/>
            <a:ext cx="2350008" cy="594360"/>
          </a:xfrm>
          <a:prstGeom prst="rect">
            <a:avLst/>
          </a:prstGeom>
          <a:noFill/>
          <a:ln/>
        </p:spPr>
        <p:txBody>
          <a:bodyPr wrap="square" rtlCol="0" anchor="t"/>
          <a:lstStyle/>
          <a:p>
            <a:pPr indent="0" marL="0">
              <a:lnSpc>
                <a:spcPct val="110000"/>
              </a:lnSpc>
              <a:buNone/>
            </a:pPr>
            <a:r>
              <a:rPr lang="en-US" sz="1000" dirty="0">
                <a:solidFill>
                  <a:srgbClr val="5C6B84"/>
                </a:solidFill>
                <a:latin typeface="Calibri" pitchFamily="34" charset="0"/>
                <a:ea typeface="Calibri" pitchFamily="34" charset="-122"/>
                <a:cs typeface="Calibri" pitchFamily="34" charset="-120"/>
              </a:rPr>
              <a:t>Bypasses or tests authentication</a:t>
            </a:r>
            <a:endParaRPr lang="en-US" sz="1000" dirty="0"/>
          </a:p>
        </p:txBody>
      </p:sp>
      <p:sp>
        <p:nvSpPr>
          <p:cNvPr id="23" name="Shape 21"/>
          <p:cNvSpPr/>
          <p:nvPr/>
        </p:nvSpPr>
        <p:spPr>
          <a:xfrm>
            <a:off x="6208776" y="3081528"/>
            <a:ext cx="2624328" cy="1051560"/>
          </a:xfrm>
          <a:prstGeom prst="roundRect">
            <a:avLst>
              <a:gd name="adj" fmla="val 6957"/>
            </a:avLst>
          </a:prstGeom>
          <a:solidFill>
            <a:srgbClr val="F2F5F7"/>
          </a:solidFill>
          <a:ln/>
        </p:spPr>
      </p:sp>
      <p:sp>
        <p:nvSpPr>
          <p:cNvPr id="24" name="Text 22"/>
          <p:cNvSpPr/>
          <p:nvPr/>
        </p:nvSpPr>
        <p:spPr>
          <a:xfrm>
            <a:off x="6345936" y="3172968"/>
            <a:ext cx="2350008" cy="292608"/>
          </a:xfrm>
          <a:prstGeom prst="rect">
            <a:avLst/>
          </a:prstGeom>
          <a:noFill/>
          <a:ln/>
        </p:spPr>
        <p:txBody>
          <a:bodyPr wrap="square" rtlCol="0" anchor="ctr"/>
          <a:lstStyle/>
          <a:p>
            <a:pPr indent="0" marL="0">
              <a:buNone/>
            </a:pPr>
            <a:r>
              <a:rPr lang="en-US" sz="1150" b="1" dirty="0">
                <a:solidFill>
                  <a:srgbClr val="1C2541"/>
                </a:solidFill>
                <a:latin typeface="Courier New" pitchFamily="34" charset="0"/>
                <a:ea typeface="Courier New" pitchFamily="34" charset="-122"/>
                <a:cs typeface="Courier New" pitchFamily="34" charset="-120"/>
              </a:rPr>
              <a:t>--script=brute</a:t>
            </a:r>
            <a:endParaRPr lang="en-US" sz="1150" dirty="0"/>
          </a:p>
        </p:txBody>
      </p:sp>
      <p:sp>
        <p:nvSpPr>
          <p:cNvPr id="25" name="Text 23"/>
          <p:cNvSpPr/>
          <p:nvPr/>
        </p:nvSpPr>
        <p:spPr>
          <a:xfrm>
            <a:off x="6345936" y="3483864"/>
            <a:ext cx="2350008" cy="594360"/>
          </a:xfrm>
          <a:prstGeom prst="rect">
            <a:avLst/>
          </a:prstGeom>
          <a:noFill/>
          <a:ln/>
        </p:spPr>
        <p:txBody>
          <a:bodyPr wrap="square" rtlCol="0" anchor="t"/>
          <a:lstStyle/>
          <a:p>
            <a:pPr indent="0" marL="0">
              <a:lnSpc>
                <a:spcPct val="110000"/>
              </a:lnSpc>
              <a:buNone/>
            </a:pPr>
            <a:r>
              <a:rPr lang="en-US" sz="1000" dirty="0">
                <a:solidFill>
                  <a:srgbClr val="5C6B84"/>
                </a:solidFill>
                <a:latin typeface="Calibri" pitchFamily="34" charset="0"/>
                <a:ea typeface="Calibri" pitchFamily="34" charset="-122"/>
                <a:cs typeface="Calibri" pitchFamily="34" charset="-120"/>
              </a:rPr>
              <a:t>Brute-forces credentials</a:t>
            </a:r>
            <a:endParaRPr lang="en-US" sz="1000" dirty="0"/>
          </a:p>
        </p:txBody>
      </p:sp>
      <p:sp>
        <p:nvSpPr>
          <p:cNvPr id="26" name="Shape 24"/>
          <p:cNvSpPr/>
          <p:nvPr/>
        </p:nvSpPr>
        <p:spPr>
          <a:xfrm>
            <a:off x="9061704" y="3081528"/>
            <a:ext cx="2624328" cy="1051560"/>
          </a:xfrm>
          <a:prstGeom prst="roundRect">
            <a:avLst>
              <a:gd name="adj" fmla="val 6957"/>
            </a:avLst>
          </a:prstGeom>
          <a:solidFill>
            <a:srgbClr val="F2F5F7"/>
          </a:solidFill>
          <a:ln/>
        </p:spPr>
      </p:sp>
      <p:sp>
        <p:nvSpPr>
          <p:cNvPr id="27" name="Text 25"/>
          <p:cNvSpPr/>
          <p:nvPr/>
        </p:nvSpPr>
        <p:spPr>
          <a:xfrm>
            <a:off x="9198864" y="3172968"/>
            <a:ext cx="2350008" cy="292608"/>
          </a:xfrm>
          <a:prstGeom prst="rect">
            <a:avLst/>
          </a:prstGeom>
          <a:noFill/>
          <a:ln/>
        </p:spPr>
        <p:txBody>
          <a:bodyPr wrap="square" rtlCol="0" anchor="ctr"/>
          <a:lstStyle/>
          <a:p>
            <a:pPr indent="0" marL="0">
              <a:buNone/>
            </a:pPr>
            <a:r>
              <a:rPr lang="en-US" sz="1150" b="1" dirty="0">
                <a:solidFill>
                  <a:srgbClr val="1C2541"/>
                </a:solidFill>
                <a:latin typeface="Courier New" pitchFamily="34" charset="0"/>
                <a:ea typeface="Courier New" pitchFamily="34" charset="-122"/>
                <a:cs typeface="Courier New" pitchFamily="34" charset="-120"/>
              </a:rPr>
              <a:t>--script=discovery</a:t>
            </a:r>
            <a:endParaRPr lang="en-US" sz="1150" dirty="0"/>
          </a:p>
        </p:txBody>
      </p:sp>
      <p:sp>
        <p:nvSpPr>
          <p:cNvPr id="28" name="Text 26"/>
          <p:cNvSpPr/>
          <p:nvPr/>
        </p:nvSpPr>
        <p:spPr>
          <a:xfrm>
            <a:off x="9198864" y="3483864"/>
            <a:ext cx="2350008" cy="594360"/>
          </a:xfrm>
          <a:prstGeom prst="rect">
            <a:avLst/>
          </a:prstGeom>
          <a:noFill/>
          <a:ln/>
        </p:spPr>
        <p:txBody>
          <a:bodyPr wrap="square" rtlCol="0" anchor="t"/>
          <a:lstStyle/>
          <a:p>
            <a:pPr indent="0" marL="0">
              <a:lnSpc>
                <a:spcPct val="110000"/>
              </a:lnSpc>
              <a:buNone/>
            </a:pPr>
            <a:r>
              <a:rPr lang="en-US" sz="1000" dirty="0">
                <a:solidFill>
                  <a:srgbClr val="5C6B84"/>
                </a:solidFill>
                <a:latin typeface="Calibri" pitchFamily="34" charset="0"/>
                <a:ea typeface="Calibri" pitchFamily="34" charset="-122"/>
                <a:cs typeface="Calibri" pitchFamily="34" charset="-120"/>
              </a:rPr>
              <a:t>Digs deeper into what a service exposes</a:t>
            </a:r>
            <a:endParaRPr lang="en-US" sz="1000" dirty="0"/>
          </a:p>
        </p:txBody>
      </p:sp>
      <p:sp>
        <p:nvSpPr>
          <p:cNvPr id="29" name="Shape 27"/>
          <p:cNvSpPr/>
          <p:nvPr/>
        </p:nvSpPr>
        <p:spPr>
          <a:xfrm>
            <a:off x="502920" y="4334256"/>
            <a:ext cx="2624328" cy="1051560"/>
          </a:xfrm>
          <a:prstGeom prst="roundRect">
            <a:avLst>
              <a:gd name="adj" fmla="val 6957"/>
            </a:avLst>
          </a:prstGeom>
          <a:solidFill>
            <a:srgbClr val="F2F5F7"/>
          </a:solidFill>
          <a:ln/>
        </p:spPr>
      </p:sp>
      <p:sp>
        <p:nvSpPr>
          <p:cNvPr id="30" name="Text 28"/>
          <p:cNvSpPr/>
          <p:nvPr/>
        </p:nvSpPr>
        <p:spPr>
          <a:xfrm>
            <a:off x="640080" y="4425696"/>
            <a:ext cx="2350008" cy="292608"/>
          </a:xfrm>
          <a:prstGeom prst="rect">
            <a:avLst/>
          </a:prstGeom>
          <a:noFill/>
          <a:ln/>
        </p:spPr>
        <p:txBody>
          <a:bodyPr wrap="square" rtlCol="0" anchor="ctr"/>
          <a:lstStyle/>
          <a:p>
            <a:pPr indent="0" marL="0">
              <a:buNone/>
            </a:pPr>
            <a:r>
              <a:rPr lang="en-US" sz="1150" b="1" dirty="0">
                <a:solidFill>
                  <a:srgbClr val="1C2541"/>
                </a:solidFill>
                <a:latin typeface="Courier New" pitchFamily="34" charset="0"/>
                <a:ea typeface="Courier New" pitchFamily="34" charset="-122"/>
                <a:cs typeface="Courier New" pitchFamily="34" charset="-120"/>
              </a:rPr>
              <a:t>--script=version</a:t>
            </a:r>
            <a:endParaRPr lang="en-US" sz="1150" dirty="0"/>
          </a:p>
        </p:txBody>
      </p:sp>
      <p:sp>
        <p:nvSpPr>
          <p:cNvPr id="31" name="Text 29"/>
          <p:cNvSpPr/>
          <p:nvPr/>
        </p:nvSpPr>
        <p:spPr>
          <a:xfrm>
            <a:off x="640080" y="4736592"/>
            <a:ext cx="2350008" cy="594360"/>
          </a:xfrm>
          <a:prstGeom prst="rect">
            <a:avLst/>
          </a:prstGeom>
          <a:noFill/>
          <a:ln/>
        </p:spPr>
        <p:txBody>
          <a:bodyPr wrap="square" rtlCol="0" anchor="t"/>
          <a:lstStyle/>
          <a:p>
            <a:pPr indent="0" marL="0">
              <a:lnSpc>
                <a:spcPct val="110000"/>
              </a:lnSpc>
              <a:buNone/>
            </a:pPr>
            <a:r>
              <a:rPr lang="en-US" sz="1000" dirty="0">
                <a:solidFill>
                  <a:srgbClr val="5C6B84"/>
                </a:solidFill>
                <a:latin typeface="Calibri" pitchFamily="34" charset="0"/>
                <a:ea typeface="Calibri" pitchFamily="34" charset="-122"/>
                <a:cs typeface="Calibri" pitchFamily="34" charset="-120"/>
              </a:rPr>
              <a:t>Assists Nmap's own version detection</a:t>
            </a:r>
            <a:endParaRPr lang="en-US" sz="1000" dirty="0"/>
          </a:p>
        </p:txBody>
      </p:sp>
      <p:sp>
        <p:nvSpPr>
          <p:cNvPr id="32" name="Shape 30"/>
          <p:cNvSpPr/>
          <p:nvPr/>
        </p:nvSpPr>
        <p:spPr>
          <a:xfrm>
            <a:off x="3355848" y="4334256"/>
            <a:ext cx="2624328" cy="1051560"/>
          </a:xfrm>
          <a:prstGeom prst="roundRect">
            <a:avLst>
              <a:gd name="adj" fmla="val 6957"/>
            </a:avLst>
          </a:prstGeom>
          <a:solidFill>
            <a:srgbClr val="F2F5F7"/>
          </a:solidFill>
          <a:ln/>
        </p:spPr>
      </p:sp>
      <p:sp>
        <p:nvSpPr>
          <p:cNvPr id="33" name="Text 31"/>
          <p:cNvSpPr/>
          <p:nvPr/>
        </p:nvSpPr>
        <p:spPr>
          <a:xfrm>
            <a:off x="3493008" y="4425696"/>
            <a:ext cx="2350008" cy="292608"/>
          </a:xfrm>
          <a:prstGeom prst="rect">
            <a:avLst/>
          </a:prstGeom>
          <a:noFill/>
          <a:ln/>
        </p:spPr>
        <p:txBody>
          <a:bodyPr wrap="square" rtlCol="0" anchor="ctr"/>
          <a:lstStyle/>
          <a:p>
            <a:pPr indent="0" marL="0">
              <a:buNone/>
            </a:pPr>
            <a:r>
              <a:rPr lang="en-US" sz="1150" b="1" dirty="0">
                <a:solidFill>
                  <a:srgbClr val="1C2541"/>
                </a:solidFill>
                <a:latin typeface="Courier New" pitchFamily="34" charset="0"/>
                <a:ea typeface="Courier New" pitchFamily="34" charset="-122"/>
                <a:cs typeface="Courier New" pitchFamily="34" charset="-120"/>
              </a:rPr>
              <a:t>--script=dos</a:t>
            </a:r>
            <a:endParaRPr lang="en-US" sz="1150" dirty="0"/>
          </a:p>
        </p:txBody>
      </p:sp>
      <p:sp>
        <p:nvSpPr>
          <p:cNvPr id="34" name="Text 32"/>
          <p:cNvSpPr/>
          <p:nvPr/>
        </p:nvSpPr>
        <p:spPr>
          <a:xfrm>
            <a:off x="3493008" y="4736592"/>
            <a:ext cx="2350008" cy="594360"/>
          </a:xfrm>
          <a:prstGeom prst="rect">
            <a:avLst/>
          </a:prstGeom>
          <a:noFill/>
          <a:ln/>
        </p:spPr>
        <p:txBody>
          <a:bodyPr wrap="square" rtlCol="0" anchor="t"/>
          <a:lstStyle/>
          <a:p>
            <a:pPr indent="0" marL="0">
              <a:lnSpc>
                <a:spcPct val="110000"/>
              </a:lnSpc>
              <a:buNone/>
            </a:pPr>
            <a:r>
              <a:rPr lang="en-US" sz="1000" dirty="0">
                <a:solidFill>
                  <a:srgbClr val="5C6B84"/>
                </a:solidFill>
                <a:latin typeface="Calibri" pitchFamily="34" charset="0"/>
                <a:ea typeface="Calibri" pitchFamily="34" charset="-122"/>
                <a:cs typeface="Calibri" pitchFamily="34" charset="-120"/>
              </a:rPr>
              <a:t>Denial-of-service testing — handle carefully</a:t>
            </a:r>
            <a:endParaRPr lang="en-US" sz="1000" dirty="0"/>
          </a:p>
        </p:txBody>
      </p:sp>
      <p:sp>
        <p:nvSpPr>
          <p:cNvPr id="35" name="Shape 33"/>
          <p:cNvSpPr/>
          <p:nvPr/>
        </p:nvSpPr>
        <p:spPr>
          <a:xfrm>
            <a:off x="6208776" y="4334256"/>
            <a:ext cx="2624328" cy="1051560"/>
          </a:xfrm>
          <a:prstGeom prst="roundRect">
            <a:avLst>
              <a:gd name="adj" fmla="val 6957"/>
            </a:avLst>
          </a:prstGeom>
          <a:solidFill>
            <a:srgbClr val="F2F5F7"/>
          </a:solidFill>
          <a:ln/>
        </p:spPr>
      </p:sp>
      <p:sp>
        <p:nvSpPr>
          <p:cNvPr id="36" name="Text 34"/>
          <p:cNvSpPr/>
          <p:nvPr/>
        </p:nvSpPr>
        <p:spPr>
          <a:xfrm>
            <a:off x="6345936" y="4425696"/>
            <a:ext cx="2350008" cy="292608"/>
          </a:xfrm>
          <a:prstGeom prst="rect">
            <a:avLst/>
          </a:prstGeom>
          <a:noFill/>
          <a:ln/>
        </p:spPr>
        <p:txBody>
          <a:bodyPr wrap="square" rtlCol="0" anchor="ctr"/>
          <a:lstStyle/>
          <a:p>
            <a:pPr indent="0" marL="0">
              <a:buNone/>
            </a:pPr>
            <a:r>
              <a:rPr lang="en-US" sz="1150" b="1" dirty="0">
                <a:solidFill>
                  <a:srgbClr val="1C2541"/>
                </a:solidFill>
                <a:latin typeface="Courier New" pitchFamily="34" charset="0"/>
                <a:ea typeface="Courier New" pitchFamily="34" charset="-122"/>
                <a:cs typeface="Courier New" pitchFamily="34" charset="-120"/>
              </a:rPr>
              <a:t>--script=broadcast</a:t>
            </a:r>
            <a:endParaRPr lang="en-US" sz="1150" dirty="0"/>
          </a:p>
        </p:txBody>
      </p:sp>
      <p:sp>
        <p:nvSpPr>
          <p:cNvPr id="37" name="Text 35"/>
          <p:cNvSpPr/>
          <p:nvPr/>
        </p:nvSpPr>
        <p:spPr>
          <a:xfrm>
            <a:off x="6345936" y="4736592"/>
            <a:ext cx="2350008" cy="594360"/>
          </a:xfrm>
          <a:prstGeom prst="rect">
            <a:avLst/>
          </a:prstGeom>
          <a:noFill/>
          <a:ln/>
        </p:spPr>
        <p:txBody>
          <a:bodyPr wrap="square" rtlCol="0" anchor="t"/>
          <a:lstStyle/>
          <a:p>
            <a:pPr indent="0" marL="0">
              <a:lnSpc>
                <a:spcPct val="110000"/>
              </a:lnSpc>
              <a:buNone/>
            </a:pPr>
            <a:r>
              <a:rPr lang="en-US" sz="1000" dirty="0">
                <a:solidFill>
                  <a:srgbClr val="5C6B84"/>
                </a:solidFill>
                <a:latin typeface="Calibri" pitchFamily="34" charset="0"/>
                <a:ea typeface="Calibri" pitchFamily="34" charset="-122"/>
                <a:cs typeface="Calibri" pitchFamily="34" charset="-120"/>
              </a:rPr>
              <a:t>Discovers hosts via broadcast/multicast</a:t>
            </a:r>
            <a:endParaRPr lang="en-US" sz="1000" dirty="0"/>
          </a:p>
        </p:txBody>
      </p:sp>
      <p:sp>
        <p:nvSpPr>
          <p:cNvPr id="38" name="Shape 36"/>
          <p:cNvSpPr/>
          <p:nvPr/>
        </p:nvSpPr>
        <p:spPr>
          <a:xfrm>
            <a:off x="9061704" y="4334256"/>
            <a:ext cx="2624328" cy="1051560"/>
          </a:xfrm>
          <a:prstGeom prst="roundRect">
            <a:avLst>
              <a:gd name="adj" fmla="val 6957"/>
            </a:avLst>
          </a:prstGeom>
          <a:solidFill>
            <a:srgbClr val="F2F5F7"/>
          </a:solidFill>
          <a:ln/>
        </p:spPr>
      </p:sp>
      <p:sp>
        <p:nvSpPr>
          <p:cNvPr id="39" name="Text 37"/>
          <p:cNvSpPr/>
          <p:nvPr/>
        </p:nvSpPr>
        <p:spPr>
          <a:xfrm>
            <a:off x="9198864" y="4425696"/>
            <a:ext cx="2350008" cy="292608"/>
          </a:xfrm>
          <a:prstGeom prst="rect">
            <a:avLst/>
          </a:prstGeom>
          <a:noFill/>
          <a:ln/>
        </p:spPr>
        <p:txBody>
          <a:bodyPr wrap="square" rtlCol="0" anchor="ctr"/>
          <a:lstStyle/>
          <a:p>
            <a:pPr indent="0" marL="0">
              <a:buNone/>
            </a:pPr>
            <a:r>
              <a:rPr lang="en-US" sz="1150" b="1" dirty="0">
                <a:solidFill>
                  <a:srgbClr val="1C2541"/>
                </a:solidFill>
                <a:latin typeface="Courier New" pitchFamily="34" charset="0"/>
                <a:ea typeface="Courier New" pitchFamily="34" charset="-122"/>
                <a:cs typeface="Courier New" pitchFamily="34" charset="-120"/>
              </a:rPr>
              <a:t>--script=fuzzer</a:t>
            </a:r>
            <a:endParaRPr lang="en-US" sz="1150" dirty="0"/>
          </a:p>
        </p:txBody>
      </p:sp>
      <p:sp>
        <p:nvSpPr>
          <p:cNvPr id="40" name="Text 38"/>
          <p:cNvSpPr/>
          <p:nvPr/>
        </p:nvSpPr>
        <p:spPr>
          <a:xfrm>
            <a:off x="9198864" y="4736592"/>
            <a:ext cx="2350008" cy="594360"/>
          </a:xfrm>
          <a:prstGeom prst="rect">
            <a:avLst/>
          </a:prstGeom>
          <a:noFill/>
          <a:ln/>
        </p:spPr>
        <p:txBody>
          <a:bodyPr wrap="square" rtlCol="0" anchor="t"/>
          <a:lstStyle/>
          <a:p>
            <a:pPr indent="0" marL="0">
              <a:lnSpc>
                <a:spcPct val="110000"/>
              </a:lnSpc>
              <a:buNone/>
            </a:pPr>
            <a:r>
              <a:rPr lang="en-US" sz="1000" dirty="0">
                <a:solidFill>
                  <a:srgbClr val="5C6B84"/>
                </a:solidFill>
                <a:latin typeface="Calibri" pitchFamily="34" charset="0"/>
                <a:ea typeface="Calibri" pitchFamily="34" charset="-122"/>
                <a:cs typeface="Calibri" pitchFamily="34" charset="-120"/>
              </a:rPr>
              <a:t>Sends malformed input to find bugs</a:t>
            </a:r>
            <a:endParaRPr lang="en-US" sz="1000" dirty="0"/>
          </a:p>
        </p:txBody>
      </p:sp>
      <p:sp>
        <p:nvSpPr>
          <p:cNvPr id="41" name="Text 39"/>
          <p:cNvSpPr/>
          <p:nvPr/>
        </p:nvSpPr>
        <p:spPr>
          <a:xfrm>
            <a:off x="11365992" y="6446520"/>
            <a:ext cx="457200" cy="274320"/>
          </a:xfrm>
          <a:prstGeom prst="rect">
            <a:avLst/>
          </a:prstGeom>
          <a:noFill/>
          <a:ln/>
        </p:spPr>
        <p:txBody>
          <a:bodyPr wrap="square" rtlCol="0" anchor="ctr"/>
          <a:lstStyle/>
          <a:p>
            <a:pPr algn="r" indent="0" marL="0">
              <a:buNone/>
            </a:pPr>
            <a:r>
              <a:rPr lang="en-US" sz="1000" dirty="0">
                <a:solidFill>
                  <a:srgbClr val="8892A6"/>
                </a:solidFill>
                <a:latin typeface="Courier New" pitchFamily="34" charset="0"/>
                <a:ea typeface="Courier New" pitchFamily="34" charset="-122"/>
                <a:cs typeface="Courier New"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rtlCol="0" anchor="ctr"/>
          <a:lstStyle/>
          <a:p>
            <a:pPr algn="l" indent="0" marL="0">
              <a:buNone/>
            </a:pPr>
            <a:r>
              <a:rPr lang="en-US" sz="1200" b="1" spc="200" kern="0" dirty="0">
                <a:solidFill>
                  <a:srgbClr val="1E9E6A"/>
                </a:solidFill>
                <a:latin typeface="Calibri" pitchFamily="34" charset="0"/>
                <a:ea typeface="Calibri" pitchFamily="34" charset="-122"/>
                <a:cs typeface="Calibri" pitchFamily="34" charset="-120"/>
              </a:rPr>
              <a:t>NSE</a:t>
            </a:r>
            <a:endParaRPr lang="en-US" sz="1200" dirty="0"/>
          </a:p>
        </p:txBody>
      </p:sp>
      <p:sp>
        <p:nvSpPr>
          <p:cNvPr id="3" name="Text 1"/>
          <p:cNvSpPr/>
          <p:nvPr/>
        </p:nvSpPr>
        <p:spPr>
          <a:xfrm>
            <a:off x="502920" y="658368"/>
            <a:ext cx="10515600" cy="548640"/>
          </a:xfrm>
          <a:prstGeom prst="rect">
            <a:avLst/>
          </a:prstGeom>
          <a:noFill/>
          <a:ln/>
        </p:spPr>
        <p:txBody>
          <a:bodyPr wrap="square" rtlCol="0" anchor="ctr"/>
          <a:lstStyle/>
          <a:p>
            <a:pPr algn="l" indent="0" marL="0">
              <a:buNone/>
            </a:pPr>
            <a:r>
              <a:rPr lang="en-US" sz="3200" b="1" dirty="0">
                <a:solidFill>
                  <a:srgbClr val="16213E"/>
                </a:solidFill>
                <a:latin typeface="Calibri" pitchFamily="34" charset="0"/>
                <a:ea typeface="Calibri" pitchFamily="34" charset="-122"/>
                <a:cs typeface="Calibri" pitchFamily="34" charset="-120"/>
              </a:rPr>
              <a:t>Popular NSE Scripts in Action</a:t>
            </a:r>
            <a:endParaRPr lang="en-US" sz="3200" dirty="0"/>
          </a:p>
        </p:txBody>
      </p:sp>
      <p:sp>
        <p:nvSpPr>
          <p:cNvPr id="4" name="Text 2"/>
          <p:cNvSpPr/>
          <p:nvPr/>
        </p:nvSpPr>
        <p:spPr>
          <a:xfrm>
            <a:off x="502920" y="1161288"/>
            <a:ext cx="10515600" cy="365760"/>
          </a:xfrm>
          <a:prstGeom prst="rect">
            <a:avLst/>
          </a:prstGeom>
          <a:noFill/>
          <a:ln/>
        </p:spPr>
        <p:txBody>
          <a:bodyPr wrap="square" rtlCol="0" anchor="ctr"/>
          <a:lstStyle/>
          <a:p>
            <a:pPr algn="l" indent="0" marL="0">
              <a:buNone/>
            </a:pPr>
            <a:r>
              <a:rPr lang="en-US" sz="1400" dirty="0">
                <a:solidFill>
                  <a:srgbClr val="5C6B84"/>
                </a:solidFill>
                <a:latin typeface="Calibri" pitchFamily="34" charset="0"/>
                <a:ea typeface="Calibri" pitchFamily="34" charset="-122"/>
                <a:cs typeface="Calibri" pitchFamily="34" charset="-120"/>
              </a:rPr>
              <a:t>A working starter kit — memorize these five</a:t>
            </a:r>
            <a:endParaRPr lang="en-US" sz="1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02920" y="1828800"/>
          <a:ext cx="11183112" cy="914400"/>
        </p:xfrm>
        <a:graphic>
          <a:graphicData uri="http://schemas.openxmlformats.org/drawingml/2006/table">
            <a:tbl>
              <a:tblPr/>
              <a:tblGrid>
                <a:gridCol w="2377440"/>
                <a:gridCol w="4690872"/>
                <a:gridCol w="4937760"/>
              </a:tblGrid>
              <a:tr h="530352">
                <a:tc>
                  <a:txBody>
                    <a:bodyPr/>
                    <a:lstStyle/>
                    <a:p>
                      <a:pPr algn="l" indent="0" marL="0">
                        <a:buNone/>
                      </a:pPr>
                      <a:r>
                        <a:rPr lang="en-US" sz="1250" b="1" dirty="0">
                          <a:solidFill>
                            <a:srgbClr val="FFFFFF"/>
                          </a:solidFill>
                        </a:rPr>
                        <a:t>Script</a:t>
                      </a:r>
                      <a:endParaRPr lang="en-US" sz="1250" dirty="0"/>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C2541"/>
                    </a:solidFill>
                  </a:tcPr>
                </a:tc>
                <a:tc>
                  <a:txBody>
                    <a:bodyPr/>
                    <a:lstStyle/>
                    <a:p>
                      <a:pPr algn="l" indent="0" marL="0">
                        <a:buNone/>
                      </a:pPr>
                      <a:r>
                        <a:rPr lang="en-US" sz="1250" b="1" dirty="0">
                          <a:solidFill>
                            <a:srgbClr val="FFFFFF"/>
                          </a:solidFill>
                        </a:rPr>
                        <a:t>What it does</a:t>
                      </a:r>
                      <a:endParaRPr lang="en-US" sz="1250" dirty="0"/>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C2541"/>
                    </a:solidFill>
                  </a:tcPr>
                </a:tc>
                <a:tc>
                  <a:txBody>
                    <a:bodyPr/>
                    <a:lstStyle/>
                    <a:p>
                      <a:pPr algn="l" indent="0" marL="0">
                        <a:buNone/>
                      </a:pPr>
                      <a:r>
                        <a:rPr lang="en-US" sz="1250" b="1" dirty="0">
                          <a:solidFill>
                            <a:srgbClr val="FFFFFF"/>
                          </a:solidFill>
                        </a:rPr>
                        <a:t>Example command</a:t>
                      </a:r>
                      <a:endParaRPr lang="en-US" sz="1250" dirty="0"/>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C2541"/>
                    </a:solidFill>
                  </a:tcPr>
                </a:tc>
              </a:tr>
              <a:tr h="530352">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http-title / http-enum</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Grabs page titles; brute-forces common web paths &amp; files</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nmap --script http-enum -p80 &lt;ip&gt;</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r>
              <a:tr h="530352">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smb-os-discovery</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Pulls OS, hostname &amp; domain via SMB</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nmap --script smb-os-discovery -p445 &lt;ip&gt;</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r>
              <a:tr h="530352">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ftp-anon</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Checks if anonymous FTP login is allowed</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nmap --script ftp-anon -p21 &lt;ip&gt;</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r>
              <a:tr h="530352">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ssl-cert</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Dumps TLS certificate details (CN, SANs, expiry)</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nmap --script ssl-cert -p443 &lt;ip&gt;</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r>
              <a:tr h="530352">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vuln (category)</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Runs every script tagged ‘vuln’ against open ports</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nmap --script vuln &lt;ip&gt;</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r>
            </a:tbl>
          </a:graphicData>
        </a:graphic>
      </p:graphicFrame>
      <p:sp>
        <p:nvSpPr>
          <p:cNvPr id="6" name="Text 3"/>
          <p:cNvSpPr/>
          <p:nvPr/>
        </p:nvSpPr>
        <p:spPr>
          <a:xfrm>
            <a:off x="11365992" y="6446520"/>
            <a:ext cx="457200" cy="274320"/>
          </a:xfrm>
          <a:prstGeom prst="rect">
            <a:avLst/>
          </a:prstGeom>
          <a:noFill/>
          <a:ln/>
        </p:spPr>
        <p:txBody>
          <a:bodyPr wrap="square" rtlCol="0" anchor="ctr"/>
          <a:lstStyle/>
          <a:p>
            <a:pPr algn="r" indent="0" marL="0">
              <a:buNone/>
            </a:pPr>
            <a:r>
              <a:rPr lang="en-US" sz="1000" dirty="0">
                <a:solidFill>
                  <a:srgbClr val="8892A6"/>
                </a:solidFill>
                <a:latin typeface="Courier New" pitchFamily="34" charset="0"/>
                <a:ea typeface="Courier New" pitchFamily="34" charset="-122"/>
                <a:cs typeface="Courier New"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rtlCol="0" anchor="ctr"/>
          <a:lstStyle/>
          <a:p>
            <a:pPr algn="l" indent="0" marL="0">
              <a:buNone/>
            </a:pPr>
            <a:r>
              <a:rPr lang="en-US" sz="1200" b="1" spc="200" kern="0" dirty="0">
                <a:solidFill>
                  <a:srgbClr val="1E9E6A"/>
                </a:solidFill>
                <a:latin typeface="Calibri" pitchFamily="34" charset="0"/>
                <a:ea typeface="Calibri" pitchFamily="34" charset="-122"/>
                <a:cs typeface="Calibri" pitchFamily="34" charset="-120"/>
              </a:rPr>
              <a:t>DEEP ENUMERATION</a:t>
            </a:r>
            <a:endParaRPr lang="en-US" sz="1200" dirty="0"/>
          </a:p>
        </p:txBody>
      </p:sp>
      <p:sp>
        <p:nvSpPr>
          <p:cNvPr id="3" name="Text 1"/>
          <p:cNvSpPr/>
          <p:nvPr/>
        </p:nvSpPr>
        <p:spPr>
          <a:xfrm>
            <a:off x="502920" y="658368"/>
            <a:ext cx="10515600" cy="548640"/>
          </a:xfrm>
          <a:prstGeom prst="rect">
            <a:avLst/>
          </a:prstGeom>
          <a:noFill/>
          <a:ln/>
        </p:spPr>
        <p:txBody>
          <a:bodyPr wrap="square" rtlCol="0" anchor="ctr"/>
          <a:lstStyle/>
          <a:p>
            <a:pPr algn="l" indent="0" marL="0">
              <a:buNone/>
            </a:pPr>
            <a:r>
              <a:rPr lang="en-US" sz="3200" b="1" dirty="0">
                <a:solidFill>
                  <a:srgbClr val="16213E"/>
                </a:solidFill>
                <a:latin typeface="Calibri" pitchFamily="34" charset="0"/>
                <a:ea typeface="Calibri" pitchFamily="34" charset="-122"/>
                <a:cs typeface="Calibri" pitchFamily="34" charset="-120"/>
              </a:rPr>
              <a:t>Service-Specific Enumeration</a:t>
            </a:r>
            <a:endParaRPr lang="en-US" sz="3200" dirty="0"/>
          </a:p>
        </p:txBody>
      </p:sp>
      <p:sp>
        <p:nvSpPr>
          <p:cNvPr id="4" name="Text 2"/>
          <p:cNvSpPr/>
          <p:nvPr/>
        </p:nvSpPr>
        <p:spPr>
          <a:xfrm>
            <a:off x="502920" y="1161288"/>
            <a:ext cx="10515600" cy="365760"/>
          </a:xfrm>
          <a:prstGeom prst="rect">
            <a:avLst/>
          </a:prstGeom>
          <a:noFill/>
          <a:ln/>
        </p:spPr>
        <p:txBody>
          <a:bodyPr wrap="square" rtlCol="0" anchor="ctr"/>
          <a:lstStyle/>
          <a:p>
            <a:pPr algn="l" indent="0" marL="0">
              <a:buNone/>
            </a:pPr>
            <a:r>
              <a:rPr lang="en-US" sz="1400" dirty="0">
                <a:solidFill>
                  <a:srgbClr val="5C6B84"/>
                </a:solidFill>
                <a:latin typeface="Calibri" pitchFamily="34" charset="0"/>
                <a:ea typeface="Calibri" pitchFamily="34" charset="-122"/>
                <a:cs typeface="Calibri" pitchFamily="34" charset="-120"/>
              </a:rPr>
              <a:t>Once a port is confirmed open, dig into it with a dedicated tool</a:t>
            </a:r>
            <a:endParaRPr lang="en-US" sz="14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1828800"/>
          <a:ext cx="11183112" cy="914400"/>
        </p:xfrm>
        <a:graphic>
          <a:graphicData uri="http://schemas.openxmlformats.org/drawingml/2006/table">
            <a:tbl>
              <a:tblPr/>
              <a:tblGrid>
                <a:gridCol w="1737360"/>
                <a:gridCol w="1463040"/>
                <a:gridCol w="7891272"/>
              </a:tblGrid>
              <a:tr h="530352">
                <a:tc>
                  <a:txBody>
                    <a:bodyPr/>
                    <a:lstStyle/>
                    <a:p>
                      <a:pPr algn="l" indent="0" marL="0">
                        <a:buNone/>
                      </a:pPr>
                      <a:r>
                        <a:rPr lang="en-US" sz="1250" b="1" dirty="0">
                          <a:solidFill>
                            <a:srgbClr val="FFFFFF"/>
                          </a:solidFill>
                        </a:rPr>
                        <a:t>Service</a:t>
                      </a:r>
                      <a:endParaRPr lang="en-US" sz="1250" dirty="0"/>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C2541"/>
                    </a:solidFill>
                  </a:tcPr>
                </a:tc>
                <a:tc>
                  <a:txBody>
                    <a:bodyPr/>
                    <a:lstStyle/>
                    <a:p>
                      <a:pPr algn="l" indent="0" marL="0">
                        <a:buNone/>
                      </a:pPr>
                      <a:r>
                        <a:rPr lang="en-US" sz="1250" b="1" dirty="0">
                          <a:solidFill>
                            <a:srgbClr val="FFFFFF"/>
                          </a:solidFill>
                        </a:rPr>
                        <a:t>Port</a:t>
                      </a:r>
                      <a:endParaRPr lang="en-US" sz="1250" dirty="0"/>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C2541"/>
                    </a:solidFill>
                  </a:tcPr>
                </a:tc>
                <a:tc>
                  <a:txBody>
                    <a:bodyPr/>
                    <a:lstStyle/>
                    <a:p>
                      <a:pPr algn="l" indent="0" marL="0">
                        <a:buNone/>
                      </a:pPr>
                      <a:r>
                        <a:rPr lang="en-US" sz="1250" b="1" dirty="0">
                          <a:solidFill>
                            <a:srgbClr val="FFFFFF"/>
                          </a:solidFill>
                        </a:rPr>
                        <a:t>Go-to tool / technique</a:t>
                      </a:r>
                      <a:endParaRPr lang="en-US" sz="1250" dirty="0"/>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C2541"/>
                    </a:solidFill>
                  </a:tcPr>
                </a:tc>
              </a:tr>
              <a:tr h="530352">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SMB</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139 / 445</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enum4linux -a &lt;ip&gt;  ·  smbclient -L //&lt;ip&gt;/  ·  crackmapexec</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r>
              <a:tr h="530352">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FTP</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21</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Anonymous login test  ·  banner grab  ·  ftp-anon NSE script</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r>
              <a:tr h="530352">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SNMP</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161/udp</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snmpwalk -c public -v1 &lt;ip&gt;  ·  onesixtyone for community-string brute-force</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r>
              <a:tr h="530352">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DNS</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53</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dig axfr @&lt;ip&gt; &lt;domain&gt;  (zone transfer)  ·  dnsrecon  ·  dnsenum</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r>
              <a:tr h="530352">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SMTP</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VRFY / EXPN commands  ·  smtp-user-enum for username harvesting</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r>
              <a:tr h="530352">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NFS</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2049</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c>
                  <a:txBody>
                    <a:bodyPr/>
                    <a:lstStyle/>
                    <a:p>
                      <a:pPr algn="l" indent="0" marL="0">
                        <a:buNone/>
                      </a:pPr>
                      <a:r>
                        <a:rPr lang="en-US" sz="1200" dirty="0">
                          <a:solidFill>
                            <a:srgbClr val="16213E"/>
                          </a:solidFill>
                          <a:latin typeface="Calibri" pitchFamily="34" charset="0"/>
                          <a:ea typeface="Calibri" pitchFamily="34" charset="-122"/>
                          <a:cs typeface="Calibri" pitchFamily="34" charset="-120"/>
                        </a:rPr>
                        <a:t>showmount -e &lt;ip&gt;  to list exported shares</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2F5F7"/>
                    </a:solidFill>
                  </a:tcPr>
                </a:tc>
              </a:tr>
            </a:tbl>
          </a:graphicData>
        </a:graphic>
      </p:graphicFrame>
      <p:sp>
        <p:nvSpPr>
          <p:cNvPr id="6" name="Text 3"/>
          <p:cNvSpPr/>
          <p:nvPr/>
        </p:nvSpPr>
        <p:spPr>
          <a:xfrm>
            <a:off x="11365992" y="6446520"/>
            <a:ext cx="457200" cy="274320"/>
          </a:xfrm>
          <a:prstGeom prst="rect">
            <a:avLst/>
          </a:prstGeom>
          <a:noFill/>
          <a:ln/>
        </p:spPr>
        <p:txBody>
          <a:bodyPr wrap="square" rtlCol="0" anchor="ctr"/>
          <a:lstStyle/>
          <a:p>
            <a:pPr algn="r" indent="0" marL="0">
              <a:buNone/>
            </a:pPr>
            <a:r>
              <a:rPr lang="en-US" sz="1000" dirty="0">
                <a:solidFill>
                  <a:srgbClr val="8892A6"/>
                </a:solidFill>
                <a:latin typeface="Courier New" pitchFamily="34" charset="0"/>
                <a:ea typeface="Courier New" pitchFamily="34" charset="-122"/>
                <a:cs typeface="Courier New"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rtlCol="0" anchor="ctr"/>
          <a:lstStyle/>
          <a:p>
            <a:pPr algn="l" indent="0" marL="0">
              <a:buNone/>
            </a:pPr>
            <a:r>
              <a:rPr lang="en-US" sz="1200" b="1" spc="200" kern="0" dirty="0">
                <a:solidFill>
                  <a:srgbClr val="1E9E6A"/>
                </a:solidFill>
                <a:latin typeface="Calibri" pitchFamily="34" charset="0"/>
                <a:ea typeface="Calibri" pitchFamily="34" charset="-122"/>
                <a:cs typeface="Calibri" pitchFamily="34" charset="-120"/>
              </a:rPr>
              <a:t>OPERATIONAL AWARENESS</a:t>
            </a:r>
            <a:endParaRPr lang="en-US" sz="1200" dirty="0"/>
          </a:p>
        </p:txBody>
      </p:sp>
      <p:sp>
        <p:nvSpPr>
          <p:cNvPr id="3" name="Text 1"/>
          <p:cNvSpPr/>
          <p:nvPr/>
        </p:nvSpPr>
        <p:spPr>
          <a:xfrm>
            <a:off x="502920" y="658368"/>
            <a:ext cx="10515600" cy="548640"/>
          </a:xfrm>
          <a:prstGeom prst="rect">
            <a:avLst/>
          </a:prstGeom>
          <a:noFill/>
          <a:ln/>
        </p:spPr>
        <p:txBody>
          <a:bodyPr wrap="square" rtlCol="0" anchor="ctr"/>
          <a:lstStyle/>
          <a:p>
            <a:pPr algn="l" indent="0" marL="0">
              <a:buNone/>
            </a:pPr>
            <a:r>
              <a:rPr lang="en-US" sz="3200" b="1" dirty="0">
                <a:solidFill>
                  <a:srgbClr val="16213E"/>
                </a:solidFill>
                <a:latin typeface="Calibri" pitchFamily="34" charset="0"/>
                <a:ea typeface="Calibri" pitchFamily="34" charset="-122"/>
                <a:cs typeface="Calibri" pitchFamily="34" charset="-120"/>
              </a:rPr>
              <a:t>Stealth, Evasion &amp; IDS/IPS Considerations</a:t>
            </a:r>
            <a:endParaRPr lang="en-US" sz="3200" dirty="0"/>
          </a:p>
        </p:txBody>
      </p:sp>
      <p:sp>
        <p:nvSpPr>
          <p:cNvPr id="4" name="Text 2"/>
          <p:cNvSpPr/>
          <p:nvPr/>
        </p:nvSpPr>
        <p:spPr>
          <a:xfrm>
            <a:off x="502920" y="1161288"/>
            <a:ext cx="10515600" cy="365760"/>
          </a:xfrm>
          <a:prstGeom prst="rect">
            <a:avLst/>
          </a:prstGeom>
          <a:noFill/>
          <a:ln/>
        </p:spPr>
        <p:txBody>
          <a:bodyPr wrap="square" rtlCol="0" anchor="ctr"/>
          <a:lstStyle/>
          <a:p>
            <a:pPr algn="l" indent="0" marL="0">
              <a:buNone/>
            </a:pPr>
            <a:r>
              <a:rPr lang="en-US" sz="1400" dirty="0">
                <a:solidFill>
                  <a:srgbClr val="5C6B84"/>
                </a:solidFill>
                <a:latin typeface="Calibri" pitchFamily="34" charset="0"/>
                <a:ea typeface="Calibri" pitchFamily="34" charset="-122"/>
                <a:cs typeface="Calibri" pitchFamily="34" charset="-120"/>
              </a:rPr>
              <a:t>Loud scans get noticed — and sometimes that's the point</a:t>
            </a:r>
            <a:endParaRPr lang="en-US" sz="1400" dirty="0"/>
          </a:p>
        </p:txBody>
      </p:sp>
      <p:sp>
        <p:nvSpPr>
          <p:cNvPr id="5" name="Shape 3"/>
          <p:cNvSpPr/>
          <p:nvPr/>
        </p:nvSpPr>
        <p:spPr>
          <a:xfrm>
            <a:off x="502920" y="1691640"/>
            <a:ext cx="3544824" cy="1874520"/>
          </a:xfrm>
          <a:prstGeom prst="roundRect">
            <a:avLst>
              <a:gd name="adj" fmla="val 3902"/>
            </a:avLst>
          </a:prstGeom>
          <a:solidFill>
            <a:srgbClr val="F2F5F7"/>
          </a:solidFill>
          <a:ln/>
          <a:effectLst>
            <a:outerShdw sx="100000" sy="100000" kx="0" ky="0" algn="bl" rotWithShape="0" blurRad="76200" dist="25400" dir="5400000">
              <a:srgbClr val="000000">
                <a:alpha val="12000"/>
              </a:srgbClr>
            </a:outerShdw>
          </a:effectLst>
        </p:spPr>
      </p:sp>
      <p:sp>
        <p:nvSpPr>
          <p:cNvPr id="6" name="Shape 4"/>
          <p:cNvSpPr/>
          <p:nvPr/>
        </p:nvSpPr>
        <p:spPr>
          <a:xfrm>
            <a:off x="704088" y="1874520"/>
            <a:ext cx="384048" cy="384048"/>
          </a:xfrm>
          <a:prstGeom prst="ellipse">
            <a:avLst/>
          </a:prstGeom>
          <a:solidFill>
            <a:srgbClr val="E85D5D"/>
          </a:solidFill>
          <a:ln/>
        </p:spPr>
      </p:sp>
      <p:sp>
        <p:nvSpPr>
          <p:cNvPr id="7" name="Text 5"/>
          <p:cNvSpPr/>
          <p:nvPr/>
        </p:nvSpPr>
        <p:spPr>
          <a:xfrm>
            <a:off x="704088" y="1874520"/>
            <a:ext cx="384048" cy="384048"/>
          </a:xfrm>
          <a:prstGeom prst="rect">
            <a:avLst/>
          </a:prstGeom>
          <a:noFill/>
          <a:ln/>
        </p:spPr>
        <p:txBody>
          <a:bodyPr wrap="square" rtlCol="0" anchor="ctr"/>
          <a:lstStyle/>
          <a:p>
            <a:pPr algn="ctr" indent="0" marL="0">
              <a:buNone/>
            </a:pPr>
            <a:r>
              <a:rPr lang="en-US" sz="1600" b="1" dirty="0">
                <a:solidFill>
                  <a:srgbClr val="0B132B"/>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704088" y="2377440"/>
            <a:ext cx="3142488" cy="365760"/>
          </a:xfrm>
          <a:prstGeom prst="rect">
            <a:avLst/>
          </a:prstGeom>
          <a:noFill/>
          <a:ln/>
        </p:spPr>
        <p:txBody>
          <a:bodyPr wrap="square" rtlCol="0" anchor="ctr"/>
          <a:lstStyle/>
          <a:p>
            <a:pPr indent="0" marL="0">
              <a:buNone/>
            </a:pPr>
            <a:r>
              <a:rPr lang="en-US" sz="1500" b="1" dirty="0">
                <a:solidFill>
                  <a:srgbClr val="16213E"/>
                </a:solidFill>
                <a:latin typeface="Calibri" pitchFamily="34" charset="0"/>
                <a:ea typeface="Calibri" pitchFamily="34" charset="-122"/>
                <a:cs typeface="Calibri" pitchFamily="34" charset="-120"/>
              </a:rPr>
              <a:t>Timing (-T0 / -T1)</a:t>
            </a:r>
            <a:endParaRPr lang="en-US" sz="1500" dirty="0"/>
          </a:p>
        </p:txBody>
      </p:sp>
      <p:sp>
        <p:nvSpPr>
          <p:cNvPr id="9" name="Text 7"/>
          <p:cNvSpPr/>
          <p:nvPr/>
        </p:nvSpPr>
        <p:spPr>
          <a:xfrm>
            <a:off x="704088" y="2743200"/>
            <a:ext cx="3142488" cy="685800"/>
          </a:xfrm>
          <a:prstGeom prst="rect">
            <a:avLst/>
          </a:prstGeom>
          <a:noFill/>
          <a:ln/>
        </p:spPr>
        <p:txBody>
          <a:bodyPr wrap="square" rtlCol="0" anchor="t"/>
          <a:lstStyle/>
          <a:p>
            <a:pPr indent="0" marL="0">
              <a:lnSpc>
                <a:spcPct val="115000"/>
              </a:lnSpc>
              <a:buNone/>
            </a:pPr>
            <a:r>
              <a:rPr lang="en-US" sz="1150" dirty="0">
                <a:solidFill>
                  <a:srgbClr val="5C6B84"/>
                </a:solidFill>
                <a:latin typeface="Calibri" pitchFamily="34" charset="0"/>
                <a:ea typeface="Calibri" pitchFamily="34" charset="-122"/>
                <a:cs typeface="Calibri" pitchFamily="34" charset="-120"/>
              </a:rPr>
              <a:t>Slow scans blend into normal traffic and rarely trip volumetric alerts.</a:t>
            </a:r>
            <a:endParaRPr lang="en-US" sz="1150" dirty="0"/>
          </a:p>
        </p:txBody>
      </p:sp>
      <p:sp>
        <p:nvSpPr>
          <p:cNvPr id="10" name="Shape 8"/>
          <p:cNvSpPr/>
          <p:nvPr/>
        </p:nvSpPr>
        <p:spPr>
          <a:xfrm>
            <a:off x="4322064" y="1691640"/>
            <a:ext cx="3544824" cy="1874520"/>
          </a:xfrm>
          <a:prstGeom prst="roundRect">
            <a:avLst>
              <a:gd name="adj" fmla="val 3902"/>
            </a:avLst>
          </a:prstGeom>
          <a:solidFill>
            <a:srgbClr val="F2F5F7"/>
          </a:solidFill>
          <a:ln/>
          <a:effectLst>
            <a:outerShdw sx="100000" sy="100000" kx="0" ky="0" algn="bl" rotWithShape="0" blurRad="76200" dist="25400" dir="5400000">
              <a:srgbClr val="000000">
                <a:alpha val="12000"/>
              </a:srgbClr>
            </a:outerShdw>
          </a:effectLst>
        </p:spPr>
      </p:sp>
      <p:sp>
        <p:nvSpPr>
          <p:cNvPr id="11" name="Shape 9"/>
          <p:cNvSpPr/>
          <p:nvPr/>
        </p:nvSpPr>
        <p:spPr>
          <a:xfrm>
            <a:off x="4523232" y="1874520"/>
            <a:ext cx="384048" cy="384048"/>
          </a:xfrm>
          <a:prstGeom prst="ellipse">
            <a:avLst/>
          </a:prstGeom>
          <a:solidFill>
            <a:srgbClr val="E85D5D"/>
          </a:solidFill>
          <a:ln/>
        </p:spPr>
      </p:sp>
      <p:sp>
        <p:nvSpPr>
          <p:cNvPr id="12" name="Text 10"/>
          <p:cNvSpPr/>
          <p:nvPr/>
        </p:nvSpPr>
        <p:spPr>
          <a:xfrm>
            <a:off x="4523232" y="1874520"/>
            <a:ext cx="384048" cy="384048"/>
          </a:xfrm>
          <a:prstGeom prst="rect">
            <a:avLst/>
          </a:prstGeom>
          <a:noFill/>
          <a:ln/>
        </p:spPr>
        <p:txBody>
          <a:bodyPr wrap="square" rtlCol="0" anchor="ctr"/>
          <a:lstStyle/>
          <a:p>
            <a:pPr algn="ctr" indent="0" marL="0">
              <a:buNone/>
            </a:pPr>
            <a:r>
              <a:rPr lang="en-US" sz="1600" b="1" dirty="0">
                <a:solidFill>
                  <a:srgbClr val="0B132B"/>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4523232" y="2377440"/>
            <a:ext cx="3142488" cy="365760"/>
          </a:xfrm>
          <a:prstGeom prst="rect">
            <a:avLst/>
          </a:prstGeom>
          <a:noFill/>
          <a:ln/>
        </p:spPr>
        <p:txBody>
          <a:bodyPr wrap="square" rtlCol="0" anchor="ctr"/>
          <a:lstStyle/>
          <a:p>
            <a:pPr indent="0" marL="0">
              <a:buNone/>
            </a:pPr>
            <a:r>
              <a:rPr lang="en-US" sz="1500" b="1" dirty="0">
                <a:solidFill>
                  <a:srgbClr val="16213E"/>
                </a:solidFill>
                <a:latin typeface="Calibri" pitchFamily="34" charset="0"/>
                <a:ea typeface="Calibri" pitchFamily="34" charset="-122"/>
                <a:cs typeface="Calibri" pitchFamily="34" charset="-120"/>
              </a:rPr>
              <a:t>Fragmentation (-f)</a:t>
            </a:r>
            <a:endParaRPr lang="en-US" sz="1500" dirty="0"/>
          </a:p>
        </p:txBody>
      </p:sp>
      <p:sp>
        <p:nvSpPr>
          <p:cNvPr id="14" name="Text 12"/>
          <p:cNvSpPr/>
          <p:nvPr/>
        </p:nvSpPr>
        <p:spPr>
          <a:xfrm>
            <a:off x="4523232" y="2743200"/>
            <a:ext cx="3142488" cy="685800"/>
          </a:xfrm>
          <a:prstGeom prst="rect">
            <a:avLst/>
          </a:prstGeom>
          <a:noFill/>
          <a:ln/>
        </p:spPr>
        <p:txBody>
          <a:bodyPr wrap="square" rtlCol="0" anchor="t"/>
          <a:lstStyle/>
          <a:p>
            <a:pPr indent="0" marL="0">
              <a:lnSpc>
                <a:spcPct val="115000"/>
              </a:lnSpc>
              <a:buNone/>
            </a:pPr>
            <a:r>
              <a:rPr lang="en-US" sz="1150" dirty="0">
                <a:solidFill>
                  <a:srgbClr val="5C6B84"/>
                </a:solidFill>
                <a:latin typeface="Calibri" pitchFamily="34" charset="0"/>
                <a:ea typeface="Calibri" pitchFamily="34" charset="-122"/>
                <a:cs typeface="Calibri" pitchFamily="34" charset="-120"/>
              </a:rPr>
              <a:t>Splits probes into tiny IP fragments to slip past simple packet filters.</a:t>
            </a:r>
            <a:endParaRPr lang="en-US" sz="1150" dirty="0"/>
          </a:p>
        </p:txBody>
      </p:sp>
      <p:sp>
        <p:nvSpPr>
          <p:cNvPr id="15" name="Shape 13"/>
          <p:cNvSpPr/>
          <p:nvPr/>
        </p:nvSpPr>
        <p:spPr>
          <a:xfrm>
            <a:off x="8141208" y="1691640"/>
            <a:ext cx="3544824" cy="1874520"/>
          </a:xfrm>
          <a:prstGeom prst="roundRect">
            <a:avLst>
              <a:gd name="adj" fmla="val 3902"/>
            </a:avLst>
          </a:prstGeom>
          <a:solidFill>
            <a:srgbClr val="F2F5F7"/>
          </a:solidFill>
          <a:ln/>
          <a:effectLst>
            <a:outerShdw sx="100000" sy="100000" kx="0" ky="0" algn="bl" rotWithShape="0" blurRad="76200" dist="25400" dir="5400000">
              <a:srgbClr val="000000">
                <a:alpha val="12000"/>
              </a:srgbClr>
            </a:outerShdw>
          </a:effectLst>
        </p:spPr>
      </p:sp>
      <p:sp>
        <p:nvSpPr>
          <p:cNvPr id="16" name="Shape 14"/>
          <p:cNvSpPr/>
          <p:nvPr/>
        </p:nvSpPr>
        <p:spPr>
          <a:xfrm>
            <a:off x="8342376" y="1874520"/>
            <a:ext cx="384048" cy="384048"/>
          </a:xfrm>
          <a:prstGeom prst="ellipse">
            <a:avLst/>
          </a:prstGeom>
          <a:solidFill>
            <a:srgbClr val="E85D5D"/>
          </a:solidFill>
          <a:ln/>
        </p:spPr>
      </p:sp>
      <p:sp>
        <p:nvSpPr>
          <p:cNvPr id="17" name="Text 15"/>
          <p:cNvSpPr/>
          <p:nvPr/>
        </p:nvSpPr>
        <p:spPr>
          <a:xfrm>
            <a:off x="8342376" y="1874520"/>
            <a:ext cx="384048" cy="384048"/>
          </a:xfrm>
          <a:prstGeom prst="rect">
            <a:avLst/>
          </a:prstGeom>
          <a:noFill/>
          <a:ln/>
        </p:spPr>
        <p:txBody>
          <a:bodyPr wrap="square" rtlCol="0" anchor="ctr"/>
          <a:lstStyle/>
          <a:p>
            <a:pPr algn="ctr" indent="0" marL="0">
              <a:buNone/>
            </a:pPr>
            <a:r>
              <a:rPr lang="en-US" sz="1600" b="1" dirty="0">
                <a:solidFill>
                  <a:srgbClr val="0B132B"/>
                </a:solidFill>
                <a:latin typeface="Calibri" pitchFamily="34" charset="0"/>
                <a:ea typeface="Calibri" pitchFamily="34" charset="-122"/>
                <a:cs typeface="Calibri" pitchFamily="34" charset="-120"/>
              </a:rPr>
              <a:t>3</a:t>
            </a:r>
            <a:endParaRPr lang="en-US" sz="1600" dirty="0"/>
          </a:p>
        </p:txBody>
      </p:sp>
      <p:sp>
        <p:nvSpPr>
          <p:cNvPr id="18" name="Text 16"/>
          <p:cNvSpPr/>
          <p:nvPr/>
        </p:nvSpPr>
        <p:spPr>
          <a:xfrm>
            <a:off x="8342376" y="2377440"/>
            <a:ext cx="3142488" cy="365760"/>
          </a:xfrm>
          <a:prstGeom prst="rect">
            <a:avLst/>
          </a:prstGeom>
          <a:noFill/>
          <a:ln/>
        </p:spPr>
        <p:txBody>
          <a:bodyPr wrap="square" rtlCol="0" anchor="ctr"/>
          <a:lstStyle/>
          <a:p>
            <a:pPr indent="0" marL="0">
              <a:buNone/>
            </a:pPr>
            <a:r>
              <a:rPr lang="en-US" sz="1500" b="1" dirty="0">
                <a:solidFill>
                  <a:srgbClr val="16213E"/>
                </a:solidFill>
                <a:latin typeface="Calibri" pitchFamily="34" charset="0"/>
                <a:ea typeface="Calibri" pitchFamily="34" charset="-122"/>
                <a:cs typeface="Calibri" pitchFamily="34" charset="-120"/>
              </a:rPr>
              <a:t>Decoys (-D)</a:t>
            </a:r>
            <a:endParaRPr lang="en-US" sz="1500" dirty="0"/>
          </a:p>
        </p:txBody>
      </p:sp>
      <p:sp>
        <p:nvSpPr>
          <p:cNvPr id="19" name="Text 17"/>
          <p:cNvSpPr/>
          <p:nvPr/>
        </p:nvSpPr>
        <p:spPr>
          <a:xfrm>
            <a:off x="8342376" y="2743200"/>
            <a:ext cx="3142488" cy="685800"/>
          </a:xfrm>
          <a:prstGeom prst="rect">
            <a:avLst/>
          </a:prstGeom>
          <a:noFill/>
          <a:ln/>
        </p:spPr>
        <p:txBody>
          <a:bodyPr wrap="square" rtlCol="0" anchor="t"/>
          <a:lstStyle/>
          <a:p>
            <a:pPr indent="0" marL="0">
              <a:lnSpc>
                <a:spcPct val="115000"/>
              </a:lnSpc>
              <a:buNone/>
            </a:pPr>
            <a:r>
              <a:rPr lang="en-US" sz="1150" dirty="0">
                <a:solidFill>
                  <a:srgbClr val="5C6B84"/>
                </a:solidFill>
                <a:latin typeface="Calibri" pitchFamily="34" charset="0"/>
                <a:ea typeface="Calibri" pitchFamily="34" charset="-122"/>
                <a:cs typeface="Calibri" pitchFamily="34" charset="-120"/>
              </a:rPr>
              <a:t>Spoofs additional source IPs alongside yours, hiding which one is real.</a:t>
            </a:r>
            <a:endParaRPr lang="en-US" sz="1150" dirty="0"/>
          </a:p>
        </p:txBody>
      </p:sp>
      <p:sp>
        <p:nvSpPr>
          <p:cNvPr id="20" name="Shape 18"/>
          <p:cNvSpPr/>
          <p:nvPr/>
        </p:nvSpPr>
        <p:spPr>
          <a:xfrm>
            <a:off x="502920" y="3840480"/>
            <a:ext cx="3544824" cy="1874520"/>
          </a:xfrm>
          <a:prstGeom prst="roundRect">
            <a:avLst>
              <a:gd name="adj" fmla="val 3902"/>
            </a:avLst>
          </a:prstGeom>
          <a:solidFill>
            <a:srgbClr val="F2F5F7"/>
          </a:solidFill>
          <a:ln/>
          <a:effectLst>
            <a:outerShdw sx="100000" sy="100000" kx="0" ky="0" algn="bl" rotWithShape="0" blurRad="76200" dist="25400" dir="5400000">
              <a:srgbClr val="000000">
                <a:alpha val="12000"/>
              </a:srgbClr>
            </a:outerShdw>
          </a:effectLst>
        </p:spPr>
      </p:sp>
      <p:sp>
        <p:nvSpPr>
          <p:cNvPr id="21" name="Shape 19"/>
          <p:cNvSpPr/>
          <p:nvPr/>
        </p:nvSpPr>
        <p:spPr>
          <a:xfrm>
            <a:off x="704088" y="4023360"/>
            <a:ext cx="384048" cy="384048"/>
          </a:xfrm>
          <a:prstGeom prst="ellipse">
            <a:avLst/>
          </a:prstGeom>
          <a:solidFill>
            <a:srgbClr val="E85D5D"/>
          </a:solidFill>
          <a:ln/>
        </p:spPr>
      </p:sp>
      <p:sp>
        <p:nvSpPr>
          <p:cNvPr id="22" name="Text 20"/>
          <p:cNvSpPr/>
          <p:nvPr/>
        </p:nvSpPr>
        <p:spPr>
          <a:xfrm>
            <a:off x="704088" y="4023360"/>
            <a:ext cx="384048" cy="384048"/>
          </a:xfrm>
          <a:prstGeom prst="rect">
            <a:avLst/>
          </a:prstGeom>
          <a:noFill/>
          <a:ln/>
        </p:spPr>
        <p:txBody>
          <a:bodyPr wrap="square" rtlCol="0" anchor="ctr"/>
          <a:lstStyle/>
          <a:p>
            <a:pPr algn="ctr" indent="0" marL="0">
              <a:buNone/>
            </a:pPr>
            <a:r>
              <a:rPr lang="en-US" sz="1600" b="1" dirty="0">
                <a:solidFill>
                  <a:srgbClr val="0B132B"/>
                </a:solidFill>
                <a:latin typeface="Calibri" pitchFamily="34" charset="0"/>
                <a:ea typeface="Calibri" pitchFamily="34" charset="-122"/>
                <a:cs typeface="Calibri" pitchFamily="34" charset="-120"/>
              </a:rPr>
              <a:t>4</a:t>
            </a:r>
            <a:endParaRPr lang="en-US" sz="1600" dirty="0"/>
          </a:p>
        </p:txBody>
      </p:sp>
      <p:sp>
        <p:nvSpPr>
          <p:cNvPr id="23" name="Text 21"/>
          <p:cNvSpPr/>
          <p:nvPr/>
        </p:nvSpPr>
        <p:spPr>
          <a:xfrm>
            <a:off x="704088" y="4526280"/>
            <a:ext cx="3142488" cy="365760"/>
          </a:xfrm>
          <a:prstGeom prst="rect">
            <a:avLst/>
          </a:prstGeom>
          <a:noFill/>
          <a:ln/>
        </p:spPr>
        <p:txBody>
          <a:bodyPr wrap="square" rtlCol="0" anchor="ctr"/>
          <a:lstStyle/>
          <a:p>
            <a:pPr indent="0" marL="0">
              <a:buNone/>
            </a:pPr>
            <a:r>
              <a:rPr lang="en-US" sz="1500" b="1" dirty="0">
                <a:solidFill>
                  <a:srgbClr val="16213E"/>
                </a:solidFill>
                <a:latin typeface="Calibri" pitchFamily="34" charset="0"/>
                <a:ea typeface="Calibri" pitchFamily="34" charset="-122"/>
                <a:cs typeface="Calibri" pitchFamily="34" charset="-120"/>
              </a:rPr>
              <a:t>Source port spoofing</a:t>
            </a:r>
            <a:endParaRPr lang="en-US" sz="1500" dirty="0"/>
          </a:p>
        </p:txBody>
      </p:sp>
      <p:sp>
        <p:nvSpPr>
          <p:cNvPr id="24" name="Text 22"/>
          <p:cNvSpPr/>
          <p:nvPr/>
        </p:nvSpPr>
        <p:spPr>
          <a:xfrm>
            <a:off x="704088" y="4892040"/>
            <a:ext cx="3142488" cy="685800"/>
          </a:xfrm>
          <a:prstGeom prst="rect">
            <a:avLst/>
          </a:prstGeom>
          <a:noFill/>
          <a:ln/>
        </p:spPr>
        <p:txBody>
          <a:bodyPr wrap="square" rtlCol="0" anchor="t"/>
          <a:lstStyle/>
          <a:p>
            <a:pPr indent="0" marL="0">
              <a:lnSpc>
                <a:spcPct val="115000"/>
              </a:lnSpc>
              <a:buNone/>
            </a:pPr>
            <a:r>
              <a:rPr lang="en-US" sz="1150" dirty="0">
                <a:solidFill>
                  <a:srgbClr val="5C6B84"/>
                </a:solidFill>
                <a:latin typeface="Calibri" pitchFamily="34" charset="0"/>
                <a:ea typeface="Calibri" pitchFamily="34" charset="-122"/>
                <a:cs typeface="Calibri" pitchFamily="34" charset="-120"/>
              </a:rPr>
              <a:t>--source-port 53 can bypass rules that trust traffic from DNS/other services.</a:t>
            </a:r>
            <a:endParaRPr lang="en-US" sz="1150" dirty="0"/>
          </a:p>
        </p:txBody>
      </p:sp>
      <p:sp>
        <p:nvSpPr>
          <p:cNvPr id="25" name="Shape 23"/>
          <p:cNvSpPr/>
          <p:nvPr/>
        </p:nvSpPr>
        <p:spPr>
          <a:xfrm>
            <a:off x="4322064" y="3840480"/>
            <a:ext cx="3544824" cy="1874520"/>
          </a:xfrm>
          <a:prstGeom prst="roundRect">
            <a:avLst>
              <a:gd name="adj" fmla="val 3902"/>
            </a:avLst>
          </a:prstGeom>
          <a:solidFill>
            <a:srgbClr val="F2F5F7"/>
          </a:solidFill>
          <a:ln/>
          <a:effectLst>
            <a:outerShdw sx="100000" sy="100000" kx="0" ky="0" algn="bl" rotWithShape="0" blurRad="76200" dist="25400" dir="5400000">
              <a:srgbClr val="000000">
                <a:alpha val="12000"/>
              </a:srgbClr>
            </a:outerShdw>
          </a:effectLst>
        </p:spPr>
      </p:sp>
      <p:sp>
        <p:nvSpPr>
          <p:cNvPr id="26" name="Shape 24"/>
          <p:cNvSpPr/>
          <p:nvPr/>
        </p:nvSpPr>
        <p:spPr>
          <a:xfrm>
            <a:off x="4523232" y="4023360"/>
            <a:ext cx="384048" cy="384048"/>
          </a:xfrm>
          <a:prstGeom prst="ellipse">
            <a:avLst/>
          </a:prstGeom>
          <a:solidFill>
            <a:srgbClr val="E85D5D"/>
          </a:solidFill>
          <a:ln/>
        </p:spPr>
      </p:sp>
      <p:sp>
        <p:nvSpPr>
          <p:cNvPr id="27" name="Text 25"/>
          <p:cNvSpPr/>
          <p:nvPr/>
        </p:nvSpPr>
        <p:spPr>
          <a:xfrm>
            <a:off x="4523232" y="4023360"/>
            <a:ext cx="384048" cy="384048"/>
          </a:xfrm>
          <a:prstGeom prst="rect">
            <a:avLst/>
          </a:prstGeom>
          <a:noFill/>
          <a:ln/>
        </p:spPr>
        <p:txBody>
          <a:bodyPr wrap="square" rtlCol="0" anchor="ctr"/>
          <a:lstStyle/>
          <a:p>
            <a:pPr algn="ctr" indent="0" marL="0">
              <a:buNone/>
            </a:pPr>
            <a:r>
              <a:rPr lang="en-US" sz="1600" b="1" dirty="0">
                <a:solidFill>
                  <a:srgbClr val="0B132B"/>
                </a:solidFill>
                <a:latin typeface="Calibri" pitchFamily="34" charset="0"/>
                <a:ea typeface="Calibri" pitchFamily="34" charset="-122"/>
                <a:cs typeface="Calibri" pitchFamily="34" charset="-120"/>
              </a:rPr>
              <a:t>5</a:t>
            </a:r>
            <a:endParaRPr lang="en-US" sz="1600" dirty="0"/>
          </a:p>
        </p:txBody>
      </p:sp>
      <p:sp>
        <p:nvSpPr>
          <p:cNvPr id="28" name="Text 26"/>
          <p:cNvSpPr/>
          <p:nvPr/>
        </p:nvSpPr>
        <p:spPr>
          <a:xfrm>
            <a:off x="4523232" y="4526280"/>
            <a:ext cx="3142488" cy="365760"/>
          </a:xfrm>
          <a:prstGeom prst="rect">
            <a:avLst/>
          </a:prstGeom>
          <a:noFill/>
          <a:ln/>
        </p:spPr>
        <p:txBody>
          <a:bodyPr wrap="square" rtlCol="0" anchor="ctr"/>
          <a:lstStyle/>
          <a:p>
            <a:pPr indent="0" marL="0">
              <a:buNone/>
            </a:pPr>
            <a:r>
              <a:rPr lang="en-US" sz="1500" b="1" dirty="0">
                <a:solidFill>
                  <a:srgbClr val="16213E"/>
                </a:solidFill>
                <a:latin typeface="Calibri" pitchFamily="34" charset="0"/>
                <a:ea typeface="Calibri" pitchFamily="34" charset="-122"/>
                <a:cs typeface="Calibri" pitchFamily="34" charset="-120"/>
              </a:rPr>
              <a:t>Randomize target order</a:t>
            </a:r>
            <a:endParaRPr lang="en-US" sz="1500" dirty="0"/>
          </a:p>
        </p:txBody>
      </p:sp>
      <p:sp>
        <p:nvSpPr>
          <p:cNvPr id="29" name="Text 27"/>
          <p:cNvSpPr/>
          <p:nvPr/>
        </p:nvSpPr>
        <p:spPr>
          <a:xfrm>
            <a:off x="4523232" y="4892040"/>
            <a:ext cx="3142488" cy="685800"/>
          </a:xfrm>
          <a:prstGeom prst="rect">
            <a:avLst/>
          </a:prstGeom>
          <a:noFill/>
          <a:ln/>
        </p:spPr>
        <p:txBody>
          <a:bodyPr wrap="square" rtlCol="0" anchor="t"/>
          <a:lstStyle/>
          <a:p>
            <a:pPr indent="0" marL="0">
              <a:lnSpc>
                <a:spcPct val="115000"/>
              </a:lnSpc>
              <a:buNone/>
            </a:pPr>
            <a:r>
              <a:rPr lang="en-US" sz="1150" dirty="0">
                <a:solidFill>
                  <a:srgbClr val="5C6B84"/>
                </a:solidFill>
                <a:latin typeface="Calibri" pitchFamily="34" charset="0"/>
                <a:ea typeface="Calibri" pitchFamily="34" charset="-122"/>
                <a:cs typeface="Calibri" pitchFamily="34" charset="-120"/>
              </a:rPr>
              <a:t>--randomize-hosts avoids obvious sequential-IP scan patterns in logs.</a:t>
            </a:r>
            <a:endParaRPr lang="en-US" sz="1150" dirty="0"/>
          </a:p>
        </p:txBody>
      </p:sp>
      <p:sp>
        <p:nvSpPr>
          <p:cNvPr id="30" name="Shape 28"/>
          <p:cNvSpPr/>
          <p:nvPr/>
        </p:nvSpPr>
        <p:spPr>
          <a:xfrm>
            <a:off x="8141208" y="3840480"/>
            <a:ext cx="3544824" cy="1874520"/>
          </a:xfrm>
          <a:prstGeom prst="roundRect">
            <a:avLst>
              <a:gd name="adj" fmla="val 3902"/>
            </a:avLst>
          </a:prstGeom>
          <a:solidFill>
            <a:srgbClr val="F2F5F7"/>
          </a:solidFill>
          <a:ln/>
          <a:effectLst>
            <a:outerShdw sx="100000" sy="100000" kx="0" ky="0" algn="bl" rotWithShape="0" blurRad="76200" dist="25400" dir="5400000">
              <a:srgbClr val="000000">
                <a:alpha val="12000"/>
              </a:srgbClr>
            </a:outerShdw>
          </a:effectLst>
        </p:spPr>
      </p:sp>
      <p:sp>
        <p:nvSpPr>
          <p:cNvPr id="31" name="Shape 29"/>
          <p:cNvSpPr/>
          <p:nvPr/>
        </p:nvSpPr>
        <p:spPr>
          <a:xfrm>
            <a:off x="8342376" y="4023360"/>
            <a:ext cx="384048" cy="384048"/>
          </a:xfrm>
          <a:prstGeom prst="ellipse">
            <a:avLst/>
          </a:prstGeom>
          <a:solidFill>
            <a:srgbClr val="E85D5D"/>
          </a:solidFill>
          <a:ln/>
        </p:spPr>
      </p:sp>
      <p:sp>
        <p:nvSpPr>
          <p:cNvPr id="32" name="Text 30"/>
          <p:cNvSpPr/>
          <p:nvPr/>
        </p:nvSpPr>
        <p:spPr>
          <a:xfrm>
            <a:off x="8342376" y="4023360"/>
            <a:ext cx="384048" cy="384048"/>
          </a:xfrm>
          <a:prstGeom prst="rect">
            <a:avLst/>
          </a:prstGeom>
          <a:noFill/>
          <a:ln/>
        </p:spPr>
        <p:txBody>
          <a:bodyPr wrap="square" rtlCol="0" anchor="ctr"/>
          <a:lstStyle/>
          <a:p>
            <a:pPr algn="ctr" indent="0" marL="0">
              <a:buNone/>
            </a:pPr>
            <a:r>
              <a:rPr lang="en-US" sz="1600" b="1" dirty="0">
                <a:solidFill>
                  <a:srgbClr val="0B132B"/>
                </a:solidFill>
                <a:latin typeface="Calibri" pitchFamily="34" charset="0"/>
                <a:ea typeface="Calibri" pitchFamily="34" charset="-122"/>
                <a:cs typeface="Calibri" pitchFamily="34" charset="-120"/>
              </a:rPr>
              <a:t>6</a:t>
            </a:r>
            <a:endParaRPr lang="en-US" sz="1600" dirty="0"/>
          </a:p>
        </p:txBody>
      </p:sp>
      <p:sp>
        <p:nvSpPr>
          <p:cNvPr id="33" name="Text 31"/>
          <p:cNvSpPr/>
          <p:nvPr/>
        </p:nvSpPr>
        <p:spPr>
          <a:xfrm>
            <a:off x="8342376" y="4526280"/>
            <a:ext cx="3142488" cy="365760"/>
          </a:xfrm>
          <a:prstGeom prst="rect">
            <a:avLst/>
          </a:prstGeom>
          <a:noFill/>
          <a:ln/>
        </p:spPr>
        <p:txBody>
          <a:bodyPr wrap="square" rtlCol="0" anchor="ctr"/>
          <a:lstStyle/>
          <a:p>
            <a:pPr indent="0" marL="0">
              <a:buNone/>
            </a:pPr>
            <a:r>
              <a:rPr lang="en-US" sz="1500" b="1" dirty="0">
                <a:solidFill>
                  <a:srgbClr val="16213E"/>
                </a:solidFill>
                <a:latin typeface="Calibri" pitchFamily="34" charset="0"/>
                <a:ea typeface="Calibri" pitchFamily="34" charset="-122"/>
                <a:cs typeface="Calibri" pitchFamily="34" charset="-120"/>
              </a:rPr>
              <a:t>Know your environment</a:t>
            </a:r>
            <a:endParaRPr lang="en-US" sz="1500" dirty="0"/>
          </a:p>
        </p:txBody>
      </p:sp>
      <p:sp>
        <p:nvSpPr>
          <p:cNvPr id="34" name="Text 32"/>
          <p:cNvSpPr/>
          <p:nvPr/>
        </p:nvSpPr>
        <p:spPr>
          <a:xfrm>
            <a:off x="8342376" y="4892040"/>
            <a:ext cx="3142488" cy="685800"/>
          </a:xfrm>
          <a:prstGeom prst="rect">
            <a:avLst/>
          </a:prstGeom>
          <a:noFill/>
          <a:ln/>
        </p:spPr>
        <p:txBody>
          <a:bodyPr wrap="square" rtlCol="0" anchor="t"/>
          <a:lstStyle/>
          <a:p>
            <a:pPr indent="0" marL="0">
              <a:lnSpc>
                <a:spcPct val="115000"/>
              </a:lnSpc>
              <a:buNone/>
            </a:pPr>
            <a:r>
              <a:rPr lang="en-US" sz="1150" dirty="0">
                <a:solidFill>
                  <a:srgbClr val="5C6B84"/>
                </a:solidFill>
                <a:latin typeface="Calibri" pitchFamily="34" charset="0"/>
                <a:ea typeface="Calibri" pitchFamily="34" charset="-122"/>
                <a:cs typeface="Calibri" pitchFamily="34" charset="-120"/>
              </a:rPr>
              <a:t>On a real engagement, agree scan aggressiveness with the client in the Rules of Engagement.</a:t>
            </a:r>
            <a:endParaRPr lang="en-US" sz="1150" dirty="0"/>
          </a:p>
        </p:txBody>
      </p:sp>
      <p:sp>
        <p:nvSpPr>
          <p:cNvPr id="35" name="Text 33"/>
          <p:cNvSpPr/>
          <p:nvPr/>
        </p:nvSpPr>
        <p:spPr>
          <a:xfrm>
            <a:off x="11365992" y="6446520"/>
            <a:ext cx="457200" cy="274320"/>
          </a:xfrm>
          <a:prstGeom prst="rect">
            <a:avLst/>
          </a:prstGeom>
          <a:noFill/>
          <a:ln/>
        </p:spPr>
        <p:txBody>
          <a:bodyPr wrap="square" rtlCol="0" anchor="ctr"/>
          <a:lstStyle/>
          <a:p>
            <a:pPr algn="r" indent="0" marL="0">
              <a:buNone/>
            </a:pPr>
            <a:r>
              <a:rPr lang="en-US" sz="1000" dirty="0">
                <a:solidFill>
                  <a:srgbClr val="8892A6"/>
                </a:solidFill>
                <a:latin typeface="Courier New" pitchFamily="34" charset="0"/>
                <a:ea typeface="Courier New" pitchFamily="34" charset="-122"/>
                <a:cs typeface="Courier New"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132B"/>
        </a:solidFill>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rtlCol="0" anchor="ctr"/>
          <a:lstStyle/>
          <a:p>
            <a:pPr algn="l" indent="0" marL="0">
              <a:buNone/>
            </a:pPr>
            <a:r>
              <a:rPr lang="en-US" sz="1200" b="1" spc="200" kern="0" dirty="0">
                <a:solidFill>
                  <a:srgbClr val="E85D5D"/>
                </a:solidFill>
                <a:latin typeface="Calibri" pitchFamily="34" charset="0"/>
                <a:ea typeface="Calibri" pitchFamily="34" charset="-122"/>
                <a:cs typeface="Calibri" pitchFamily="34" charset="-120"/>
              </a:rPr>
              <a:t>NON-NEGOTIABLE</a:t>
            </a:r>
            <a:endParaRPr lang="en-US" sz="1200" dirty="0"/>
          </a:p>
        </p:txBody>
      </p:sp>
      <p:sp>
        <p:nvSpPr>
          <p:cNvPr id="3" name="Text 1"/>
          <p:cNvSpPr/>
          <p:nvPr/>
        </p:nvSpPr>
        <p:spPr>
          <a:xfrm>
            <a:off x="502920" y="658368"/>
            <a:ext cx="10515600" cy="54864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Legal &amp; Ethical Boundaries</a:t>
            </a:r>
            <a:endParaRPr lang="en-US" sz="3200" dirty="0"/>
          </a:p>
        </p:txBody>
      </p:sp>
      <p:sp>
        <p:nvSpPr>
          <p:cNvPr id="4" name="Text 2"/>
          <p:cNvSpPr/>
          <p:nvPr/>
        </p:nvSpPr>
        <p:spPr>
          <a:xfrm>
            <a:off x="502920" y="1161288"/>
            <a:ext cx="10515600" cy="365760"/>
          </a:xfrm>
          <a:prstGeom prst="rect">
            <a:avLst/>
          </a:prstGeom>
          <a:noFill/>
          <a:ln/>
        </p:spPr>
        <p:txBody>
          <a:bodyPr wrap="square" rtlCol="0" anchor="ctr"/>
          <a:lstStyle/>
          <a:p>
            <a:pPr algn="l" indent="0" marL="0">
              <a:buNone/>
            </a:pPr>
            <a:r>
              <a:rPr lang="en-US" sz="1400" dirty="0">
                <a:solidFill>
                  <a:srgbClr val="AEB8C4"/>
                </a:solidFill>
                <a:latin typeface="Calibri" pitchFamily="34" charset="0"/>
                <a:ea typeface="Calibri" pitchFamily="34" charset="-122"/>
                <a:cs typeface="Calibri" pitchFamily="34" charset="-120"/>
              </a:rPr>
              <a:t>Everything in this session is a crime without written authorization</a:t>
            </a:r>
            <a:endParaRPr lang="en-US" sz="1400" dirty="0"/>
          </a:p>
        </p:txBody>
      </p:sp>
      <p:sp>
        <p:nvSpPr>
          <p:cNvPr id="5" name="Shape 3"/>
          <p:cNvSpPr/>
          <p:nvPr/>
        </p:nvSpPr>
        <p:spPr>
          <a:xfrm>
            <a:off x="502920" y="1920240"/>
            <a:ext cx="11183112" cy="777240"/>
          </a:xfrm>
          <a:prstGeom prst="roundRect">
            <a:avLst>
              <a:gd name="adj" fmla="val 9412"/>
            </a:avLst>
          </a:prstGeom>
          <a:solidFill>
            <a:srgbClr val="1C2541"/>
          </a:solidFill>
          <a:ln/>
        </p:spPr>
      </p:sp>
      <p:sp>
        <p:nvSpPr>
          <p:cNvPr id="6" name="Text 4"/>
          <p:cNvSpPr/>
          <p:nvPr/>
        </p:nvSpPr>
        <p:spPr>
          <a:xfrm>
            <a:off x="777240" y="2011680"/>
            <a:ext cx="3017520" cy="594360"/>
          </a:xfrm>
          <a:prstGeom prst="rect">
            <a:avLst/>
          </a:prstGeom>
          <a:noFill/>
          <a:ln/>
        </p:spPr>
        <p:txBody>
          <a:bodyPr wrap="square" rtlCol="0" anchor="ctr"/>
          <a:lstStyle/>
          <a:p>
            <a:pPr indent="0" marL="0">
              <a:buNone/>
            </a:pPr>
            <a:r>
              <a:rPr lang="en-US" sz="1350" b="1" dirty="0">
                <a:solidFill>
                  <a:srgbClr val="2FD48C"/>
                </a:solidFill>
                <a:latin typeface="Calibri" pitchFamily="34" charset="0"/>
                <a:ea typeface="Calibri" pitchFamily="34" charset="-122"/>
                <a:cs typeface="Calibri" pitchFamily="34" charset="-120"/>
              </a:rPr>
              <a:t>Written authorization first</a:t>
            </a:r>
            <a:endParaRPr lang="en-US" sz="1350" dirty="0"/>
          </a:p>
        </p:txBody>
      </p:sp>
      <p:sp>
        <p:nvSpPr>
          <p:cNvPr id="7" name="Text 5"/>
          <p:cNvSpPr/>
          <p:nvPr/>
        </p:nvSpPr>
        <p:spPr>
          <a:xfrm>
            <a:off x="3977640" y="2011680"/>
            <a:ext cx="7434072" cy="594360"/>
          </a:xfrm>
          <a:prstGeom prst="rect">
            <a:avLst/>
          </a:prstGeom>
          <a:noFill/>
          <a:ln/>
        </p:spPr>
        <p:txBody>
          <a:bodyPr wrap="square" rtlCol="0" anchor="ctr"/>
          <a:lstStyle/>
          <a:p>
            <a:pPr indent="0" marL="0">
              <a:lnSpc>
                <a:spcPct val="115000"/>
              </a:lnSpc>
              <a:buNone/>
            </a:pPr>
            <a:r>
              <a:rPr lang="en-US" sz="1200" dirty="0">
                <a:solidFill>
                  <a:srgbClr val="D6DCE8"/>
                </a:solidFill>
                <a:latin typeface="Calibri" pitchFamily="34" charset="0"/>
                <a:ea typeface="Calibri" pitchFamily="34" charset="-122"/>
                <a:cs typeface="Calibri" pitchFamily="34" charset="-120"/>
              </a:rPr>
              <a:t>Never scan a system you don't own or don't have explicit, written permission to test.</a:t>
            </a:r>
            <a:endParaRPr lang="en-US" sz="1200" dirty="0"/>
          </a:p>
        </p:txBody>
      </p:sp>
      <p:sp>
        <p:nvSpPr>
          <p:cNvPr id="8" name="Shape 6"/>
          <p:cNvSpPr/>
          <p:nvPr/>
        </p:nvSpPr>
        <p:spPr>
          <a:xfrm>
            <a:off x="502920" y="2816352"/>
            <a:ext cx="11183112" cy="777240"/>
          </a:xfrm>
          <a:prstGeom prst="roundRect">
            <a:avLst>
              <a:gd name="adj" fmla="val 9412"/>
            </a:avLst>
          </a:prstGeom>
          <a:solidFill>
            <a:srgbClr val="1C2541"/>
          </a:solidFill>
          <a:ln/>
        </p:spPr>
      </p:sp>
      <p:sp>
        <p:nvSpPr>
          <p:cNvPr id="9" name="Text 7"/>
          <p:cNvSpPr/>
          <p:nvPr/>
        </p:nvSpPr>
        <p:spPr>
          <a:xfrm>
            <a:off x="777240" y="2907792"/>
            <a:ext cx="3017520" cy="594360"/>
          </a:xfrm>
          <a:prstGeom prst="rect">
            <a:avLst/>
          </a:prstGeom>
          <a:noFill/>
          <a:ln/>
        </p:spPr>
        <p:txBody>
          <a:bodyPr wrap="square" rtlCol="0" anchor="ctr"/>
          <a:lstStyle/>
          <a:p>
            <a:pPr indent="0" marL="0">
              <a:buNone/>
            </a:pPr>
            <a:r>
              <a:rPr lang="en-US" sz="1350" b="1" dirty="0">
                <a:solidFill>
                  <a:srgbClr val="2FD48C"/>
                </a:solidFill>
                <a:latin typeface="Calibri" pitchFamily="34" charset="0"/>
                <a:ea typeface="Calibri" pitchFamily="34" charset="-122"/>
                <a:cs typeface="Calibri" pitchFamily="34" charset="-120"/>
              </a:rPr>
              <a:t>Rules of Engagement (RoE)</a:t>
            </a:r>
            <a:endParaRPr lang="en-US" sz="1350" dirty="0"/>
          </a:p>
        </p:txBody>
      </p:sp>
      <p:sp>
        <p:nvSpPr>
          <p:cNvPr id="10" name="Text 8"/>
          <p:cNvSpPr/>
          <p:nvPr/>
        </p:nvSpPr>
        <p:spPr>
          <a:xfrm>
            <a:off x="3977640" y="2907792"/>
            <a:ext cx="7434072" cy="594360"/>
          </a:xfrm>
          <a:prstGeom prst="rect">
            <a:avLst/>
          </a:prstGeom>
          <a:noFill/>
          <a:ln/>
        </p:spPr>
        <p:txBody>
          <a:bodyPr wrap="square" rtlCol="0" anchor="ctr"/>
          <a:lstStyle/>
          <a:p>
            <a:pPr indent="0" marL="0">
              <a:lnSpc>
                <a:spcPct val="115000"/>
              </a:lnSpc>
              <a:buNone/>
            </a:pPr>
            <a:r>
              <a:rPr lang="en-US" sz="1200" dirty="0">
                <a:solidFill>
                  <a:srgbClr val="D6DCE8"/>
                </a:solidFill>
                <a:latin typeface="Calibri" pitchFamily="34" charset="0"/>
                <a:ea typeface="Calibri" pitchFamily="34" charset="-122"/>
                <a:cs typeface="Calibri" pitchFamily="34" charset="-120"/>
              </a:rPr>
              <a:t>Agree scope, timing windows, allowed techniques, and emergency contacts before any scan.</a:t>
            </a:r>
            <a:endParaRPr lang="en-US" sz="1200" dirty="0"/>
          </a:p>
        </p:txBody>
      </p:sp>
      <p:sp>
        <p:nvSpPr>
          <p:cNvPr id="11" name="Shape 9"/>
          <p:cNvSpPr/>
          <p:nvPr/>
        </p:nvSpPr>
        <p:spPr>
          <a:xfrm>
            <a:off x="502920" y="3712464"/>
            <a:ext cx="11183112" cy="777240"/>
          </a:xfrm>
          <a:prstGeom prst="roundRect">
            <a:avLst>
              <a:gd name="adj" fmla="val 9412"/>
            </a:avLst>
          </a:prstGeom>
          <a:solidFill>
            <a:srgbClr val="1C2541"/>
          </a:solidFill>
          <a:ln/>
        </p:spPr>
      </p:sp>
      <p:sp>
        <p:nvSpPr>
          <p:cNvPr id="12" name="Text 10"/>
          <p:cNvSpPr/>
          <p:nvPr/>
        </p:nvSpPr>
        <p:spPr>
          <a:xfrm>
            <a:off x="777240" y="3803904"/>
            <a:ext cx="3017520" cy="594360"/>
          </a:xfrm>
          <a:prstGeom prst="rect">
            <a:avLst/>
          </a:prstGeom>
          <a:noFill/>
          <a:ln/>
        </p:spPr>
        <p:txBody>
          <a:bodyPr wrap="square" rtlCol="0" anchor="ctr"/>
          <a:lstStyle/>
          <a:p>
            <a:pPr indent="0" marL="0">
              <a:buNone/>
            </a:pPr>
            <a:r>
              <a:rPr lang="en-US" sz="1350" b="1" dirty="0">
                <a:solidFill>
                  <a:srgbClr val="2FD48C"/>
                </a:solidFill>
                <a:latin typeface="Calibri" pitchFamily="34" charset="0"/>
                <a:ea typeface="Calibri" pitchFamily="34" charset="-122"/>
                <a:cs typeface="Calibri" pitchFamily="34" charset="-120"/>
              </a:rPr>
              <a:t>Know the law</a:t>
            </a:r>
            <a:endParaRPr lang="en-US" sz="1350" dirty="0"/>
          </a:p>
        </p:txBody>
      </p:sp>
      <p:sp>
        <p:nvSpPr>
          <p:cNvPr id="13" name="Text 11"/>
          <p:cNvSpPr/>
          <p:nvPr/>
        </p:nvSpPr>
        <p:spPr>
          <a:xfrm>
            <a:off x="3977640" y="3803904"/>
            <a:ext cx="7434072" cy="594360"/>
          </a:xfrm>
          <a:prstGeom prst="rect">
            <a:avLst/>
          </a:prstGeom>
          <a:noFill/>
          <a:ln/>
        </p:spPr>
        <p:txBody>
          <a:bodyPr wrap="square" rtlCol="0" anchor="ctr"/>
          <a:lstStyle/>
          <a:p>
            <a:pPr indent="0" marL="0">
              <a:lnSpc>
                <a:spcPct val="115000"/>
              </a:lnSpc>
              <a:buNone/>
            </a:pPr>
            <a:r>
              <a:rPr lang="en-US" sz="1200" dirty="0">
                <a:solidFill>
                  <a:srgbClr val="D6DCE8"/>
                </a:solidFill>
                <a:latin typeface="Calibri" pitchFamily="34" charset="0"/>
                <a:ea typeface="Calibri" pitchFamily="34" charset="-122"/>
                <a:cs typeface="Calibri" pitchFamily="34" charset="-120"/>
              </a:rPr>
              <a:t>Unauthorized scanning can violate laws such as the Computer Fraud &amp; Abuse Act (US) or the IT Act, 2000 (India).</a:t>
            </a:r>
            <a:endParaRPr lang="en-US" sz="1200" dirty="0"/>
          </a:p>
        </p:txBody>
      </p:sp>
      <p:sp>
        <p:nvSpPr>
          <p:cNvPr id="14" name="Shape 12"/>
          <p:cNvSpPr/>
          <p:nvPr/>
        </p:nvSpPr>
        <p:spPr>
          <a:xfrm>
            <a:off x="502920" y="4608576"/>
            <a:ext cx="11183112" cy="777240"/>
          </a:xfrm>
          <a:prstGeom prst="roundRect">
            <a:avLst>
              <a:gd name="adj" fmla="val 9412"/>
            </a:avLst>
          </a:prstGeom>
          <a:solidFill>
            <a:srgbClr val="1C2541"/>
          </a:solidFill>
          <a:ln/>
        </p:spPr>
      </p:sp>
      <p:sp>
        <p:nvSpPr>
          <p:cNvPr id="15" name="Text 13"/>
          <p:cNvSpPr/>
          <p:nvPr/>
        </p:nvSpPr>
        <p:spPr>
          <a:xfrm>
            <a:off x="777240" y="4700016"/>
            <a:ext cx="3017520" cy="594360"/>
          </a:xfrm>
          <a:prstGeom prst="rect">
            <a:avLst/>
          </a:prstGeom>
          <a:noFill/>
          <a:ln/>
        </p:spPr>
        <p:txBody>
          <a:bodyPr wrap="square" rtlCol="0" anchor="ctr"/>
          <a:lstStyle/>
          <a:p>
            <a:pPr indent="0" marL="0">
              <a:buNone/>
            </a:pPr>
            <a:r>
              <a:rPr lang="en-US" sz="1350" b="1" dirty="0">
                <a:solidFill>
                  <a:srgbClr val="2FD48C"/>
                </a:solidFill>
                <a:latin typeface="Calibri" pitchFamily="34" charset="0"/>
                <a:ea typeface="Calibri" pitchFamily="34" charset="-122"/>
                <a:cs typeface="Calibri" pitchFamily="34" charset="-120"/>
              </a:rPr>
              <a:t>Stay in scope</a:t>
            </a:r>
            <a:endParaRPr lang="en-US" sz="1350" dirty="0"/>
          </a:p>
        </p:txBody>
      </p:sp>
      <p:sp>
        <p:nvSpPr>
          <p:cNvPr id="16" name="Text 14"/>
          <p:cNvSpPr/>
          <p:nvPr/>
        </p:nvSpPr>
        <p:spPr>
          <a:xfrm>
            <a:off x="3977640" y="4700016"/>
            <a:ext cx="7434072" cy="594360"/>
          </a:xfrm>
          <a:prstGeom prst="rect">
            <a:avLst/>
          </a:prstGeom>
          <a:noFill/>
          <a:ln/>
        </p:spPr>
        <p:txBody>
          <a:bodyPr wrap="square" rtlCol="0" anchor="ctr"/>
          <a:lstStyle/>
          <a:p>
            <a:pPr indent="0" marL="0">
              <a:lnSpc>
                <a:spcPct val="115000"/>
              </a:lnSpc>
              <a:buNone/>
            </a:pPr>
            <a:r>
              <a:rPr lang="en-US" sz="1200" dirty="0">
                <a:solidFill>
                  <a:srgbClr val="D6DCE8"/>
                </a:solidFill>
                <a:latin typeface="Calibri" pitchFamily="34" charset="0"/>
                <a:ea typeface="Calibri" pitchFamily="34" charset="-122"/>
                <a:cs typeface="Calibri" pitchFamily="34" charset="-120"/>
              </a:rPr>
              <a:t>Scanning an out-of-scope host — even by accident — can end an engagement or a career.</a:t>
            </a:r>
            <a:endParaRPr lang="en-US" sz="1200" dirty="0"/>
          </a:p>
        </p:txBody>
      </p:sp>
      <p:sp>
        <p:nvSpPr>
          <p:cNvPr id="17" name="Shape 15"/>
          <p:cNvSpPr/>
          <p:nvPr/>
        </p:nvSpPr>
        <p:spPr>
          <a:xfrm>
            <a:off x="502920" y="5504688"/>
            <a:ext cx="11183112" cy="777240"/>
          </a:xfrm>
          <a:prstGeom prst="roundRect">
            <a:avLst>
              <a:gd name="adj" fmla="val 9412"/>
            </a:avLst>
          </a:prstGeom>
          <a:solidFill>
            <a:srgbClr val="1C2541"/>
          </a:solidFill>
          <a:ln/>
        </p:spPr>
      </p:sp>
      <p:sp>
        <p:nvSpPr>
          <p:cNvPr id="18" name="Text 16"/>
          <p:cNvSpPr/>
          <p:nvPr/>
        </p:nvSpPr>
        <p:spPr>
          <a:xfrm>
            <a:off x="777240" y="5596128"/>
            <a:ext cx="3017520" cy="594360"/>
          </a:xfrm>
          <a:prstGeom prst="rect">
            <a:avLst/>
          </a:prstGeom>
          <a:noFill/>
          <a:ln/>
        </p:spPr>
        <p:txBody>
          <a:bodyPr wrap="square" rtlCol="0" anchor="ctr"/>
          <a:lstStyle/>
          <a:p>
            <a:pPr indent="0" marL="0">
              <a:buNone/>
            </a:pPr>
            <a:r>
              <a:rPr lang="en-US" sz="1350" b="1" dirty="0">
                <a:solidFill>
                  <a:srgbClr val="2FD48C"/>
                </a:solidFill>
                <a:latin typeface="Calibri" pitchFamily="34" charset="0"/>
                <a:ea typeface="Calibri" pitchFamily="34" charset="-122"/>
                <a:cs typeface="Calibri" pitchFamily="34" charset="-120"/>
              </a:rPr>
              <a:t>Document everything</a:t>
            </a:r>
            <a:endParaRPr lang="en-US" sz="1350" dirty="0"/>
          </a:p>
        </p:txBody>
      </p:sp>
      <p:sp>
        <p:nvSpPr>
          <p:cNvPr id="19" name="Text 17"/>
          <p:cNvSpPr/>
          <p:nvPr/>
        </p:nvSpPr>
        <p:spPr>
          <a:xfrm>
            <a:off x="3977640" y="5596128"/>
            <a:ext cx="7434072" cy="594360"/>
          </a:xfrm>
          <a:prstGeom prst="rect">
            <a:avLst/>
          </a:prstGeom>
          <a:noFill/>
          <a:ln/>
        </p:spPr>
        <p:txBody>
          <a:bodyPr wrap="square" rtlCol="0" anchor="ctr"/>
          <a:lstStyle/>
          <a:p>
            <a:pPr indent="0" marL="0">
              <a:lnSpc>
                <a:spcPct val="115000"/>
              </a:lnSpc>
              <a:buNone/>
            </a:pPr>
            <a:r>
              <a:rPr lang="en-US" sz="1200" dirty="0">
                <a:solidFill>
                  <a:srgbClr val="D6DCE8"/>
                </a:solidFill>
                <a:latin typeface="Calibri" pitchFamily="34" charset="0"/>
                <a:ea typeface="Calibri" pitchFamily="34" charset="-122"/>
                <a:cs typeface="Calibri" pitchFamily="34" charset="-120"/>
              </a:rPr>
              <a:t>Keep timestamped logs of every scan you run — your evidence trail protects you too.</a:t>
            </a:r>
            <a:endParaRPr lang="en-US" sz="1200" dirty="0"/>
          </a:p>
        </p:txBody>
      </p:sp>
      <p:sp>
        <p:nvSpPr>
          <p:cNvPr id="20" name="Text 18"/>
          <p:cNvSpPr/>
          <p:nvPr/>
        </p:nvSpPr>
        <p:spPr>
          <a:xfrm>
            <a:off x="11365992" y="6446520"/>
            <a:ext cx="457200" cy="274320"/>
          </a:xfrm>
          <a:prstGeom prst="rect">
            <a:avLst/>
          </a:prstGeom>
          <a:noFill/>
          <a:ln/>
        </p:spPr>
        <p:txBody>
          <a:bodyPr wrap="square" rtlCol="0" anchor="ctr"/>
          <a:lstStyle/>
          <a:p>
            <a:pPr algn="r" indent="0" marL="0">
              <a:buNone/>
            </a:pPr>
            <a:r>
              <a:rPr lang="en-US" sz="1000" dirty="0">
                <a:solidFill>
                  <a:srgbClr val="AEB8C4"/>
                </a:solidFill>
                <a:latin typeface="Courier New" pitchFamily="34" charset="0"/>
                <a:ea typeface="Courier New" pitchFamily="34" charset="-122"/>
                <a:cs typeface="Courier New"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rtlCol="0" anchor="ctr"/>
          <a:lstStyle/>
          <a:p>
            <a:pPr algn="l" indent="0" marL="0">
              <a:buNone/>
            </a:pPr>
            <a:r>
              <a:rPr lang="en-US" sz="1200" b="1" spc="200" kern="0" dirty="0">
                <a:solidFill>
                  <a:srgbClr val="1E9E6A"/>
                </a:solidFill>
                <a:latin typeface="Calibri" pitchFamily="34" charset="0"/>
                <a:ea typeface="Calibri" pitchFamily="34" charset="-122"/>
                <a:cs typeface="Calibri" pitchFamily="34" charset="-120"/>
              </a:rPr>
              <a:t>HANDS-ON LAB</a:t>
            </a:r>
            <a:endParaRPr lang="en-US" sz="1200" dirty="0"/>
          </a:p>
        </p:txBody>
      </p:sp>
      <p:sp>
        <p:nvSpPr>
          <p:cNvPr id="3" name="Text 1"/>
          <p:cNvSpPr/>
          <p:nvPr/>
        </p:nvSpPr>
        <p:spPr>
          <a:xfrm>
            <a:off x="502920" y="658368"/>
            <a:ext cx="10515600" cy="548640"/>
          </a:xfrm>
          <a:prstGeom prst="rect">
            <a:avLst/>
          </a:prstGeom>
          <a:noFill/>
          <a:ln/>
        </p:spPr>
        <p:txBody>
          <a:bodyPr wrap="square" rtlCol="0" anchor="ctr"/>
          <a:lstStyle/>
          <a:p>
            <a:pPr algn="l" indent="0" marL="0">
              <a:buNone/>
            </a:pPr>
            <a:r>
              <a:rPr lang="en-US" sz="3200" b="1" dirty="0">
                <a:solidFill>
                  <a:srgbClr val="16213E"/>
                </a:solidFill>
                <a:latin typeface="Calibri" pitchFamily="34" charset="0"/>
                <a:ea typeface="Calibri" pitchFamily="34" charset="-122"/>
                <a:cs typeface="Calibri" pitchFamily="34" charset="-120"/>
              </a:rPr>
              <a:t>Hands-On Lab Preview</a:t>
            </a:r>
            <a:endParaRPr lang="en-US" sz="3200" dirty="0"/>
          </a:p>
        </p:txBody>
      </p:sp>
      <p:sp>
        <p:nvSpPr>
          <p:cNvPr id="4" name="Text 2"/>
          <p:cNvSpPr/>
          <p:nvPr/>
        </p:nvSpPr>
        <p:spPr>
          <a:xfrm>
            <a:off x="502920" y="1161288"/>
            <a:ext cx="10515600" cy="365760"/>
          </a:xfrm>
          <a:prstGeom prst="rect">
            <a:avLst/>
          </a:prstGeom>
          <a:noFill/>
          <a:ln/>
        </p:spPr>
        <p:txBody>
          <a:bodyPr wrap="square" rtlCol="0" anchor="ctr"/>
          <a:lstStyle/>
          <a:p>
            <a:pPr algn="l" indent="0" marL="0">
              <a:buNone/>
            </a:pPr>
            <a:r>
              <a:rPr lang="en-US" sz="1400" dirty="0">
                <a:solidFill>
                  <a:srgbClr val="5C6B84"/>
                </a:solidFill>
                <a:latin typeface="Calibri" pitchFamily="34" charset="0"/>
                <a:ea typeface="Calibri" pitchFamily="34" charset="-122"/>
                <a:cs typeface="Calibri" pitchFamily="34" charset="-120"/>
              </a:rPr>
              <a:t>Work through these steps on your assigned lab VM — authorization already granted</a:t>
            </a:r>
            <a:endParaRPr lang="en-US" sz="1400" dirty="0"/>
          </a:p>
        </p:txBody>
      </p:sp>
      <p:sp>
        <p:nvSpPr>
          <p:cNvPr id="5" name="Shape 3"/>
          <p:cNvSpPr/>
          <p:nvPr/>
        </p:nvSpPr>
        <p:spPr>
          <a:xfrm>
            <a:off x="502920" y="1828800"/>
            <a:ext cx="457200" cy="457200"/>
          </a:xfrm>
          <a:prstGeom prst="roundRect">
            <a:avLst>
              <a:gd name="adj" fmla="val 16000"/>
            </a:avLst>
          </a:prstGeom>
          <a:solidFill>
            <a:srgbClr val="1E9E6A"/>
          </a:solidFill>
          <a:ln/>
        </p:spPr>
      </p:sp>
      <p:sp>
        <p:nvSpPr>
          <p:cNvPr id="6" name="Text 4"/>
          <p:cNvSpPr/>
          <p:nvPr/>
        </p:nvSpPr>
        <p:spPr>
          <a:xfrm>
            <a:off x="502920" y="1828800"/>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143000" y="1828800"/>
            <a:ext cx="10543032" cy="457200"/>
          </a:xfrm>
          <a:prstGeom prst="rect">
            <a:avLst/>
          </a:prstGeom>
          <a:noFill/>
          <a:ln/>
        </p:spPr>
        <p:txBody>
          <a:bodyPr wrap="square" rtlCol="0" anchor="ctr"/>
          <a:lstStyle/>
          <a:p>
            <a:pPr indent="0" marL="0">
              <a:buNone/>
            </a:pPr>
            <a:r>
              <a:rPr lang="en-US" sz="1300" dirty="0">
                <a:solidFill>
                  <a:srgbClr val="16213E"/>
                </a:solidFill>
                <a:latin typeface="Calibri" pitchFamily="34" charset="0"/>
                <a:ea typeface="Calibri" pitchFamily="34" charset="-122"/>
                <a:cs typeface="Calibri" pitchFamily="34" charset="-120"/>
              </a:rPr>
              <a:t>Run a host discovery sweep across the lab subnet (-sn) and identify all live hosts</a:t>
            </a:r>
            <a:endParaRPr lang="en-US" sz="1300" dirty="0"/>
          </a:p>
        </p:txBody>
      </p:sp>
      <p:sp>
        <p:nvSpPr>
          <p:cNvPr id="8" name="Shape 6"/>
          <p:cNvSpPr/>
          <p:nvPr/>
        </p:nvSpPr>
        <p:spPr>
          <a:xfrm>
            <a:off x="502920" y="2395728"/>
            <a:ext cx="457200" cy="457200"/>
          </a:xfrm>
          <a:prstGeom prst="roundRect">
            <a:avLst>
              <a:gd name="adj" fmla="val 16000"/>
            </a:avLst>
          </a:prstGeom>
          <a:solidFill>
            <a:srgbClr val="4FB6E8"/>
          </a:solidFill>
          <a:ln/>
        </p:spPr>
      </p:sp>
      <p:sp>
        <p:nvSpPr>
          <p:cNvPr id="9" name="Text 7"/>
          <p:cNvSpPr/>
          <p:nvPr/>
        </p:nvSpPr>
        <p:spPr>
          <a:xfrm>
            <a:off x="502920" y="2395728"/>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143000" y="2395728"/>
            <a:ext cx="10543032" cy="457200"/>
          </a:xfrm>
          <a:prstGeom prst="rect">
            <a:avLst/>
          </a:prstGeom>
          <a:noFill/>
          <a:ln/>
        </p:spPr>
        <p:txBody>
          <a:bodyPr wrap="square" rtlCol="0" anchor="ctr"/>
          <a:lstStyle/>
          <a:p>
            <a:pPr indent="0" marL="0">
              <a:buNone/>
            </a:pPr>
            <a:r>
              <a:rPr lang="en-US" sz="1300" dirty="0">
                <a:solidFill>
                  <a:srgbClr val="16213E"/>
                </a:solidFill>
                <a:latin typeface="Calibri" pitchFamily="34" charset="0"/>
                <a:ea typeface="Calibri" pitchFamily="34" charset="-122"/>
                <a:cs typeface="Calibri" pitchFamily="34" charset="-120"/>
              </a:rPr>
              <a:t>Perform a full TCP port scan on your target (-sS -p-) and record every open port</a:t>
            </a:r>
            <a:endParaRPr lang="en-US" sz="1300" dirty="0"/>
          </a:p>
        </p:txBody>
      </p:sp>
      <p:sp>
        <p:nvSpPr>
          <p:cNvPr id="11" name="Shape 9"/>
          <p:cNvSpPr/>
          <p:nvPr/>
        </p:nvSpPr>
        <p:spPr>
          <a:xfrm>
            <a:off x="502920" y="2962656"/>
            <a:ext cx="457200" cy="457200"/>
          </a:xfrm>
          <a:prstGeom prst="roundRect">
            <a:avLst>
              <a:gd name="adj" fmla="val 16000"/>
            </a:avLst>
          </a:prstGeom>
          <a:solidFill>
            <a:srgbClr val="1E9E6A"/>
          </a:solidFill>
          <a:ln/>
        </p:spPr>
      </p:sp>
      <p:sp>
        <p:nvSpPr>
          <p:cNvPr id="12" name="Text 10"/>
          <p:cNvSpPr/>
          <p:nvPr/>
        </p:nvSpPr>
        <p:spPr>
          <a:xfrm>
            <a:off x="502920" y="2962656"/>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3" name="Text 11"/>
          <p:cNvSpPr/>
          <p:nvPr/>
        </p:nvSpPr>
        <p:spPr>
          <a:xfrm>
            <a:off x="1143000" y="2962656"/>
            <a:ext cx="10543032" cy="457200"/>
          </a:xfrm>
          <a:prstGeom prst="rect">
            <a:avLst/>
          </a:prstGeom>
          <a:noFill/>
          <a:ln/>
        </p:spPr>
        <p:txBody>
          <a:bodyPr wrap="square" rtlCol="0" anchor="ctr"/>
          <a:lstStyle/>
          <a:p>
            <a:pPr indent="0" marL="0">
              <a:buNone/>
            </a:pPr>
            <a:r>
              <a:rPr lang="en-US" sz="1300" dirty="0">
                <a:solidFill>
                  <a:srgbClr val="16213E"/>
                </a:solidFill>
                <a:latin typeface="Calibri" pitchFamily="34" charset="0"/>
                <a:ea typeface="Calibri" pitchFamily="34" charset="-122"/>
                <a:cs typeface="Calibri" pitchFamily="34" charset="-120"/>
              </a:rPr>
              <a:t>Add service &amp; version detection, then OS fingerprinting (-sV -O)</a:t>
            </a:r>
            <a:endParaRPr lang="en-US" sz="1300" dirty="0"/>
          </a:p>
        </p:txBody>
      </p:sp>
      <p:sp>
        <p:nvSpPr>
          <p:cNvPr id="14" name="Shape 12"/>
          <p:cNvSpPr/>
          <p:nvPr/>
        </p:nvSpPr>
        <p:spPr>
          <a:xfrm>
            <a:off x="502920" y="3529584"/>
            <a:ext cx="457200" cy="457200"/>
          </a:xfrm>
          <a:prstGeom prst="roundRect">
            <a:avLst>
              <a:gd name="adj" fmla="val 16000"/>
            </a:avLst>
          </a:prstGeom>
          <a:solidFill>
            <a:srgbClr val="4FB6E8"/>
          </a:solidFill>
          <a:ln/>
        </p:spPr>
      </p:sp>
      <p:sp>
        <p:nvSpPr>
          <p:cNvPr id="15" name="Text 13"/>
          <p:cNvSpPr/>
          <p:nvPr/>
        </p:nvSpPr>
        <p:spPr>
          <a:xfrm>
            <a:off x="502920" y="3529584"/>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6" name="Text 14"/>
          <p:cNvSpPr/>
          <p:nvPr/>
        </p:nvSpPr>
        <p:spPr>
          <a:xfrm>
            <a:off x="1143000" y="3529584"/>
            <a:ext cx="10543032" cy="457200"/>
          </a:xfrm>
          <a:prstGeom prst="rect">
            <a:avLst/>
          </a:prstGeom>
          <a:noFill/>
          <a:ln/>
        </p:spPr>
        <p:txBody>
          <a:bodyPr wrap="square" rtlCol="0" anchor="ctr"/>
          <a:lstStyle/>
          <a:p>
            <a:pPr indent="0" marL="0">
              <a:buNone/>
            </a:pPr>
            <a:r>
              <a:rPr lang="en-US" sz="1300" dirty="0">
                <a:solidFill>
                  <a:srgbClr val="16213E"/>
                </a:solidFill>
                <a:latin typeface="Calibri" pitchFamily="34" charset="0"/>
                <a:ea typeface="Calibri" pitchFamily="34" charset="-122"/>
                <a:cs typeface="Calibri" pitchFamily="34" charset="-120"/>
              </a:rPr>
              <a:t>Manually banner-grab at least two open ports with netcat or curl</a:t>
            </a:r>
            <a:endParaRPr lang="en-US" sz="1300" dirty="0"/>
          </a:p>
        </p:txBody>
      </p:sp>
      <p:sp>
        <p:nvSpPr>
          <p:cNvPr id="17" name="Shape 15"/>
          <p:cNvSpPr/>
          <p:nvPr/>
        </p:nvSpPr>
        <p:spPr>
          <a:xfrm>
            <a:off x="502920" y="4096512"/>
            <a:ext cx="457200" cy="457200"/>
          </a:xfrm>
          <a:prstGeom prst="roundRect">
            <a:avLst>
              <a:gd name="adj" fmla="val 16000"/>
            </a:avLst>
          </a:prstGeom>
          <a:solidFill>
            <a:srgbClr val="1E9E6A"/>
          </a:solidFill>
          <a:ln/>
        </p:spPr>
      </p:sp>
      <p:sp>
        <p:nvSpPr>
          <p:cNvPr id="18" name="Text 16"/>
          <p:cNvSpPr/>
          <p:nvPr/>
        </p:nvSpPr>
        <p:spPr>
          <a:xfrm>
            <a:off x="502920" y="4096512"/>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9" name="Text 17"/>
          <p:cNvSpPr/>
          <p:nvPr/>
        </p:nvSpPr>
        <p:spPr>
          <a:xfrm>
            <a:off x="1143000" y="4096512"/>
            <a:ext cx="10543032" cy="457200"/>
          </a:xfrm>
          <a:prstGeom prst="rect">
            <a:avLst/>
          </a:prstGeom>
          <a:noFill/>
          <a:ln/>
        </p:spPr>
        <p:txBody>
          <a:bodyPr wrap="square" rtlCol="0" anchor="ctr"/>
          <a:lstStyle/>
          <a:p>
            <a:pPr indent="0" marL="0">
              <a:buNone/>
            </a:pPr>
            <a:r>
              <a:rPr lang="en-US" sz="1300" dirty="0">
                <a:solidFill>
                  <a:srgbClr val="16213E"/>
                </a:solidFill>
                <a:latin typeface="Calibri" pitchFamily="34" charset="0"/>
                <a:ea typeface="Calibri" pitchFamily="34" charset="-122"/>
                <a:cs typeface="Calibri" pitchFamily="34" charset="-120"/>
              </a:rPr>
              <a:t>Run the default and vuln NSE script categories (-sC and --script vuln)</a:t>
            </a:r>
            <a:endParaRPr lang="en-US" sz="1300" dirty="0"/>
          </a:p>
        </p:txBody>
      </p:sp>
      <p:sp>
        <p:nvSpPr>
          <p:cNvPr id="20" name="Shape 18"/>
          <p:cNvSpPr/>
          <p:nvPr/>
        </p:nvSpPr>
        <p:spPr>
          <a:xfrm>
            <a:off x="502920" y="4663440"/>
            <a:ext cx="457200" cy="457200"/>
          </a:xfrm>
          <a:prstGeom prst="roundRect">
            <a:avLst>
              <a:gd name="adj" fmla="val 16000"/>
            </a:avLst>
          </a:prstGeom>
          <a:solidFill>
            <a:srgbClr val="4FB6E8"/>
          </a:solidFill>
          <a:ln/>
        </p:spPr>
      </p:sp>
      <p:sp>
        <p:nvSpPr>
          <p:cNvPr id="21" name="Text 19"/>
          <p:cNvSpPr/>
          <p:nvPr/>
        </p:nvSpPr>
        <p:spPr>
          <a:xfrm>
            <a:off x="502920" y="4663440"/>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2" name="Text 20"/>
          <p:cNvSpPr/>
          <p:nvPr/>
        </p:nvSpPr>
        <p:spPr>
          <a:xfrm>
            <a:off x="1143000" y="4663440"/>
            <a:ext cx="10543032" cy="457200"/>
          </a:xfrm>
          <a:prstGeom prst="rect">
            <a:avLst/>
          </a:prstGeom>
          <a:noFill/>
          <a:ln/>
        </p:spPr>
        <p:txBody>
          <a:bodyPr wrap="square" rtlCol="0" anchor="ctr"/>
          <a:lstStyle/>
          <a:p>
            <a:pPr indent="0" marL="0">
              <a:buNone/>
            </a:pPr>
            <a:r>
              <a:rPr lang="en-US" sz="1300" dirty="0">
                <a:solidFill>
                  <a:srgbClr val="16213E"/>
                </a:solidFill>
                <a:latin typeface="Calibri" pitchFamily="34" charset="0"/>
                <a:ea typeface="Calibri" pitchFamily="34" charset="-122"/>
                <a:cs typeface="Calibri" pitchFamily="34" charset="-120"/>
              </a:rPr>
              <a:t>Pick one service (SMB, FTP, or SNMP) and enumerate it deeply with a dedicated tool</a:t>
            </a:r>
            <a:endParaRPr lang="en-US" sz="1300" dirty="0"/>
          </a:p>
        </p:txBody>
      </p:sp>
      <p:sp>
        <p:nvSpPr>
          <p:cNvPr id="23" name="Shape 21"/>
          <p:cNvSpPr/>
          <p:nvPr/>
        </p:nvSpPr>
        <p:spPr>
          <a:xfrm>
            <a:off x="502920" y="5230368"/>
            <a:ext cx="457200" cy="457200"/>
          </a:xfrm>
          <a:prstGeom prst="roundRect">
            <a:avLst>
              <a:gd name="adj" fmla="val 16000"/>
            </a:avLst>
          </a:prstGeom>
          <a:solidFill>
            <a:srgbClr val="1E9E6A"/>
          </a:solidFill>
          <a:ln/>
        </p:spPr>
      </p:sp>
      <p:sp>
        <p:nvSpPr>
          <p:cNvPr id="24" name="Text 22"/>
          <p:cNvSpPr/>
          <p:nvPr/>
        </p:nvSpPr>
        <p:spPr>
          <a:xfrm>
            <a:off x="502920" y="5230368"/>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25" name="Text 23"/>
          <p:cNvSpPr/>
          <p:nvPr/>
        </p:nvSpPr>
        <p:spPr>
          <a:xfrm>
            <a:off x="1143000" y="5230368"/>
            <a:ext cx="10543032" cy="457200"/>
          </a:xfrm>
          <a:prstGeom prst="rect">
            <a:avLst/>
          </a:prstGeom>
          <a:noFill/>
          <a:ln/>
        </p:spPr>
        <p:txBody>
          <a:bodyPr wrap="square" rtlCol="0" anchor="ctr"/>
          <a:lstStyle/>
          <a:p>
            <a:pPr indent="0" marL="0">
              <a:buNone/>
            </a:pPr>
            <a:r>
              <a:rPr lang="en-US" sz="1300" dirty="0">
                <a:solidFill>
                  <a:srgbClr val="16213E"/>
                </a:solidFill>
                <a:latin typeface="Calibri" pitchFamily="34" charset="0"/>
                <a:ea typeface="Calibri" pitchFamily="34" charset="-122"/>
                <a:cs typeface="Calibri" pitchFamily="34" charset="-120"/>
              </a:rPr>
              <a:t>Write a short findings summary: open ports, versions, and anything worth flagging</a:t>
            </a:r>
            <a:endParaRPr lang="en-US" sz="1300" dirty="0"/>
          </a:p>
        </p:txBody>
      </p:sp>
      <p:sp>
        <p:nvSpPr>
          <p:cNvPr id="26" name="Text 24"/>
          <p:cNvSpPr/>
          <p:nvPr/>
        </p:nvSpPr>
        <p:spPr>
          <a:xfrm>
            <a:off x="11365992" y="6446520"/>
            <a:ext cx="457200" cy="274320"/>
          </a:xfrm>
          <a:prstGeom prst="rect">
            <a:avLst/>
          </a:prstGeom>
          <a:noFill/>
          <a:ln/>
        </p:spPr>
        <p:txBody>
          <a:bodyPr wrap="square" rtlCol="0" anchor="ctr"/>
          <a:lstStyle/>
          <a:p>
            <a:pPr algn="r" indent="0" marL="0">
              <a:buNone/>
            </a:pPr>
            <a:r>
              <a:rPr lang="en-US" sz="1000" dirty="0">
                <a:solidFill>
                  <a:srgbClr val="8892A6"/>
                </a:solidFill>
                <a:latin typeface="Courier New" pitchFamily="34" charset="0"/>
                <a:ea typeface="Courier New" pitchFamily="34" charset="-122"/>
                <a:cs typeface="Courier New"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132B"/>
        </a:solidFill>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rtlCol="0" anchor="ctr"/>
          <a:lstStyle/>
          <a:p>
            <a:pPr algn="l" indent="0" marL="0">
              <a:buNone/>
            </a:pPr>
            <a:r>
              <a:rPr lang="en-US" sz="1200" b="1" spc="200" kern="0" dirty="0">
                <a:solidFill>
                  <a:srgbClr val="2FD48C"/>
                </a:solidFill>
                <a:latin typeface="Calibri" pitchFamily="34" charset="0"/>
                <a:ea typeface="Calibri" pitchFamily="34" charset="-122"/>
                <a:cs typeface="Calibri" pitchFamily="34" charset="-120"/>
              </a:rPr>
              <a:t>WRAP-UP</a:t>
            </a:r>
            <a:endParaRPr lang="en-US" sz="1200" dirty="0"/>
          </a:p>
        </p:txBody>
      </p:sp>
      <p:sp>
        <p:nvSpPr>
          <p:cNvPr id="3" name="Text 1"/>
          <p:cNvSpPr/>
          <p:nvPr/>
        </p:nvSpPr>
        <p:spPr>
          <a:xfrm>
            <a:off x="502920" y="658368"/>
            <a:ext cx="10515600" cy="54864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Key Takeaways</a:t>
            </a:r>
            <a:endParaRPr lang="en-US" sz="3200" dirty="0"/>
          </a:p>
        </p:txBody>
      </p:sp>
      <p:sp>
        <p:nvSpPr>
          <p:cNvPr id="4" name="Text 2"/>
          <p:cNvSpPr/>
          <p:nvPr/>
        </p:nvSpPr>
        <p:spPr>
          <a:xfrm>
            <a:off x="502920" y="1161288"/>
            <a:ext cx="10515600" cy="365760"/>
          </a:xfrm>
          <a:prstGeom prst="rect">
            <a:avLst/>
          </a:prstGeom>
          <a:noFill/>
          <a:ln/>
        </p:spPr>
        <p:txBody>
          <a:bodyPr wrap="square" rtlCol="0" anchor="ctr"/>
          <a:lstStyle/>
          <a:p>
            <a:pPr algn="l" indent="0" marL="0">
              <a:buNone/>
            </a:pPr>
            <a:r>
              <a:rPr lang="en-US" sz="1400" dirty="0">
                <a:solidFill>
                  <a:srgbClr val="AEB8C4"/>
                </a:solidFill>
                <a:latin typeface="Calibri" pitchFamily="34" charset="0"/>
                <a:ea typeface="Calibri" pitchFamily="34" charset="-122"/>
                <a:cs typeface="Calibri" pitchFamily="34" charset="-120"/>
              </a:rPr>
              <a:t>The five ideas to leave this room with</a:t>
            </a:r>
            <a:endParaRPr lang="en-US" sz="1400" dirty="0"/>
          </a:p>
        </p:txBody>
      </p:sp>
      <p:sp>
        <p:nvSpPr>
          <p:cNvPr id="5" name="Shape 3"/>
          <p:cNvSpPr/>
          <p:nvPr/>
        </p:nvSpPr>
        <p:spPr>
          <a:xfrm>
            <a:off x="502920" y="1874520"/>
            <a:ext cx="457200" cy="457200"/>
          </a:xfrm>
          <a:prstGeom prst="ellipse">
            <a:avLst/>
          </a:prstGeom>
          <a:solidFill>
            <a:srgbClr val="2FD48C"/>
          </a:solidFill>
          <a:ln/>
        </p:spPr>
      </p:sp>
      <p:sp>
        <p:nvSpPr>
          <p:cNvPr id="6" name="Text 4"/>
          <p:cNvSpPr/>
          <p:nvPr/>
        </p:nvSpPr>
        <p:spPr>
          <a:xfrm>
            <a:off x="502920" y="1874520"/>
            <a:ext cx="457200" cy="457200"/>
          </a:xfrm>
          <a:prstGeom prst="rect">
            <a:avLst/>
          </a:prstGeom>
          <a:noFill/>
          <a:ln/>
        </p:spPr>
        <p:txBody>
          <a:bodyPr wrap="square" rtlCol="0" anchor="ctr"/>
          <a:lstStyle/>
          <a:p>
            <a:pPr algn="ctr" indent="0" marL="0">
              <a:buNone/>
            </a:pPr>
            <a:r>
              <a:rPr lang="en-US" sz="1600" b="1" dirty="0">
                <a:solidFill>
                  <a:srgbClr val="0B132B"/>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188720" y="1828800"/>
            <a:ext cx="10497312" cy="594360"/>
          </a:xfrm>
          <a:prstGeom prst="rect">
            <a:avLst/>
          </a:prstGeom>
          <a:noFill/>
          <a:ln/>
        </p:spPr>
        <p:txBody>
          <a:bodyPr wrap="square" rtlCol="0" anchor="ctr"/>
          <a:lstStyle/>
          <a:p>
            <a:pPr indent="0" marL="0">
              <a:lnSpc>
                <a:spcPct val="120000"/>
              </a:lnSpc>
              <a:buNone/>
            </a:pPr>
            <a:r>
              <a:rPr lang="en-US" sz="1450" dirty="0">
                <a:solidFill>
                  <a:srgbClr val="E4E8F0"/>
                </a:solidFill>
                <a:latin typeface="Calibri" pitchFamily="34" charset="0"/>
                <a:ea typeface="Calibri" pitchFamily="34" charset="-122"/>
                <a:cs typeface="Calibri" pitchFamily="34" charset="-120"/>
              </a:rPr>
              <a:t>Scanning finds what's there; enumeration extracts what's usable — you need both.</a:t>
            </a:r>
            <a:endParaRPr lang="en-US" sz="1450" dirty="0"/>
          </a:p>
        </p:txBody>
      </p:sp>
      <p:sp>
        <p:nvSpPr>
          <p:cNvPr id="8" name="Shape 6"/>
          <p:cNvSpPr/>
          <p:nvPr/>
        </p:nvSpPr>
        <p:spPr>
          <a:xfrm>
            <a:off x="502920" y="2715768"/>
            <a:ext cx="457200" cy="457200"/>
          </a:xfrm>
          <a:prstGeom prst="ellipse">
            <a:avLst/>
          </a:prstGeom>
          <a:solidFill>
            <a:srgbClr val="2FD48C"/>
          </a:solidFill>
          <a:ln/>
        </p:spPr>
      </p:sp>
      <p:sp>
        <p:nvSpPr>
          <p:cNvPr id="9" name="Text 7"/>
          <p:cNvSpPr/>
          <p:nvPr/>
        </p:nvSpPr>
        <p:spPr>
          <a:xfrm>
            <a:off x="502920" y="2715768"/>
            <a:ext cx="457200" cy="457200"/>
          </a:xfrm>
          <a:prstGeom prst="rect">
            <a:avLst/>
          </a:prstGeom>
          <a:noFill/>
          <a:ln/>
        </p:spPr>
        <p:txBody>
          <a:bodyPr wrap="square" rtlCol="0" anchor="ctr"/>
          <a:lstStyle/>
          <a:p>
            <a:pPr algn="ctr" indent="0" marL="0">
              <a:buNone/>
            </a:pPr>
            <a:r>
              <a:rPr lang="en-US" sz="1600" b="1" dirty="0">
                <a:solidFill>
                  <a:srgbClr val="0B132B"/>
                </a:solidFill>
                <a:latin typeface="Calibri" pitchFamily="34" charset="0"/>
                <a:ea typeface="Calibri" pitchFamily="34" charset="-122"/>
                <a:cs typeface="Calibri" pitchFamily="34" charset="-120"/>
              </a:rPr>
              <a:t>2</a:t>
            </a:r>
            <a:endParaRPr lang="en-US" sz="1600" dirty="0"/>
          </a:p>
        </p:txBody>
      </p:sp>
      <p:sp>
        <p:nvSpPr>
          <p:cNvPr id="10" name="Text 8"/>
          <p:cNvSpPr/>
          <p:nvPr/>
        </p:nvSpPr>
        <p:spPr>
          <a:xfrm>
            <a:off x="1188720" y="2670048"/>
            <a:ext cx="10497312" cy="594360"/>
          </a:xfrm>
          <a:prstGeom prst="rect">
            <a:avLst/>
          </a:prstGeom>
          <a:noFill/>
          <a:ln/>
        </p:spPr>
        <p:txBody>
          <a:bodyPr wrap="square" rtlCol="0" anchor="ctr"/>
          <a:lstStyle/>
          <a:p>
            <a:pPr indent="0" marL="0">
              <a:lnSpc>
                <a:spcPct val="120000"/>
              </a:lnSpc>
              <a:buNone/>
            </a:pPr>
            <a:r>
              <a:rPr lang="en-US" sz="1450" dirty="0">
                <a:solidFill>
                  <a:srgbClr val="E4E8F0"/>
                </a:solidFill>
                <a:latin typeface="Calibri" pitchFamily="34" charset="0"/>
                <a:ea typeface="Calibri" pitchFamily="34" charset="-122"/>
                <a:cs typeface="Calibri" pitchFamily="34" charset="-120"/>
              </a:rPr>
              <a:t>Nmap's scan type, timing, and flags are a deliberate stealth-vs-accuracy trade-off, not defaults to ignore.</a:t>
            </a:r>
            <a:endParaRPr lang="en-US" sz="1450" dirty="0"/>
          </a:p>
        </p:txBody>
      </p:sp>
      <p:sp>
        <p:nvSpPr>
          <p:cNvPr id="11" name="Shape 9"/>
          <p:cNvSpPr/>
          <p:nvPr/>
        </p:nvSpPr>
        <p:spPr>
          <a:xfrm>
            <a:off x="502920" y="3557016"/>
            <a:ext cx="457200" cy="457200"/>
          </a:xfrm>
          <a:prstGeom prst="ellipse">
            <a:avLst/>
          </a:prstGeom>
          <a:solidFill>
            <a:srgbClr val="2FD48C"/>
          </a:solidFill>
          <a:ln/>
        </p:spPr>
      </p:sp>
      <p:sp>
        <p:nvSpPr>
          <p:cNvPr id="12" name="Text 10"/>
          <p:cNvSpPr/>
          <p:nvPr/>
        </p:nvSpPr>
        <p:spPr>
          <a:xfrm>
            <a:off x="502920" y="3557016"/>
            <a:ext cx="457200" cy="457200"/>
          </a:xfrm>
          <a:prstGeom prst="rect">
            <a:avLst/>
          </a:prstGeom>
          <a:noFill/>
          <a:ln/>
        </p:spPr>
        <p:txBody>
          <a:bodyPr wrap="square" rtlCol="0" anchor="ctr"/>
          <a:lstStyle/>
          <a:p>
            <a:pPr algn="ctr" indent="0" marL="0">
              <a:buNone/>
            </a:pPr>
            <a:r>
              <a:rPr lang="en-US" sz="1600" b="1" dirty="0">
                <a:solidFill>
                  <a:srgbClr val="0B132B"/>
                </a:solidFill>
                <a:latin typeface="Calibri" pitchFamily="34" charset="0"/>
                <a:ea typeface="Calibri" pitchFamily="34" charset="-122"/>
                <a:cs typeface="Calibri" pitchFamily="34" charset="-120"/>
              </a:rPr>
              <a:t>3</a:t>
            </a:r>
            <a:endParaRPr lang="en-US" sz="1600" dirty="0"/>
          </a:p>
        </p:txBody>
      </p:sp>
      <p:sp>
        <p:nvSpPr>
          <p:cNvPr id="13" name="Text 11"/>
          <p:cNvSpPr/>
          <p:nvPr/>
        </p:nvSpPr>
        <p:spPr>
          <a:xfrm>
            <a:off x="1188720" y="3511296"/>
            <a:ext cx="10497312" cy="594360"/>
          </a:xfrm>
          <a:prstGeom prst="rect">
            <a:avLst/>
          </a:prstGeom>
          <a:noFill/>
          <a:ln/>
        </p:spPr>
        <p:txBody>
          <a:bodyPr wrap="square" rtlCol="0" anchor="ctr"/>
          <a:lstStyle/>
          <a:p>
            <a:pPr indent="0" marL="0">
              <a:lnSpc>
                <a:spcPct val="120000"/>
              </a:lnSpc>
              <a:buNone/>
            </a:pPr>
            <a:r>
              <a:rPr lang="en-US" sz="1450" dirty="0">
                <a:solidFill>
                  <a:srgbClr val="E4E8F0"/>
                </a:solidFill>
                <a:latin typeface="Calibri" pitchFamily="34" charset="0"/>
                <a:ea typeface="Calibri" pitchFamily="34" charset="-122"/>
                <a:cs typeface="Calibri" pitchFamily="34" charset="-120"/>
              </a:rPr>
              <a:t>Automated version detection (-sV) should always be cross-checked with a manual banner grab.</a:t>
            </a:r>
            <a:endParaRPr lang="en-US" sz="1450" dirty="0"/>
          </a:p>
        </p:txBody>
      </p:sp>
      <p:sp>
        <p:nvSpPr>
          <p:cNvPr id="14" name="Shape 12"/>
          <p:cNvSpPr/>
          <p:nvPr/>
        </p:nvSpPr>
        <p:spPr>
          <a:xfrm>
            <a:off x="502920" y="4398264"/>
            <a:ext cx="457200" cy="457200"/>
          </a:xfrm>
          <a:prstGeom prst="ellipse">
            <a:avLst/>
          </a:prstGeom>
          <a:solidFill>
            <a:srgbClr val="2FD48C"/>
          </a:solidFill>
          <a:ln/>
        </p:spPr>
      </p:sp>
      <p:sp>
        <p:nvSpPr>
          <p:cNvPr id="15" name="Text 13"/>
          <p:cNvSpPr/>
          <p:nvPr/>
        </p:nvSpPr>
        <p:spPr>
          <a:xfrm>
            <a:off x="502920" y="4398264"/>
            <a:ext cx="457200" cy="457200"/>
          </a:xfrm>
          <a:prstGeom prst="rect">
            <a:avLst/>
          </a:prstGeom>
          <a:noFill/>
          <a:ln/>
        </p:spPr>
        <p:txBody>
          <a:bodyPr wrap="square" rtlCol="0" anchor="ctr"/>
          <a:lstStyle/>
          <a:p>
            <a:pPr algn="ctr" indent="0" marL="0">
              <a:buNone/>
            </a:pPr>
            <a:r>
              <a:rPr lang="en-US" sz="1600" b="1" dirty="0">
                <a:solidFill>
                  <a:srgbClr val="0B132B"/>
                </a:solidFill>
                <a:latin typeface="Calibri" pitchFamily="34" charset="0"/>
                <a:ea typeface="Calibri" pitchFamily="34" charset="-122"/>
                <a:cs typeface="Calibri" pitchFamily="34" charset="-120"/>
              </a:rPr>
              <a:t>4</a:t>
            </a:r>
            <a:endParaRPr lang="en-US" sz="1600" dirty="0"/>
          </a:p>
        </p:txBody>
      </p:sp>
      <p:sp>
        <p:nvSpPr>
          <p:cNvPr id="16" name="Text 14"/>
          <p:cNvSpPr/>
          <p:nvPr/>
        </p:nvSpPr>
        <p:spPr>
          <a:xfrm>
            <a:off x="1188720" y="4352544"/>
            <a:ext cx="10497312" cy="594360"/>
          </a:xfrm>
          <a:prstGeom prst="rect">
            <a:avLst/>
          </a:prstGeom>
          <a:noFill/>
          <a:ln/>
        </p:spPr>
        <p:txBody>
          <a:bodyPr wrap="square" rtlCol="0" anchor="ctr"/>
          <a:lstStyle/>
          <a:p>
            <a:pPr indent="0" marL="0">
              <a:lnSpc>
                <a:spcPct val="120000"/>
              </a:lnSpc>
              <a:buNone/>
            </a:pPr>
            <a:r>
              <a:rPr lang="en-US" sz="1450" dirty="0">
                <a:solidFill>
                  <a:srgbClr val="E4E8F0"/>
                </a:solidFill>
                <a:latin typeface="Calibri" pitchFamily="34" charset="0"/>
                <a:ea typeface="Calibri" pitchFamily="34" charset="-122"/>
                <a:cs typeface="Calibri" pitchFamily="34" charset="-120"/>
              </a:rPr>
              <a:t>NSE turns Nmap into a scriptable platform — default and vuln categories belong in every scan.</a:t>
            </a:r>
            <a:endParaRPr lang="en-US" sz="1450" dirty="0"/>
          </a:p>
        </p:txBody>
      </p:sp>
      <p:sp>
        <p:nvSpPr>
          <p:cNvPr id="17" name="Shape 15"/>
          <p:cNvSpPr/>
          <p:nvPr/>
        </p:nvSpPr>
        <p:spPr>
          <a:xfrm>
            <a:off x="502920" y="5239512"/>
            <a:ext cx="457200" cy="457200"/>
          </a:xfrm>
          <a:prstGeom prst="ellipse">
            <a:avLst/>
          </a:prstGeom>
          <a:solidFill>
            <a:srgbClr val="2FD48C"/>
          </a:solidFill>
          <a:ln/>
        </p:spPr>
      </p:sp>
      <p:sp>
        <p:nvSpPr>
          <p:cNvPr id="18" name="Text 16"/>
          <p:cNvSpPr/>
          <p:nvPr/>
        </p:nvSpPr>
        <p:spPr>
          <a:xfrm>
            <a:off x="502920" y="5239512"/>
            <a:ext cx="457200" cy="457200"/>
          </a:xfrm>
          <a:prstGeom prst="rect">
            <a:avLst/>
          </a:prstGeom>
          <a:noFill/>
          <a:ln/>
        </p:spPr>
        <p:txBody>
          <a:bodyPr wrap="square" rtlCol="0" anchor="ctr"/>
          <a:lstStyle/>
          <a:p>
            <a:pPr algn="ctr" indent="0" marL="0">
              <a:buNone/>
            </a:pPr>
            <a:r>
              <a:rPr lang="en-US" sz="1600" b="1" dirty="0">
                <a:solidFill>
                  <a:srgbClr val="0B132B"/>
                </a:solidFill>
                <a:latin typeface="Calibri" pitchFamily="34" charset="0"/>
                <a:ea typeface="Calibri" pitchFamily="34" charset="-122"/>
                <a:cs typeface="Calibri" pitchFamily="34" charset="-120"/>
              </a:rPr>
              <a:t>5</a:t>
            </a:r>
            <a:endParaRPr lang="en-US" sz="1600" dirty="0"/>
          </a:p>
        </p:txBody>
      </p:sp>
      <p:sp>
        <p:nvSpPr>
          <p:cNvPr id="19" name="Text 17"/>
          <p:cNvSpPr/>
          <p:nvPr/>
        </p:nvSpPr>
        <p:spPr>
          <a:xfrm>
            <a:off x="1188720" y="5193792"/>
            <a:ext cx="10497312" cy="594360"/>
          </a:xfrm>
          <a:prstGeom prst="rect">
            <a:avLst/>
          </a:prstGeom>
          <a:noFill/>
          <a:ln/>
        </p:spPr>
        <p:txBody>
          <a:bodyPr wrap="square" rtlCol="0" anchor="ctr"/>
          <a:lstStyle/>
          <a:p>
            <a:pPr indent="0" marL="0">
              <a:lnSpc>
                <a:spcPct val="120000"/>
              </a:lnSpc>
              <a:buNone/>
            </a:pPr>
            <a:r>
              <a:rPr lang="en-US" sz="1450" dirty="0">
                <a:solidFill>
                  <a:srgbClr val="E4E8F0"/>
                </a:solidFill>
                <a:latin typeface="Calibri" pitchFamily="34" charset="0"/>
                <a:ea typeface="Calibri" pitchFamily="34" charset="-122"/>
                <a:cs typeface="Calibri" pitchFamily="34" charset="-120"/>
              </a:rPr>
              <a:t>None of this is legal without written authorization and a clear scope. Always.</a:t>
            </a:r>
            <a:endParaRPr lang="en-US" sz="1450" dirty="0"/>
          </a:p>
        </p:txBody>
      </p:sp>
      <p:sp>
        <p:nvSpPr>
          <p:cNvPr id="20" name="Text 18"/>
          <p:cNvSpPr/>
          <p:nvPr/>
        </p:nvSpPr>
        <p:spPr>
          <a:xfrm>
            <a:off x="11365992" y="6446520"/>
            <a:ext cx="457200" cy="274320"/>
          </a:xfrm>
          <a:prstGeom prst="rect">
            <a:avLst/>
          </a:prstGeom>
          <a:noFill/>
          <a:ln/>
        </p:spPr>
        <p:txBody>
          <a:bodyPr wrap="square" rtlCol="0" anchor="ctr"/>
          <a:lstStyle/>
          <a:p>
            <a:pPr algn="r" indent="0" marL="0">
              <a:buNone/>
            </a:pPr>
            <a:r>
              <a:rPr lang="en-US" sz="1000" dirty="0">
                <a:solidFill>
                  <a:srgbClr val="AEB8C4"/>
                </a:solidFill>
                <a:latin typeface="Courier New" pitchFamily="34" charset="0"/>
                <a:ea typeface="Courier New" pitchFamily="34" charset="-122"/>
                <a:cs typeface="Courier New"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132B"/>
        </a:solidFill>
      </p:bgPr>
    </p:bg>
    <p:spTree>
      <p:nvGrpSpPr>
        <p:cNvPr id="1" name=""/>
        <p:cNvGrpSpPr/>
        <p:nvPr/>
      </p:nvGrpSpPr>
      <p:grpSpPr>
        <a:xfrm>
          <a:off x="0" y="0"/>
          <a:ext cx="0" cy="0"/>
          <a:chOff x="0" y="0"/>
          <a:chExt cx="0" cy="0"/>
        </a:xfrm>
      </p:grpSpPr>
      <p:sp>
        <p:nvSpPr>
          <p:cNvPr id="2" name="Text 0"/>
          <p:cNvSpPr/>
          <p:nvPr/>
        </p:nvSpPr>
        <p:spPr>
          <a:xfrm>
            <a:off x="502920" y="1097280"/>
            <a:ext cx="6400800" cy="91440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Questions?</a:t>
            </a:r>
            <a:endParaRPr lang="en-US" sz="4000" dirty="0"/>
          </a:p>
        </p:txBody>
      </p:sp>
      <p:sp>
        <p:nvSpPr>
          <p:cNvPr id="3" name="Text 1"/>
          <p:cNvSpPr/>
          <p:nvPr/>
        </p:nvSpPr>
        <p:spPr>
          <a:xfrm>
            <a:off x="502920" y="1874520"/>
            <a:ext cx="6400800" cy="457200"/>
          </a:xfrm>
          <a:prstGeom prst="rect">
            <a:avLst/>
          </a:prstGeom>
          <a:noFill/>
          <a:ln/>
        </p:spPr>
        <p:txBody>
          <a:bodyPr wrap="square" rtlCol="0" anchor="ctr"/>
          <a:lstStyle/>
          <a:p>
            <a:pPr indent="0" marL="0">
              <a:buNone/>
            </a:pPr>
            <a:r>
              <a:rPr lang="en-US" sz="1600" dirty="0">
                <a:solidFill>
                  <a:srgbClr val="AEB8C4"/>
                </a:solidFill>
                <a:latin typeface="Calibri" pitchFamily="34" charset="0"/>
                <a:ea typeface="Calibri" pitchFamily="34" charset="-122"/>
                <a:cs typeface="Calibri" pitchFamily="34" charset="-120"/>
              </a:rPr>
              <a:t>Thank you — see you in the lab.</a:t>
            </a:r>
            <a:endParaRPr lang="en-US" sz="1600" dirty="0"/>
          </a:p>
        </p:txBody>
      </p:sp>
      <p:sp>
        <p:nvSpPr>
          <p:cNvPr id="4" name="Shape 2"/>
          <p:cNvSpPr/>
          <p:nvPr/>
        </p:nvSpPr>
        <p:spPr>
          <a:xfrm>
            <a:off x="502920" y="2660904"/>
            <a:ext cx="91440" cy="91440"/>
          </a:xfrm>
          <a:prstGeom prst="ellipse">
            <a:avLst/>
          </a:prstGeom>
          <a:solidFill>
            <a:srgbClr val="2FD48C"/>
          </a:solidFill>
          <a:ln/>
        </p:spPr>
      </p:sp>
      <p:sp>
        <p:nvSpPr>
          <p:cNvPr id="5" name="Text 3"/>
          <p:cNvSpPr/>
          <p:nvPr/>
        </p:nvSpPr>
        <p:spPr>
          <a:xfrm>
            <a:off x="777240" y="2514600"/>
            <a:ext cx="7863840" cy="365760"/>
          </a:xfrm>
          <a:prstGeom prst="rect">
            <a:avLst/>
          </a:prstGeom>
          <a:noFill/>
          <a:ln/>
        </p:spPr>
        <p:txBody>
          <a:bodyPr wrap="square" rtlCol="0" anchor="t"/>
          <a:lstStyle/>
          <a:p>
            <a:pPr indent="0" marL="0">
              <a:buNone/>
            </a:pPr>
            <a:r>
              <a:rPr lang="en-US" sz="1300" b="1" dirty="0">
                <a:solidFill>
                  <a:srgbClr val="2FD48C"/>
                </a:solidFill>
                <a:latin typeface="Courier New" pitchFamily="34" charset="0"/>
                <a:ea typeface="Courier New" pitchFamily="34" charset="-122"/>
                <a:cs typeface="Courier New" pitchFamily="34" charset="-120"/>
              </a:rPr>
              <a:t>nmap.org/book  —  </a:t>
            </a:r>
            <a:pPr indent="0" marL="0">
              <a:buNone/>
            </a:pPr>
            <a:r>
              <a:rPr lang="en-US" sz="1250" dirty="0">
                <a:solidFill>
                  <a:srgbClr val="AEB8C4"/>
                </a:solidFill>
              </a:rPr>
              <a:t>The official Nmap reference guide — free online</a:t>
            </a:r>
            <a:endParaRPr lang="en-US" sz="1300" dirty="0"/>
          </a:p>
        </p:txBody>
      </p:sp>
      <p:sp>
        <p:nvSpPr>
          <p:cNvPr id="6" name="Shape 4"/>
          <p:cNvSpPr/>
          <p:nvPr/>
        </p:nvSpPr>
        <p:spPr>
          <a:xfrm>
            <a:off x="502920" y="3118104"/>
            <a:ext cx="91440" cy="91440"/>
          </a:xfrm>
          <a:prstGeom prst="ellipse">
            <a:avLst/>
          </a:prstGeom>
          <a:solidFill>
            <a:srgbClr val="2FD48C"/>
          </a:solidFill>
          <a:ln/>
        </p:spPr>
      </p:sp>
      <p:sp>
        <p:nvSpPr>
          <p:cNvPr id="7" name="Text 5"/>
          <p:cNvSpPr/>
          <p:nvPr/>
        </p:nvSpPr>
        <p:spPr>
          <a:xfrm>
            <a:off x="777240" y="2971800"/>
            <a:ext cx="7863840" cy="365760"/>
          </a:xfrm>
          <a:prstGeom prst="rect">
            <a:avLst/>
          </a:prstGeom>
          <a:noFill/>
          <a:ln/>
        </p:spPr>
        <p:txBody>
          <a:bodyPr wrap="square" rtlCol="0" anchor="t"/>
          <a:lstStyle/>
          <a:p>
            <a:pPr indent="0" marL="0">
              <a:buNone/>
            </a:pPr>
            <a:r>
              <a:rPr lang="en-US" sz="1300" b="1" dirty="0">
                <a:solidFill>
                  <a:srgbClr val="2FD48C"/>
                </a:solidFill>
                <a:latin typeface="Courier New" pitchFamily="34" charset="0"/>
                <a:ea typeface="Courier New" pitchFamily="34" charset="-122"/>
                <a:cs typeface="Courier New" pitchFamily="34" charset="-120"/>
              </a:rPr>
              <a:t>TryHackMe: “Nmap” &amp; “Network Services” rooms  —  </a:t>
            </a:r>
            <a:pPr indent="0" marL="0">
              <a:buNone/>
            </a:pPr>
            <a:r>
              <a:rPr lang="en-US" sz="1250" dirty="0">
                <a:solidFill>
                  <a:srgbClr val="AEB8C4"/>
                </a:solidFill>
              </a:rPr>
              <a:t>Guided, hands-on practice</a:t>
            </a:r>
            <a:endParaRPr lang="en-US" sz="1300" dirty="0"/>
          </a:p>
        </p:txBody>
      </p:sp>
      <p:sp>
        <p:nvSpPr>
          <p:cNvPr id="8" name="Shape 6"/>
          <p:cNvSpPr/>
          <p:nvPr/>
        </p:nvSpPr>
        <p:spPr>
          <a:xfrm>
            <a:off x="502920" y="3575304"/>
            <a:ext cx="91440" cy="91440"/>
          </a:xfrm>
          <a:prstGeom prst="ellipse">
            <a:avLst/>
          </a:prstGeom>
          <a:solidFill>
            <a:srgbClr val="2FD48C"/>
          </a:solidFill>
          <a:ln/>
        </p:spPr>
      </p:sp>
      <p:sp>
        <p:nvSpPr>
          <p:cNvPr id="9" name="Text 7"/>
          <p:cNvSpPr/>
          <p:nvPr/>
        </p:nvSpPr>
        <p:spPr>
          <a:xfrm>
            <a:off x="777240" y="3429000"/>
            <a:ext cx="7863840" cy="365760"/>
          </a:xfrm>
          <a:prstGeom prst="rect">
            <a:avLst/>
          </a:prstGeom>
          <a:noFill/>
          <a:ln/>
        </p:spPr>
        <p:txBody>
          <a:bodyPr wrap="square" rtlCol="0" anchor="t"/>
          <a:lstStyle/>
          <a:p>
            <a:pPr indent="0" marL="0">
              <a:buNone/>
            </a:pPr>
            <a:r>
              <a:rPr lang="en-US" sz="1300" b="1" dirty="0">
                <a:solidFill>
                  <a:srgbClr val="2FD48C"/>
                </a:solidFill>
                <a:latin typeface="Courier New" pitchFamily="34" charset="0"/>
                <a:ea typeface="Courier New" pitchFamily="34" charset="-122"/>
                <a:cs typeface="Courier New" pitchFamily="34" charset="-120"/>
              </a:rPr>
              <a:t>HackTheBox: Starting Point track  —  </a:t>
            </a:r>
            <a:pPr indent="0" marL="0">
              <a:buNone/>
            </a:pPr>
            <a:r>
              <a:rPr lang="en-US" sz="1250" dirty="0">
                <a:solidFill>
                  <a:srgbClr val="AEB8C4"/>
                </a:solidFill>
              </a:rPr>
              <a:t>Beginner-friendly boxes to enumerate end-to-end</a:t>
            </a:r>
            <a:endParaRPr lang="en-US" sz="1300" dirty="0"/>
          </a:p>
        </p:txBody>
      </p:sp>
      <p:sp>
        <p:nvSpPr>
          <p:cNvPr id="10" name="Shape 8"/>
          <p:cNvSpPr/>
          <p:nvPr/>
        </p:nvSpPr>
        <p:spPr>
          <a:xfrm>
            <a:off x="502920" y="4032504"/>
            <a:ext cx="91440" cy="91440"/>
          </a:xfrm>
          <a:prstGeom prst="ellipse">
            <a:avLst/>
          </a:prstGeom>
          <a:solidFill>
            <a:srgbClr val="2FD48C"/>
          </a:solidFill>
          <a:ln/>
        </p:spPr>
      </p:sp>
      <p:sp>
        <p:nvSpPr>
          <p:cNvPr id="11" name="Text 9"/>
          <p:cNvSpPr/>
          <p:nvPr/>
        </p:nvSpPr>
        <p:spPr>
          <a:xfrm>
            <a:off x="777240" y="3886200"/>
            <a:ext cx="7863840" cy="365760"/>
          </a:xfrm>
          <a:prstGeom prst="rect">
            <a:avLst/>
          </a:prstGeom>
          <a:noFill/>
          <a:ln/>
        </p:spPr>
        <p:txBody>
          <a:bodyPr wrap="square" rtlCol="0" anchor="t"/>
          <a:lstStyle/>
          <a:p>
            <a:pPr indent="0" marL="0">
              <a:buNone/>
            </a:pPr>
            <a:r>
              <a:rPr lang="en-US" sz="1300" b="1" dirty="0">
                <a:solidFill>
                  <a:srgbClr val="2FD48C"/>
                </a:solidFill>
                <a:latin typeface="Courier New" pitchFamily="34" charset="0"/>
                <a:ea typeface="Courier New" pitchFamily="34" charset="-122"/>
                <a:cs typeface="Courier New" pitchFamily="34" charset="-120"/>
              </a:rPr>
              <a:t>man nmap  /  nmap -h  —  </a:t>
            </a:r>
            <a:pPr indent="0" marL="0">
              <a:buNone/>
            </a:pPr>
            <a:r>
              <a:rPr lang="en-US" sz="1250" dirty="0">
                <a:solidFill>
                  <a:srgbClr val="AEB8C4"/>
                </a:solidFill>
              </a:rPr>
              <a:t>Your fastest reference, always available offline</a:t>
            </a:r>
            <a:endParaRPr lang="en-US" sz="1300" dirty="0"/>
          </a:p>
        </p:txBody>
      </p:sp>
      <p:sp>
        <p:nvSpPr>
          <p:cNvPr id="12" name="Shape 10"/>
          <p:cNvSpPr/>
          <p:nvPr/>
        </p:nvSpPr>
        <p:spPr>
          <a:xfrm>
            <a:off x="502920" y="4489704"/>
            <a:ext cx="91440" cy="91440"/>
          </a:xfrm>
          <a:prstGeom prst="ellipse">
            <a:avLst/>
          </a:prstGeom>
          <a:solidFill>
            <a:srgbClr val="2FD48C"/>
          </a:solidFill>
          <a:ln/>
        </p:spPr>
      </p:sp>
      <p:sp>
        <p:nvSpPr>
          <p:cNvPr id="13" name="Text 11"/>
          <p:cNvSpPr/>
          <p:nvPr/>
        </p:nvSpPr>
        <p:spPr>
          <a:xfrm>
            <a:off x="777240" y="4343400"/>
            <a:ext cx="7863840" cy="365760"/>
          </a:xfrm>
          <a:prstGeom prst="rect">
            <a:avLst/>
          </a:prstGeom>
          <a:noFill/>
          <a:ln/>
        </p:spPr>
        <p:txBody>
          <a:bodyPr wrap="square" rtlCol="0" anchor="t"/>
          <a:lstStyle/>
          <a:p>
            <a:pPr indent="0" marL="0">
              <a:buNone/>
            </a:pPr>
            <a:r>
              <a:rPr lang="en-US" sz="1300" b="1" dirty="0">
                <a:solidFill>
                  <a:srgbClr val="2FD48C"/>
                </a:solidFill>
                <a:latin typeface="Courier New" pitchFamily="34" charset="0"/>
                <a:ea typeface="Courier New" pitchFamily="34" charset="-122"/>
                <a:cs typeface="Courier New" pitchFamily="34" charset="-120"/>
              </a:rPr>
              <a:t>SecLists (GitHub)  —  </a:t>
            </a:r>
            <a:pPr indent="0" marL="0">
              <a:buNone/>
            </a:pPr>
            <a:r>
              <a:rPr lang="en-US" sz="1250" dirty="0">
                <a:solidFill>
                  <a:srgbClr val="AEB8C4"/>
                </a:solidFill>
              </a:rPr>
              <a:t>Wordlists for brute-force &amp; enumeration scripts</a:t>
            </a:r>
            <a:endParaRPr lang="en-US" sz="1300" dirty="0"/>
          </a:p>
        </p:txBody>
      </p:sp>
      <p:sp>
        <p:nvSpPr>
          <p:cNvPr id="14" name="Shape 12"/>
          <p:cNvSpPr/>
          <p:nvPr/>
        </p:nvSpPr>
        <p:spPr>
          <a:xfrm>
            <a:off x="8229600" y="1097280"/>
            <a:ext cx="3456432" cy="4114800"/>
          </a:xfrm>
          <a:prstGeom prst="roundRect">
            <a:avLst>
              <a:gd name="adj" fmla="val 2116"/>
            </a:avLst>
          </a:prstGeom>
          <a:solidFill>
            <a:srgbClr val="05070F"/>
          </a:solidFill>
          <a:ln w="12700">
            <a:solidFill>
              <a:srgbClr val="2A3350"/>
            </a:solidFill>
            <a:prstDash val="solid"/>
          </a:ln>
          <a:effectLst>
            <a:outerShdw sx="100000" sy="100000" kx="0" ky="0" algn="bl" rotWithShape="0" blurRad="101600" dist="38100" dir="5400000">
              <a:srgbClr val="000000">
                <a:alpha val="40000"/>
              </a:srgbClr>
            </a:outerShdw>
          </a:effectLst>
        </p:spPr>
      </p:sp>
      <p:sp>
        <p:nvSpPr>
          <p:cNvPr id="15" name="Shape 13"/>
          <p:cNvSpPr/>
          <p:nvPr/>
        </p:nvSpPr>
        <p:spPr>
          <a:xfrm>
            <a:off x="8229600" y="1097280"/>
            <a:ext cx="3456432" cy="320040"/>
          </a:xfrm>
          <a:prstGeom prst="roundRect">
            <a:avLst>
              <a:gd name="adj" fmla="val 22857"/>
            </a:avLst>
          </a:prstGeom>
          <a:solidFill>
            <a:srgbClr val="12172B"/>
          </a:solidFill>
          <a:ln/>
        </p:spPr>
      </p:sp>
      <p:sp>
        <p:nvSpPr>
          <p:cNvPr id="16" name="Shape 14"/>
          <p:cNvSpPr/>
          <p:nvPr/>
        </p:nvSpPr>
        <p:spPr>
          <a:xfrm>
            <a:off x="8229600" y="1252728"/>
            <a:ext cx="3456432" cy="164592"/>
          </a:xfrm>
          <a:prstGeom prst="rect">
            <a:avLst/>
          </a:prstGeom>
          <a:solidFill>
            <a:srgbClr val="12172B"/>
          </a:solidFill>
          <a:ln/>
        </p:spPr>
      </p:sp>
      <p:sp>
        <p:nvSpPr>
          <p:cNvPr id="17" name="Shape 15"/>
          <p:cNvSpPr/>
          <p:nvPr/>
        </p:nvSpPr>
        <p:spPr>
          <a:xfrm>
            <a:off x="8366760" y="1202436"/>
            <a:ext cx="109728" cy="109728"/>
          </a:xfrm>
          <a:prstGeom prst="ellipse">
            <a:avLst/>
          </a:prstGeom>
          <a:solidFill>
            <a:srgbClr val="E85D5D"/>
          </a:solidFill>
          <a:ln/>
        </p:spPr>
      </p:sp>
      <p:sp>
        <p:nvSpPr>
          <p:cNvPr id="18" name="Shape 16"/>
          <p:cNvSpPr/>
          <p:nvPr/>
        </p:nvSpPr>
        <p:spPr>
          <a:xfrm>
            <a:off x="8567928" y="1202436"/>
            <a:ext cx="109728" cy="109728"/>
          </a:xfrm>
          <a:prstGeom prst="ellipse">
            <a:avLst/>
          </a:prstGeom>
          <a:solidFill>
            <a:srgbClr val="E8C24F"/>
          </a:solidFill>
          <a:ln/>
        </p:spPr>
      </p:sp>
      <p:sp>
        <p:nvSpPr>
          <p:cNvPr id="19" name="Shape 17"/>
          <p:cNvSpPr/>
          <p:nvPr/>
        </p:nvSpPr>
        <p:spPr>
          <a:xfrm>
            <a:off x="8769096" y="1202436"/>
            <a:ext cx="109728" cy="109728"/>
          </a:xfrm>
          <a:prstGeom prst="ellipse">
            <a:avLst/>
          </a:prstGeom>
          <a:solidFill>
            <a:srgbClr val="2FD48C"/>
          </a:solidFill>
          <a:ln/>
        </p:spPr>
      </p:sp>
      <p:sp>
        <p:nvSpPr>
          <p:cNvPr id="20" name="Text 18"/>
          <p:cNvSpPr/>
          <p:nvPr/>
        </p:nvSpPr>
        <p:spPr>
          <a:xfrm>
            <a:off x="8229600" y="1115568"/>
            <a:ext cx="3456432" cy="274320"/>
          </a:xfrm>
          <a:prstGeom prst="rect">
            <a:avLst/>
          </a:prstGeom>
          <a:noFill/>
          <a:ln/>
        </p:spPr>
        <p:txBody>
          <a:bodyPr wrap="square" rtlCol="0" anchor="ctr"/>
          <a:lstStyle/>
          <a:p>
            <a:pPr algn="ctr" indent="0" marL="0">
              <a:buNone/>
            </a:pPr>
            <a:r>
              <a:rPr lang="en-US" sz="1000" dirty="0">
                <a:solidFill>
                  <a:srgbClr val="8892A6"/>
                </a:solidFill>
                <a:latin typeface="Courier New" pitchFamily="34" charset="0"/>
                <a:ea typeface="Courier New" pitchFamily="34" charset="-122"/>
                <a:cs typeface="Courier New" pitchFamily="34" charset="-120"/>
              </a:rPr>
              <a:t>keep scanning</a:t>
            </a:r>
            <a:endParaRPr lang="en-US" sz="1000" dirty="0"/>
          </a:p>
        </p:txBody>
      </p:sp>
      <p:sp>
        <p:nvSpPr>
          <p:cNvPr id="21" name="Text 19"/>
          <p:cNvSpPr/>
          <p:nvPr/>
        </p:nvSpPr>
        <p:spPr>
          <a:xfrm>
            <a:off x="8485632" y="1554480"/>
            <a:ext cx="2944368" cy="3474720"/>
          </a:xfrm>
          <a:prstGeom prst="rect">
            <a:avLst/>
          </a:prstGeom>
          <a:noFill/>
          <a:ln/>
        </p:spPr>
        <p:txBody>
          <a:bodyPr wrap="square" rtlCol="0" anchor="t"/>
          <a:lstStyle/>
          <a:p>
            <a:pPr indent="0" marL="0">
              <a:lnSpc>
                <a:spcPct val="128000"/>
              </a:lnSpc>
              <a:buNone/>
            </a:pPr>
            <a:r>
              <a:rPr lang="en-US" sz="1350" dirty="0">
                <a:solidFill>
                  <a:srgbClr val="2FD48C"/>
                </a:solidFill>
                <a:latin typeface="Courier New" pitchFamily="34" charset="0"/>
                <a:ea typeface="Courier New" pitchFamily="34" charset="-122"/>
                <a:cs typeface="Courier New" pitchFamily="34" charset="-120"/>
              </a:rPr>
              <a:t>$ whoami</a:t>
            </a:r>
            <a:endParaRPr lang="en-US" sz="1350" dirty="0"/>
          </a:p>
          <a:p>
            <a:pPr indent="0" marL="0">
              <a:lnSpc>
                <a:spcPct val="128000"/>
              </a:lnSpc>
              <a:buNone/>
            </a:pPr>
            <a:r>
              <a:rPr lang="en-US" sz="1350" dirty="0">
                <a:solidFill>
                  <a:srgbClr val="C8D3E0"/>
                </a:solidFill>
                <a:latin typeface="Courier New" pitchFamily="34" charset="0"/>
                <a:ea typeface="Courier New" pitchFamily="34" charset="-122"/>
                <a:cs typeface="Courier New" pitchFamily="34" charset="-120"/>
              </a:rPr>
              <a:t>instructor</a:t>
            </a:r>
            <a:endParaRPr lang="en-US" sz="1350" dirty="0"/>
          </a:p>
          <a:p>
            <a:pPr indent="0" marL="0">
              <a:lnSpc>
                <a:spcPct val="128000"/>
              </a:lnSpc>
              <a:buNone/>
            </a:pPr>
            <a:endParaRPr lang="en-US" sz="1350" dirty="0"/>
          </a:p>
          <a:p>
            <a:pPr indent="0" marL="0">
              <a:lnSpc>
                <a:spcPct val="128000"/>
              </a:lnSpc>
              <a:buNone/>
            </a:pPr>
            <a:r>
              <a:rPr lang="en-US" sz="1350" dirty="0">
                <a:solidFill>
                  <a:srgbClr val="2FD48C"/>
                </a:solidFill>
                <a:latin typeface="Courier New" pitchFamily="34" charset="0"/>
                <a:ea typeface="Courier New" pitchFamily="34" charset="-122"/>
                <a:cs typeface="Courier New" pitchFamily="34" charset="-120"/>
              </a:rPr>
              <a:t>$ contact</a:t>
            </a:r>
            <a:endParaRPr lang="en-US" sz="1350" dirty="0"/>
          </a:p>
          <a:p>
            <a:pPr indent="0" marL="0">
              <a:lnSpc>
                <a:spcPct val="128000"/>
              </a:lnSpc>
              <a:buNone/>
            </a:pPr>
            <a:r>
              <a:rPr lang="en-US" sz="1350" dirty="0">
                <a:solidFill>
                  <a:srgbClr val="C8D3E0"/>
                </a:solidFill>
                <a:latin typeface="Courier New" pitchFamily="34" charset="0"/>
                <a:ea typeface="Courier New" pitchFamily="34" charset="-122"/>
                <a:cs typeface="Courier New" pitchFamily="34" charset="-120"/>
              </a:rPr>
              <a:t>email@example.com</a:t>
            </a:r>
            <a:endParaRPr lang="en-US" sz="1350" dirty="0"/>
          </a:p>
          <a:p>
            <a:pPr indent="0" marL="0">
              <a:lnSpc>
                <a:spcPct val="128000"/>
              </a:lnSpc>
              <a:buNone/>
            </a:pPr>
            <a:endParaRPr lang="en-US" sz="1350" dirty="0"/>
          </a:p>
          <a:p>
            <a:pPr indent="0" marL="0">
              <a:lnSpc>
                <a:spcPct val="128000"/>
              </a:lnSpc>
              <a:buNone/>
            </a:pPr>
            <a:r>
              <a:rPr lang="en-US" sz="1350" dirty="0">
                <a:solidFill>
                  <a:srgbClr val="2FD48C"/>
                </a:solidFill>
                <a:latin typeface="Courier New" pitchFamily="34" charset="0"/>
                <a:ea typeface="Courier New" pitchFamily="34" charset="-122"/>
                <a:cs typeface="Courier New" pitchFamily="34" charset="-120"/>
              </a:rPr>
              <a:t>$ nmap --version</a:t>
            </a:r>
            <a:endParaRPr lang="en-US" sz="1350" dirty="0"/>
          </a:p>
          <a:p>
            <a:pPr indent="0" marL="0">
              <a:lnSpc>
                <a:spcPct val="128000"/>
              </a:lnSpc>
              <a:buNone/>
            </a:pPr>
            <a:r>
              <a:rPr lang="en-US" sz="1350" dirty="0">
                <a:solidFill>
                  <a:srgbClr val="C8D3E0"/>
                </a:solidFill>
                <a:latin typeface="Courier New" pitchFamily="34" charset="0"/>
                <a:ea typeface="Courier New" pitchFamily="34" charset="-122"/>
                <a:cs typeface="Courier New" pitchFamily="34" charset="-120"/>
              </a:rPr>
              <a:t>Nmap version 7.94</a:t>
            </a:r>
            <a:endParaRPr lang="en-US" sz="1350" dirty="0"/>
          </a:p>
        </p:txBody>
      </p:sp>
      <p:sp>
        <p:nvSpPr>
          <p:cNvPr id="22" name="Text 20"/>
          <p:cNvSpPr/>
          <p:nvPr/>
        </p:nvSpPr>
        <p:spPr>
          <a:xfrm>
            <a:off x="11365992" y="6446520"/>
            <a:ext cx="457200" cy="274320"/>
          </a:xfrm>
          <a:prstGeom prst="rect">
            <a:avLst/>
          </a:prstGeom>
          <a:noFill/>
          <a:ln/>
        </p:spPr>
        <p:txBody>
          <a:bodyPr wrap="square" rtlCol="0" anchor="ctr"/>
          <a:lstStyle/>
          <a:p>
            <a:pPr algn="r" indent="0" marL="0">
              <a:buNone/>
            </a:pPr>
            <a:r>
              <a:rPr lang="en-US" sz="1000" dirty="0">
                <a:solidFill>
                  <a:srgbClr val="AEB8C4"/>
                </a:solidFill>
                <a:latin typeface="Courier New" pitchFamily="34" charset="0"/>
                <a:ea typeface="Courier New" pitchFamily="34" charset="-122"/>
                <a:cs typeface="Courier New" pitchFamily="34" charset="-120"/>
              </a:rPr>
              <a:t>29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2026-07-13T12:41:55Z</dcterms:created>
  <dcterms:modified xsi:type="dcterms:W3CDTF">2026-07-13T12:41:55Z</dcterms:modified>
</cp:coreProperties>
</file>